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6.xml" ContentType="application/vnd.openxmlformats-officedocument.drawingml.chart+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304684a11994956" /><Relationship Type="http://schemas.openxmlformats.org/officeDocument/2006/relationships/extended-properties" Target="/docProps/app.xml" Id="Ra9f3c2168a53419b" /><Relationship Type="http://schemas.openxmlformats.org/officeDocument/2006/relationships/officeDocument" Target="/ppt/presentation.xml" Id="R01974c36e50c4134" /></Relationships>
</file>

<file path=ppt/presentation.xml><?xml version="1.0" encoding="utf-8"?>
<p:presentation xmlns:p="http://schemas.openxmlformats.org/presentationml/2006/main">
  <p:sldMasterIdLst>
    <p:sldMasterId xmlns:r="http://schemas.openxmlformats.org/officeDocument/2006/relationships" id="2147483648" r:id="R7f108deb00fb4a05"/>
  </p:sldMasterIdLst>
  <p:notesMasterIdLst>
    <p:notesMasterId xmlns:r="http://schemas.openxmlformats.org/officeDocument/2006/relationships" r:id="R8b06b196dce84a20"/>
  </p:notesMasterIdLst>
  <p:sldIdLst>
    <p:sldId xmlns:r="http://schemas.openxmlformats.org/officeDocument/2006/relationships" id="256" r:id="Rf86ce58c64fe47f4"/>
    <p:sldId xmlns:r="http://schemas.openxmlformats.org/officeDocument/2006/relationships" id="257" r:id="R882f75e0333f48ec"/>
    <p:sldId xmlns:r="http://schemas.openxmlformats.org/officeDocument/2006/relationships" id="258" r:id="Ra19894a1fe8e41cd"/>
    <p:sldId xmlns:r="http://schemas.openxmlformats.org/officeDocument/2006/relationships" id="259" r:id="R9f8ec143f65843e1"/>
    <p:sldId xmlns:r="http://schemas.openxmlformats.org/officeDocument/2006/relationships" id="260" r:id="Re5336d2d072c49bb"/>
    <p:sldId xmlns:r="http://schemas.openxmlformats.org/officeDocument/2006/relationships" id="261" r:id="R4a04bcad9bb34d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be473b0f504151" /><Relationship Type="http://schemas.openxmlformats.org/officeDocument/2006/relationships/slideMaster" Target="/ppt/slideMasters/slideMaster1.xml" Id="R7f108deb00fb4a05" /><Relationship Type="http://schemas.openxmlformats.org/officeDocument/2006/relationships/notesMaster" Target="/ppt/notesMasters/notesMaster1.xml" Id="R8b06b196dce84a20" /><Relationship Type="http://schemas.openxmlformats.org/officeDocument/2006/relationships/presProps" Target="/ppt/presProps.xml" Id="R1acf394f6d1e454f" /><Relationship Type="http://schemas.openxmlformats.org/officeDocument/2006/relationships/tableStyles" Target="/ppt/tableStyles.xml" Id="R423c4d952ddf4f39" /><Relationship Type="http://schemas.openxmlformats.org/officeDocument/2006/relationships/slide" Target="/ppt/slides/slide1.xml" Id="Rf86ce58c64fe47f4" /><Relationship Type="http://schemas.openxmlformats.org/officeDocument/2006/relationships/slide" Target="/ppt/slides/slide2.xml" Id="R882f75e0333f48ec" /><Relationship Type="http://schemas.openxmlformats.org/officeDocument/2006/relationships/slide" Target="/ppt/slides/slide3.xml" Id="Ra19894a1fe8e41cd" /><Relationship Type="http://schemas.openxmlformats.org/officeDocument/2006/relationships/slide" Target="/ppt/slides/slide4.xml" Id="R9f8ec143f65843e1" /><Relationship Type="http://schemas.openxmlformats.org/officeDocument/2006/relationships/slide" Target="/ppt/slides/slide5.xml" Id="Re5336d2d072c49bb" /><Relationship Type="http://schemas.openxmlformats.org/officeDocument/2006/relationships/slide" Target="/ppt/slides/slide6.xml" Id="R4a04bcad9bb34d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9026e42ab443e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da0dc6b0bb4d1d" /><Relationship Type="http://schemas.openxmlformats.org/officeDocument/2006/relationships/notesMaster" Target="/ppt/notesMasters/notesMaster1.xml" Id="R52371f6a99cc45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609219d09e4b5a" /><Relationship Type="http://schemas.openxmlformats.org/officeDocument/2006/relationships/notesMaster" Target="/ppt/notesMasters/notesMaster1.xml" Id="R0041a2b2e81a43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11f8710a0142ff" /><Relationship Type="http://schemas.openxmlformats.org/officeDocument/2006/relationships/notesMaster" Target="/ppt/notesMasters/notesMaster1.xml" Id="R370ea7f88f9c461b" /></Relationships>
</file>

<file path=ppt/notesSlides/_rels/notesSlide4.xml.rels>&#65279;<?xml version="1.0" encoding="utf-8"?><Relationships xmlns="http://schemas.openxmlformats.org/package/2006/relationships"><Relationship Type="http://schemas.openxmlformats.org/officeDocument/2006/relationships/slide" Target="/ppt/slides/slide4.xml" Id="Refd584fbed744dc0" /><Relationship Type="http://schemas.openxmlformats.org/officeDocument/2006/relationships/notesMaster" Target="/ppt/notesMasters/notesMaster1.xml" Id="Rbd3bd5289d0949a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cd7ea657bb746d2" /><Relationship Type="http://schemas.openxmlformats.org/officeDocument/2006/relationships/notesMaster" Target="/ppt/notesMasters/notesMaster1.xml" Id="R3c75e7468158467e" /></Relationships>
</file>

<file path=ppt/notesSlides/_rels/notesSlide6.xml.rels>&#65279;<?xml version="1.0" encoding="utf-8"?><Relationships xmlns="http://schemas.openxmlformats.org/package/2006/relationships"><Relationship Type="http://schemas.openxmlformats.org/officeDocument/2006/relationships/slide" Target="/ppt/slides/slide6.xml" Id="R7a7994d146014a1e" /><Relationship Type="http://schemas.openxmlformats.org/officeDocument/2006/relationships/notesMaster" Target="/ppt/notesMasters/notesMaster1.xml" Id="R4f2c1458762b4f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0:00-0:35. Hello, I am 김성현. This project estimates the flight cycles remaining in an engine from observed sensors. The diagram follows the completed workflow: read HDF5, form sensor windows, select a model using development engines, and generate RUL predictions. The dataset contains about six and a half million time points. A small one-dimensional CNN is the final model. The displayed error comes from evaluation on previously inspected test data. I will show the completed processing workflow, model comparison and measured parallel performance.</a:t>
            </a:r>
          </a:p>
          <a:p xmlns:a="http://schemas.openxmlformats.org/drawingml/2006/main">
            <a:r>
              <a:t/>
            </a:r>
          </a:p>
          <a:p xmlns:a="http://schemas.openxmlformats.org/drawingml/2006/main">
            <a:r>
              <a:t>Sources</a:t>
            </a:r>
          </a:p>
          <a:p xmlns:a="http://schemas.openxmlformats.org/drawingml/2006/main">
            <a:r>
              <a:t>Arias Chao et al. (2021), Data 6(1), 5. https://doi.org/10.3390/data6010005</a:t>
            </a:r>
          </a:p>
          <a:p xmlns:a="http://schemas.openxmlformats.org/drawingml/2006/main">
            <a:r>
              <a:t>Completed CNN: output/extended/cnn/protocol.json, metrics.json and verification.json. Final choice: output/final/model_card.json. Extension test results reuse previously inspected test engines.</a:t>
            </a:r>
          </a:p>
          <a:p xmlns:a="http://schemas.openxmlformats.org/drawingml/2006/main">
            <a:r>
              <a:t>Target-free prediction: output/predictions/prediction_manifest.json; src/ncmapss_rul/inference.py. Prediction does not require or read 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0:35-1:30. The left chart shows one hundred eighty actual T24 samples from a development engine. Colors distinguish consecutive sixty-sample windows. Standardization makes this display readable and is separate from model preprocessing. The final CNN uses windows within one engine and flight, never across those boundaries. On the right, T indicates training and V indicates validation. All model families share these three splits of entire engines. There are six official development engines and three test engines. The data simulate degradation under operating conditions drawn from real flights. All development engines have flight class three, while the tests include classes one, two and three. Since initial test results had already been inspected, the extension uses exploratory test evaluation.</a:t>
            </a:r>
          </a:p>
          <a:p xmlns:a="http://schemas.openxmlformats.org/drawingml/2006/main">
            <a:r>
              <a:t/>
            </a:r>
          </a:p>
          <a:p xmlns:a="http://schemas.openxmlformats.org/drawingml/2006/main">
            <a:r>
              <a:t>Sources</a:t>
            </a:r>
          </a:p>
          <a:p xmlns:a="http://schemas.openxmlformats.org/drawingml/2006/main">
            <a:r>
              <a:t>Arias Chao et al. (2021), Data 6(1), 5. https://doi.org/10.3390/data6010005</a:t>
            </a:r>
          </a:p>
          <a:p xmlns:a="http://schemas.openxmlformats.org/drawingml/2006/main">
            <a:r>
              <a:t>Completed exploratory sensitivity: output/extended/sensitivity/protocol.json, summary.csv and metrics.json. 24 candidates, 36 CV estimator fits, fixed development engine folds. Clipping applies per window before cycle averaging.</a:t>
            </a:r>
          </a:p>
          <a:p xmlns:a="http://schemas.openxmlformats.org/drawingml/2006/main">
            <a:r>
              <a:t>Completed CNN: output/extended/cnn/protocol.json, metrics.json and verification.json. Final choice: output/final/model_card.json. Extension test results reuse previously inspected test engines.</a:t>
            </a:r>
          </a:p>
          <a:p xmlns:a="http://schemas.openxmlformats.org/drawingml/2006/main">
            <a:r>
              <a:t>Sensor chart: first 180 rows of X_s_dev, channel T24, engine 2, cycle 1. Z-score uses only the displayed 180 values for presentation. No model experiment was 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1:30-2:25. Inputs comprise four operating conditions and fourteen observed sensors. Latent parameters T, health state hs, virtual sensors X_v and identifiers are excluded. The upper path computes mean, standard deviation, minimum, maximum and slope for each channel, producing ninety features. Ridge and gradient boosting are compared across six window settings and two output policies. The twenty-four candidates require thirty-six cross-validation fits because raw and zero-clipped predictions share a fitted estimator. The lower path sends eighteen channels by sixty samples directly into the CNN. Two convolution layers feed temporal average pooling, a linear layer and Softplus for positive RUL. The network has four thousand eighty-one parameters and trains for twelve epochs on the GPU.</a:t>
            </a:r>
          </a:p>
          <a:p xmlns:a="http://schemas.openxmlformats.org/drawingml/2006/main">
            <a:r>
              <a:t/>
            </a:r>
          </a:p>
          <a:p xmlns:a="http://schemas.openxmlformats.org/drawingml/2006/main">
            <a:r>
              <a:t>Sources</a:t>
            </a:r>
          </a:p>
          <a:p xmlns:a="http://schemas.openxmlformats.org/drawingml/2006/main">
            <a:r>
              <a:t>Completed exploratory sensitivity: output/extended/sensitivity/protocol.json, summary.csv and metrics.json. 24 candidates, 36 CV estimator fits, fixed development engine folds. Clipping applies per window before cycle averaging.</a:t>
            </a:r>
          </a:p>
          <a:p xmlns:a="http://schemas.openxmlformats.org/drawingml/2006/main">
            <a:r>
              <a:t>Completed CNN: output/extended/cnn/protocol.json, metrics.json and verification.json. Final choice: output/final/model_card.json. Extension test results reuse previously inspected test engines.</a:t>
            </a:r>
          </a:p>
          <a:p xmlns:a="http://schemas.openxmlformats.org/drawingml/2006/main">
            <a:r>
              <a:t>CNN architecture diagram follows the saved metrics.json architecture exactly. ReLU follows both convolutions.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2:25-3:20. Navy bars show development cross-validation and orange bars show test errors. Only the navy values drive model selection. Original Ridge development RMSE is 11.38, the sensitivity winner reaches 10.78, and the CNN reaches 6.58. The best regression setting uses thirty-sample windows, stride fifteen and zero clipping. Window-setting differences are modest within these six engines. On reused test data, the final CNN has RMSE 5.70 and MAE 4.52 cycles. Predictions are averaged within each flight, and errors receive equal weight across engines. The original Ridge files and negative predictions remain preserved. These scores describe this simulation dataset rather than validating aircraft maintenance performance.</a:t>
            </a:r>
          </a:p>
          <a:p xmlns:a="http://schemas.openxmlformats.org/drawingml/2006/main">
            <a:r>
              <a:t/>
            </a:r>
          </a:p>
          <a:p xmlns:a="http://schemas.openxmlformats.org/drawingml/2006/main">
            <a:r>
              <a:t>Sources</a:t>
            </a:r>
          </a:p>
          <a:p xmlns:a="http://schemas.openxmlformats.org/drawingml/2006/main">
            <a:r>
              <a:t>Preserved initial baseline: output/results/metrics.json and output/results/cv_results.csv. Experiments completed 2026-10-02.</a:t>
            </a:r>
          </a:p>
          <a:p xmlns:a="http://schemas.openxmlformats.org/drawingml/2006/main">
            <a:r>
              <a:t>Completed exploratory sensitivity: output/extended/sensitivity/protocol.json, summary.csv and metrics.json. 24 candidates, 36 CV estimator fits, fixed development engine folds. Clipping applies per window before cycle averaging.</a:t>
            </a:r>
          </a:p>
          <a:p xmlns:a="http://schemas.openxmlformats.org/drawingml/2006/main">
            <a:r>
              <a:t>Completed CNN: output/extended/cnn/protocol.json, metrics.json and verification.json. Final choice: output/final/model_card.json. Extension test results reuse previously inspected test engines.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3:20-4:10. These charts show all three test engines. Navy is the reference RUL and orange is the saved CNN prediction for each flight. Common axis ranges make engine differences visible. Engine eleven has the largest error and engine fifteen the smallest. Predictions generally follow the decline in life, but substantial deviations remain in parts of the histories. Every curve comes from the saved prediction file. A separate inference path generates twenty thousand seven hundred ninety-six window predictions and two hundred two flight predictions without reading target Y. Targets appear here only for evaluation and never enter the prediction inputs. Averaging all windows within a flight makes this an estimate available at flight end.</a:t>
            </a:r>
          </a:p>
          <a:p xmlns:a="http://schemas.openxmlformats.org/drawingml/2006/main">
            <a:r>
              <a:t/>
            </a:r>
          </a:p>
          <a:p xmlns:a="http://schemas.openxmlformats.org/drawingml/2006/main">
            <a:r>
              <a:t>Sources</a:t>
            </a:r>
          </a:p>
          <a:p xmlns:a="http://schemas.openxmlformats.org/drawingml/2006/main">
            <a:r>
              <a:t>Completed CNN: output/extended/cnn/protocol.json, metrics.json and verification.json. Final choice: output/final/model_card.json. Extension test results reuse previously inspected test engines.</a:t>
            </a:r>
          </a:p>
          <a:p xmlns:a="http://schemas.openxmlformats.org/drawingml/2006/main">
            <a:r>
              <a:t>Target-free prediction: output/predictions/prediction_manifest.json; src/ncmapss_rul/inference.py. Prediction does not require or read Y.</a:t>
            </a:r>
          </a:p>
          <a:p xmlns:a="http://schemas.openxmlformats.org/drawingml/2006/main">
            <a:r>
              <a:t>Curves: output/extended/cnn/test_cycle_predictions.csv. All official test engines are shown, using common 0–80 axes.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4:10-5:00. The final chart includes minimum, median and maximum CPU extraction times. Each setting ran three times after warming the OS cache on an eight-core computer with thirty-two gigabytes of RAM. Four workers have a median of 1.47 seconds and a 1.46-times speedup, but the maximum is 2.285 seconds. This variability remains visible. Timing includes file reads and process costs and is separate from GPU training. Storage contention, memory bandwidth and Windows startup are plausible explanations, but individual causes were not profiled. The completed implementation now reaches prediction without target labels. Its evidence remains limited to nine simulated engines and reused test outcomes, with no external or real-aircraft validation. Thank you.</a:t>
            </a:r>
          </a:p>
          <a:p xmlns:a="http://schemas.openxmlformats.org/drawingml/2006/main">
            <a:r>
              <a:t/>
            </a:r>
          </a:p>
          <a:p xmlns:a="http://schemas.openxmlformats.org/drawingml/2006/main">
            <a:r>
              <a:t>Sources</a:t>
            </a:r>
          </a:p>
          <a:p xmlns:a="http://schemas.openxmlformats.org/drawingml/2006/main">
            <a:r>
              <a:t>Project experiment: output/benchmark/benchmark_summary.csv and benchmark_manifest.json. One full warmup; OS cache is not flushed. Runtime includes feature extraction and process overhead. Windows local multiprocessing.</a:t>
            </a:r>
          </a:p>
          <a:p xmlns:a="http://schemas.openxmlformats.org/drawingml/2006/main">
            <a:r>
              <a:t>Arias Chao et al. (2021), Data 6(1), 5. https://doi.org/10.3390/data6010005</a:t>
            </a:r>
          </a:p>
          <a:p xmlns:a="http://schemas.openxmlformats.org/drawingml/2006/main">
            <a:r>
              <a:t>Completed CNN: output/extended/cnn/protocol.json, metrics.json and verification.json. Final choice: output/final/model_card.json. Extension test results reuse previously inspected test engines.</a:t>
            </a:r>
          </a:p>
          <a:p xmlns:a="http://schemas.openxmlformats.org/drawingml/2006/main">
            <a:r>
              <a:t>Four-worker measured times: minimum 1.4719171000033384 s, median 1.473291500005871 s, maximum 2.2850628000014694 s. Three measured repeats, warm OS cache.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93a921e2b6143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ae933c81cf4a1d" /><Relationship Type="http://schemas.openxmlformats.org/officeDocument/2006/relationships/slideLayout" Target="/ppt/slideLayouts/slideLayout1.xml" Id="R61e1615f4cb442e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e1615f4cb442e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3865e4339194f41" /><Relationship Type="http://schemas.openxmlformats.org/officeDocument/2006/relationships/notesSlide" Target="/ppt/notesSlides/notesSlide1.xml" Id="R1af82d333ac744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555f69aacdc4003" /><Relationship Type="http://schemas.openxmlformats.org/officeDocument/2006/relationships/chart" Target="/ppt/slides/charts/chart1.xml" Id="Rfabc688782694796" /><Relationship Type="http://schemas.openxmlformats.org/officeDocument/2006/relationships/notesSlide" Target="/ppt/notesSlides/notesSlide2.xml" Id="Ra3ce1c68d8a2439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bed2052ddb1467c" /><Relationship Type="http://schemas.openxmlformats.org/officeDocument/2006/relationships/notesSlide" Target="/ppt/notesSlides/notesSlide3.xml" Id="Rae21d6a644b44f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077b92f8e5e4c7e" /><Relationship Type="http://schemas.openxmlformats.org/officeDocument/2006/relationships/chart" Target="/ppt/slides/charts/chart2.xml" Id="Re06bd78ebf994739" /><Relationship Type="http://schemas.openxmlformats.org/officeDocument/2006/relationships/notesSlide" Target="/ppt/notesSlides/notesSlide4.xml" Id="Rec2baebcb5e541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df4b79246b2479f" /><Relationship Type="http://schemas.openxmlformats.org/officeDocument/2006/relationships/chart" Target="/ppt/slides/charts/chart3.xml" Id="R8c40cffa032d4d38" /><Relationship Type="http://schemas.openxmlformats.org/officeDocument/2006/relationships/chart" Target="/ppt/slides/charts/chart4.xml" Id="R8af67b8b5d1d4761" /><Relationship Type="http://schemas.openxmlformats.org/officeDocument/2006/relationships/chart" Target="/ppt/slides/charts/chart5.xml" Id="R6075639cf4dc4488" /><Relationship Type="http://schemas.openxmlformats.org/officeDocument/2006/relationships/notesSlide" Target="/ppt/notesSlides/notesSlide5.xml" Id="Rd78103d1eba3494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0a7c297f3a34b43" /><Relationship Type="http://schemas.openxmlformats.org/officeDocument/2006/relationships/chart" Target="/ppt/slides/charts/chart6.xml" Id="Rdfac4c2f9c7f42f8" /><Relationship Type="http://schemas.openxmlformats.org/officeDocument/2006/relationships/notesSlide" Target="/ppt/notesSlides/notesSlide6.xml" Id="R44fc99a535234d0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Window 1</c:v>
          </c:tx>
          <c:spPr>
            <a:ln xmlns:a="http://schemas.openxmlformats.org/drawingml/2006/main" w="28575">
              <a:solidFill>
                <a:srgbClr val="234B67"/>
              </a:solidFill>
            </a:ln>
          </c:spPr>
          <c:marker>
            <c:symbol val="none"/>
          </c:marker>
          <c:xVal>
            <c:numRef>
              <c:f>'Chart Data'!$A$2:$A$61</c:f>
              <c:numCache>
                <c:formatCode>0</c:formatCode>
                <c:ptCount val="6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numCache>
            </c:numRef>
          </c:xVal>
          <c:yVal>
            <c:numRef>
              <c:f>'Chart Data'!$B$2:$B$61</c:f>
              <c:numCache>
                <c:formatCode>0.00</c:formatCode>
                <c:ptCount val="60"/>
                <c:pt idx="0">
                  <c:v>-0.276794</c:v>
                </c:pt>
                <c:pt idx="1">
                  <c:v>-0.419517</c:v>
                </c:pt>
                <c:pt idx="2">
                  <c:v>-0.179638</c:v>
                </c:pt>
                <c:pt idx="3">
                  <c:v>0.066588</c:v>
                </c:pt>
                <c:pt idx="4">
                  <c:v>-0.044148</c:v>
                </c:pt>
                <c:pt idx="5">
                  <c:v>-0.301258</c:v>
                </c:pt>
                <c:pt idx="6">
                  <c:v>-0.269068</c:v>
                </c:pt>
                <c:pt idx="7">
                  <c:v>-0.132136</c:v>
                </c:pt>
                <c:pt idx="8">
                  <c:v>-0.276318</c:v>
                </c:pt>
                <c:pt idx="9">
                  <c:v>-0.333762</c:v>
                </c:pt>
                <c:pt idx="10">
                  <c:v>-0.188249</c:v>
                </c:pt>
                <c:pt idx="11">
                  <c:v>-0.218944</c:v>
                </c:pt>
                <c:pt idx="12">
                  <c:v>-0.285573</c:v>
                </c:pt>
                <c:pt idx="13">
                  <c:v>-0.321064</c:v>
                </c:pt>
                <c:pt idx="14">
                  <c:v>-0.333415</c:v>
                </c:pt>
                <c:pt idx="15">
                  <c:v>-0.37883</c:v>
                </c:pt>
                <c:pt idx="16">
                  <c:v>-0.304005</c:v>
                </c:pt>
                <c:pt idx="17">
                  <c:v>-0.346413</c:v>
                </c:pt>
                <c:pt idx="18">
                  <c:v>-0.521407</c:v>
                </c:pt>
                <c:pt idx="19">
                  <c:v>-0.5609</c:v>
                </c:pt>
                <c:pt idx="20">
                  <c:v>-0.498414</c:v>
                </c:pt>
                <c:pt idx="21">
                  <c:v>-0.470788</c:v>
                </c:pt>
                <c:pt idx="22">
                  <c:v>-0.52947</c:v>
                </c:pt>
                <c:pt idx="23">
                  <c:v>-0.613505</c:v>
                </c:pt>
                <c:pt idx="24">
                  <c:v>-0.657142</c:v>
                </c:pt>
                <c:pt idx="25">
                  <c:v>-0.522218</c:v>
                </c:pt>
                <c:pt idx="26">
                  <c:v>-0.56943</c:v>
                </c:pt>
                <c:pt idx="27">
                  <c:v>-0.643141</c:v>
                </c:pt>
                <c:pt idx="28">
                  <c:v>-0.638158</c:v>
                </c:pt>
                <c:pt idx="29">
                  <c:v>-0.584905</c:v>
                </c:pt>
                <c:pt idx="30">
                  <c:v>-0.780048</c:v>
                </c:pt>
                <c:pt idx="31">
                  <c:v>-0.771438</c:v>
                </c:pt>
                <c:pt idx="32">
                  <c:v>-0.858358</c:v>
                </c:pt>
                <c:pt idx="33">
                  <c:v>-0.91485</c:v>
                </c:pt>
                <c:pt idx="34">
                  <c:v>-0.97953</c:v>
                </c:pt>
                <c:pt idx="35">
                  <c:v>-0.986581</c:v>
                </c:pt>
                <c:pt idx="36">
                  <c:v>-1.032883</c:v>
                </c:pt>
                <c:pt idx="37">
                  <c:v>-0.966316</c:v>
                </c:pt>
                <c:pt idx="38">
                  <c:v>-0.993263</c:v>
                </c:pt>
                <c:pt idx="39">
                  <c:v>-0.9909</c:v>
                </c:pt>
                <c:pt idx="40">
                  <c:v>-1.04107</c:v>
                </c:pt>
                <c:pt idx="41">
                  <c:v>-1.240004</c:v>
                </c:pt>
                <c:pt idx="42">
                  <c:v>-1.411268</c:v>
                </c:pt>
                <c:pt idx="43">
                  <c:v>-1.491844</c:v>
                </c:pt>
                <c:pt idx="44">
                  <c:v>-1.603692</c:v>
                </c:pt>
                <c:pt idx="45">
                  <c:v>-1.58594</c:v>
                </c:pt>
                <c:pt idx="46">
                  <c:v>-1.598403</c:v>
                </c:pt>
                <c:pt idx="47">
                  <c:v>-1.648208</c:v>
                </c:pt>
                <c:pt idx="48">
                  <c:v>-1.484303</c:v>
                </c:pt>
                <c:pt idx="49">
                  <c:v>-1.375952</c:v>
                </c:pt>
                <c:pt idx="50">
                  <c:v>-1.46939</c:v>
                </c:pt>
                <c:pt idx="51">
                  <c:v>-1.455247</c:v>
                </c:pt>
                <c:pt idx="52">
                  <c:v>-1.480147</c:v>
                </c:pt>
                <c:pt idx="53">
                  <c:v>-1.371906</c:v>
                </c:pt>
                <c:pt idx="54">
                  <c:v>-1.477183</c:v>
                </c:pt>
                <c:pt idx="55">
                  <c:v>-1.242048</c:v>
                </c:pt>
                <c:pt idx="56">
                  <c:v>-1.192491</c:v>
                </c:pt>
                <c:pt idx="57">
                  <c:v>-0.962991</c:v>
                </c:pt>
                <c:pt idx="58">
                  <c:v>-0.838314</c:v>
                </c:pt>
                <c:pt idx="59">
                  <c:v>-1.014387</c:v>
                </c:pt>
              </c:numCache>
            </c:numRef>
          </c:yVal>
        </c:ser>
        <c:ser>
          <c:idx val="1"/>
          <c:order val="1"/>
          <c:tx>
            <c:v>Window 2</c:v>
          </c:tx>
          <c:spPr>
            <a:ln xmlns:a="http://schemas.openxmlformats.org/drawingml/2006/main" w="28575">
              <a:solidFill>
                <a:srgbClr val="087F8C"/>
              </a:solidFill>
            </a:ln>
          </c:spPr>
          <c:marker>
            <c:symbol val="none"/>
          </c:marker>
          <c:xVal>
            <c:numRef>
              <c:f>'Chart Data'!$C$2:$C$61</c:f>
              <c:numCache>
                <c:formatCode>0</c:formatCode>
                <c:ptCount val="60"/>
                <c:pt idx="0">
                  <c:v>61</c:v>
                </c:pt>
                <c:pt idx="1">
                  <c:v>62</c:v>
                </c:pt>
                <c:pt idx="2">
                  <c:v>63</c:v>
                </c:pt>
                <c:pt idx="3">
                  <c:v>64</c:v>
                </c:pt>
                <c:pt idx="4">
                  <c:v>65</c:v>
                </c:pt>
                <c:pt idx="5">
                  <c:v>66</c:v>
                </c:pt>
                <c:pt idx="6">
                  <c:v>67</c:v>
                </c:pt>
                <c:pt idx="7">
                  <c:v>68</c:v>
                </c:pt>
                <c:pt idx="8">
                  <c:v>69</c:v>
                </c:pt>
                <c:pt idx="9">
                  <c:v>70</c:v>
                </c:pt>
                <c:pt idx="10">
                  <c:v>71</c:v>
                </c:pt>
                <c:pt idx="11">
                  <c:v>72</c:v>
                </c:pt>
                <c:pt idx="12">
                  <c:v>73</c:v>
                </c:pt>
                <c:pt idx="13">
                  <c:v>74</c:v>
                </c:pt>
                <c:pt idx="14">
                  <c:v>75</c:v>
                </c:pt>
                <c:pt idx="15">
                  <c:v>76</c:v>
                </c:pt>
                <c:pt idx="16">
                  <c:v>77</c:v>
                </c:pt>
                <c:pt idx="17">
                  <c:v>78</c:v>
                </c:pt>
                <c:pt idx="18">
                  <c:v>79</c:v>
                </c:pt>
                <c:pt idx="19">
                  <c:v>80</c:v>
                </c:pt>
                <c:pt idx="20">
                  <c:v>81</c:v>
                </c:pt>
                <c:pt idx="21">
                  <c:v>82</c:v>
                </c:pt>
                <c:pt idx="22">
                  <c:v>83</c:v>
                </c:pt>
                <c:pt idx="23">
                  <c:v>84</c:v>
                </c:pt>
                <c:pt idx="24">
                  <c:v>85</c:v>
                </c:pt>
                <c:pt idx="25">
                  <c:v>86</c:v>
                </c:pt>
                <c:pt idx="26">
                  <c:v>87</c:v>
                </c:pt>
                <c:pt idx="27">
                  <c:v>88</c:v>
                </c:pt>
                <c:pt idx="28">
                  <c:v>89</c:v>
                </c:pt>
                <c:pt idx="29">
                  <c:v>90</c:v>
                </c:pt>
                <c:pt idx="30">
                  <c:v>91</c:v>
                </c:pt>
                <c:pt idx="31">
                  <c:v>92</c:v>
                </c:pt>
                <c:pt idx="32">
                  <c:v>93</c:v>
                </c:pt>
                <c:pt idx="33">
                  <c:v>94</c:v>
                </c:pt>
                <c:pt idx="34">
                  <c:v>95</c:v>
                </c:pt>
                <c:pt idx="35">
                  <c:v>96</c:v>
                </c:pt>
                <c:pt idx="36">
                  <c:v>97</c:v>
                </c:pt>
                <c:pt idx="37">
                  <c:v>98</c:v>
                </c:pt>
                <c:pt idx="38">
                  <c:v>99</c:v>
                </c:pt>
                <c:pt idx="39">
                  <c:v>100</c:v>
                </c:pt>
                <c:pt idx="40">
                  <c:v>101</c:v>
                </c:pt>
                <c:pt idx="41">
                  <c:v>102</c:v>
                </c:pt>
                <c:pt idx="42">
                  <c:v>103</c:v>
                </c:pt>
                <c:pt idx="43">
                  <c:v>104</c:v>
                </c:pt>
                <c:pt idx="44">
                  <c:v>105</c:v>
                </c:pt>
                <c:pt idx="45">
                  <c:v>106</c:v>
                </c:pt>
                <c:pt idx="46">
                  <c:v>107</c:v>
                </c:pt>
                <c:pt idx="47">
                  <c:v>108</c:v>
                </c:pt>
                <c:pt idx="48">
                  <c:v>109</c:v>
                </c:pt>
                <c:pt idx="49">
                  <c:v>110</c:v>
                </c:pt>
                <c:pt idx="50">
                  <c:v>111</c:v>
                </c:pt>
                <c:pt idx="51">
                  <c:v>112</c:v>
                </c:pt>
                <c:pt idx="52">
                  <c:v>113</c:v>
                </c:pt>
                <c:pt idx="53">
                  <c:v>114</c:v>
                </c:pt>
                <c:pt idx="54">
                  <c:v>115</c:v>
                </c:pt>
                <c:pt idx="55">
                  <c:v>116</c:v>
                </c:pt>
                <c:pt idx="56">
                  <c:v>117</c:v>
                </c:pt>
                <c:pt idx="57">
                  <c:v>118</c:v>
                </c:pt>
                <c:pt idx="58">
                  <c:v>119</c:v>
                </c:pt>
                <c:pt idx="59">
                  <c:v>120</c:v>
                </c:pt>
              </c:numCache>
            </c:numRef>
          </c:xVal>
          <c:yVal>
            <c:numRef>
              <c:f>'Chart Data'!$D$2:$D$61</c:f>
              <c:numCache>
                <c:formatCode>0.00</c:formatCode>
                <c:ptCount val="60"/>
                <c:pt idx="0">
                  <c:v>-1.441353</c:v>
                </c:pt>
                <c:pt idx="1">
                  <c:v>-1.352313</c:v>
                </c:pt>
                <c:pt idx="2">
                  <c:v>-1.42512</c:v>
                </c:pt>
                <c:pt idx="3">
                  <c:v>-1.376281</c:v>
                </c:pt>
                <c:pt idx="4">
                  <c:v>-1.107299</c:v>
                </c:pt>
                <c:pt idx="5">
                  <c:v>-0.980199</c:v>
                </c:pt>
                <c:pt idx="6">
                  <c:v>-1.056175</c:v>
                </c:pt>
                <c:pt idx="7">
                  <c:v>-1.075166</c:v>
                </c:pt>
                <c:pt idx="8">
                  <c:v>-0.874742</c:v>
                </c:pt>
                <c:pt idx="9">
                  <c:v>-0.776998</c:v>
                </c:pt>
                <c:pt idx="10">
                  <c:v>-0.751947</c:v>
                </c:pt>
                <c:pt idx="11">
                  <c:v>-0.611776</c:v>
                </c:pt>
                <c:pt idx="12">
                  <c:v>-0.560097</c:v>
                </c:pt>
                <c:pt idx="13">
                  <c:v>-0.674674</c:v>
                </c:pt>
                <c:pt idx="14">
                  <c:v>-0.763439</c:v>
                </c:pt>
                <c:pt idx="15">
                  <c:v>-0.860771</c:v>
                </c:pt>
                <c:pt idx="16">
                  <c:v>-1.080438</c:v>
                </c:pt>
                <c:pt idx="17">
                  <c:v>-1.082482</c:v>
                </c:pt>
                <c:pt idx="18">
                  <c:v>-0.955032</c:v>
                </c:pt>
                <c:pt idx="19">
                  <c:v>-0.954853</c:v>
                </c:pt>
                <c:pt idx="20">
                  <c:v>-0.916818</c:v>
                </c:pt>
                <c:pt idx="21">
                  <c:v>-0.887313</c:v>
                </c:pt>
                <c:pt idx="22">
                  <c:v>-0.898582</c:v>
                </c:pt>
                <c:pt idx="23">
                  <c:v>-0.931371</c:v>
                </c:pt>
                <c:pt idx="24">
                  <c:v>-0.526667</c:v>
                </c:pt>
                <c:pt idx="25">
                  <c:v>-0.621857</c:v>
                </c:pt>
                <c:pt idx="26">
                  <c:v>-0.76973</c:v>
                </c:pt>
                <c:pt idx="27">
                  <c:v>-0.700211</c:v>
                </c:pt>
                <c:pt idx="28">
                  <c:v>-0.689124</c:v>
                </c:pt>
                <c:pt idx="29">
                  <c:v>-0.659091</c:v>
                </c:pt>
                <c:pt idx="30">
                  <c:v>-0.56135</c:v>
                </c:pt>
                <c:pt idx="31">
                  <c:v>-0.82245</c:v>
                </c:pt>
                <c:pt idx="32">
                  <c:v>-0.833864</c:v>
                </c:pt>
                <c:pt idx="33">
                  <c:v>-0.508027</c:v>
                </c:pt>
                <c:pt idx="34">
                  <c:v>-0.300749</c:v>
                </c:pt>
                <c:pt idx="35">
                  <c:v>-0.274889</c:v>
                </c:pt>
                <c:pt idx="36">
                  <c:v>-0.356031</c:v>
                </c:pt>
                <c:pt idx="37">
                  <c:v>-0.396269</c:v>
                </c:pt>
                <c:pt idx="38">
                  <c:v>-0.122022</c:v>
                </c:pt>
                <c:pt idx="39">
                  <c:v>-0.154638</c:v>
                </c:pt>
                <c:pt idx="40">
                  <c:v>-0.105738</c:v>
                </c:pt>
                <c:pt idx="41">
                  <c:v>-0.318252</c:v>
                </c:pt>
                <c:pt idx="42">
                  <c:v>-0.362673</c:v>
                </c:pt>
                <c:pt idx="43">
                  <c:v>-0.11904</c:v>
                </c:pt>
                <c:pt idx="44">
                  <c:v>-0.340752</c:v>
                </c:pt>
                <c:pt idx="45">
                  <c:v>0.172854</c:v>
                </c:pt>
                <c:pt idx="46">
                  <c:v>0.355475</c:v>
                </c:pt>
                <c:pt idx="47">
                  <c:v>0.539763</c:v>
                </c:pt>
                <c:pt idx="48">
                  <c:v>0.26647</c:v>
                </c:pt>
                <c:pt idx="49">
                  <c:v>0.042094</c:v>
                </c:pt>
                <c:pt idx="50">
                  <c:v>0.159843</c:v>
                </c:pt>
                <c:pt idx="51">
                  <c:v>0.438678</c:v>
                </c:pt>
                <c:pt idx="52">
                  <c:v>0.582166</c:v>
                </c:pt>
                <c:pt idx="53">
                  <c:v>0.597187</c:v>
                </c:pt>
                <c:pt idx="54">
                  <c:v>0.221135</c:v>
                </c:pt>
                <c:pt idx="55">
                  <c:v>0.856896</c:v>
                </c:pt>
                <c:pt idx="56">
                  <c:v>1.02548</c:v>
                </c:pt>
                <c:pt idx="57">
                  <c:v>0.765691</c:v>
                </c:pt>
                <c:pt idx="58">
                  <c:v>1.005167</c:v>
                </c:pt>
                <c:pt idx="59">
                  <c:v>1.271292</c:v>
                </c:pt>
              </c:numCache>
            </c:numRef>
          </c:yVal>
        </c:ser>
        <c:ser>
          <c:idx val="2"/>
          <c:order val="2"/>
          <c:tx>
            <c:v>Window 3</c:v>
          </c:tx>
          <c:spPr>
            <a:ln xmlns:a="http://schemas.openxmlformats.org/drawingml/2006/main" w="28575">
              <a:solidFill>
                <a:srgbClr val="D77938"/>
              </a:solidFill>
            </a:ln>
          </c:spPr>
          <c:marker>
            <c:symbol val="none"/>
          </c:marker>
          <c:xVal>
            <c:numRef>
              <c:f>'Chart Data'!$E$2:$E$61</c:f>
              <c:numCache>
                <c:formatCode>0</c:formatCode>
                <c:ptCount val="60"/>
                <c:pt idx="0">
                  <c:v>121</c:v>
                </c:pt>
                <c:pt idx="1">
                  <c:v>122</c:v>
                </c:pt>
                <c:pt idx="2">
                  <c:v>123</c:v>
                </c:pt>
                <c:pt idx="3">
                  <c:v>124</c:v>
                </c:pt>
                <c:pt idx="4">
                  <c:v>125</c:v>
                </c:pt>
                <c:pt idx="5">
                  <c:v>126</c:v>
                </c:pt>
                <c:pt idx="6">
                  <c:v>127</c:v>
                </c:pt>
                <c:pt idx="7">
                  <c:v>128</c:v>
                </c:pt>
                <c:pt idx="8">
                  <c:v>129</c:v>
                </c:pt>
                <c:pt idx="9">
                  <c:v>130</c:v>
                </c:pt>
                <c:pt idx="10">
                  <c:v>131</c:v>
                </c:pt>
                <c:pt idx="11">
                  <c:v>132</c:v>
                </c:pt>
                <c:pt idx="12">
                  <c:v>133</c:v>
                </c:pt>
                <c:pt idx="13">
                  <c:v>134</c:v>
                </c:pt>
                <c:pt idx="14">
                  <c:v>135</c:v>
                </c:pt>
                <c:pt idx="15">
                  <c:v>136</c:v>
                </c:pt>
                <c:pt idx="16">
                  <c:v>137</c:v>
                </c:pt>
                <c:pt idx="17">
                  <c:v>138</c:v>
                </c:pt>
                <c:pt idx="18">
                  <c:v>139</c:v>
                </c:pt>
                <c:pt idx="19">
                  <c:v>140</c:v>
                </c:pt>
                <c:pt idx="20">
                  <c:v>141</c:v>
                </c:pt>
                <c:pt idx="21">
                  <c:v>142</c:v>
                </c:pt>
                <c:pt idx="22">
                  <c:v>143</c:v>
                </c:pt>
                <c:pt idx="23">
                  <c:v>144</c:v>
                </c:pt>
                <c:pt idx="24">
                  <c:v>145</c:v>
                </c:pt>
                <c:pt idx="25">
                  <c:v>146</c:v>
                </c:pt>
                <c:pt idx="26">
                  <c:v>147</c:v>
                </c:pt>
                <c:pt idx="27">
                  <c:v>148</c:v>
                </c:pt>
                <c:pt idx="28">
                  <c:v>149</c:v>
                </c:pt>
                <c:pt idx="29">
                  <c:v>150</c:v>
                </c:pt>
                <c:pt idx="30">
                  <c:v>151</c:v>
                </c:pt>
                <c:pt idx="31">
                  <c:v>152</c:v>
                </c:pt>
                <c:pt idx="32">
                  <c:v>153</c:v>
                </c:pt>
                <c:pt idx="33">
                  <c:v>154</c:v>
                </c:pt>
                <c:pt idx="34">
                  <c:v>155</c:v>
                </c:pt>
                <c:pt idx="35">
                  <c:v>156</c:v>
                </c:pt>
                <c:pt idx="36">
                  <c:v>157</c:v>
                </c:pt>
                <c:pt idx="37">
                  <c:v>158</c:v>
                </c:pt>
                <c:pt idx="38">
                  <c:v>159</c:v>
                </c:pt>
                <c:pt idx="39">
                  <c:v>160</c:v>
                </c:pt>
                <c:pt idx="40">
                  <c:v>161</c:v>
                </c:pt>
                <c:pt idx="41">
                  <c:v>162</c:v>
                </c:pt>
                <c:pt idx="42">
                  <c:v>163</c:v>
                </c:pt>
                <c:pt idx="43">
                  <c:v>164</c:v>
                </c:pt>
                <c:pt idx="44">
                  <c:v>165</c:v>
                </c:pt>
                <c:pt idx="45">
                  <c:v>166</c:v>
                </c:pt>
                <c:pt idx="46">
                  <c:v>167</c:v>
                </c:pt>
                <c:pt idx="47">
                  <c:v>168</c:v>
                </c:pt>
                <c:pt idx="48">
                  <c:v>169</c:v>
                </c:pt>
                <c:pt idx="49">
                  <c:v>170</c:v>
                </c:pt>
                <c:pt idx="50">
                  <c:v>171</c:v>
                </c:pt>
                <c:pt idx="51">
                  <c:v>172</c:v>
                </c:pt>
                <c:pt idx="52">
                  <c:v>173</c:v>
                </c:pt>
                <c:pt idx="53">
                  <c:v>174</c:v>
                </c:pt>
                <c:pt idx="54">
                  <c:v>175</c:v>
                </c:pt>
                <c:pt idx="55">
                  <c:v>176</c:v>
                </c:pt>
                <c:pt idx="56">
                  <c:v>177</c:v>
                </c:pt>
                <c:pt idx="57">
                  <c:v>178</c:v>
                </c:pt>
                <c:pt idx="58">
                  <c:v>179</c:v>
                </c:pt>
                <c:pt idx="59">
                  <c:v>180</c:v>
                </c:pt>
              </c:numCache>
            </c:numRef>
          </c:xVal>
          <c:yVal>
            <c:numRef>
              <c:f>'Chart Data'!$F$2:$F$61</c:f>
              <c:numCache>
                <c:formatCode>0.00</c:formatCode>
                <c:ptCount val="60"/>
                <c:pt idx="0">
                  <c:v>1.293932</c:v>
                </c:pt>
                <c:pt idx="1">
                  <c:v>1.070722</c:v>
                </c:pt>
                <c:pt idx="2">
                  <c:v>1.460754</c:v>
                </c:pt>
                <c:pt idx="3">
                  <c:v>1.874253</c:v>
                </c:pt>
                <c:pt idx="4">
                  <c:v>1.364989</c:v>
                </c:pt>
                <c:pt idx="5">
                  <c:v>0.795784</c:v>
                </c:pt>
                <c:pt idx="6">
                  <c:v>1.060424</c:v>
                </c:pt>
                <c:pt idx="7">
                  <c:v>1.009283</c:v>
                </c:pt>
                <c:pt idx="8">
                  <c:v>0.937154</c:v>
                </c:pt>
                <c:pt idx="9">
                  <c:v>1.128883</c:v>
                </c:pt>
                <c:pt idx="10">
                  <c:v>0.873873</c:v>
                </c:pt>
                <c:pt idx="11">
                  <c:v>1.07609</c:v>
                </c:pt>
                <c:pt idx="12">
                  <c:v>0.966846</c:v>
                </c:pt>
                <c:pt idx="13">
                  <c:v>1.000238</c:v>
                </c:pt>
                <c:pt idx="14">
                  <c:v>0.962949</c:v>
                </c:pt>
                <c:pt idx="15">
                  <c:v>0.771808</c:v>
                </c:pt>
                <c:pt idx="16">
                  <c:v>0.782731</c:v>
                </c:pt>
                <c:pt idx="17">
                  <c:v>0.831686</c:v>
                </c:pt>
                <c:pt idx="18">
                  <c:v>0.92758</c:v>
                </c:pt>
                <c:pt idx="19">
                  <c:v>0.884684</c:v>
                </c:pt>
                <c:pt idx="20">
                  <c:v>0.809222</c:v>
                </c:pt>
                <c:pt idx="21">
                  <c:v>0.755657</c:v>
                </c:pt>
                <c:pt idx="22">
                  <c:v>0.757041</c:v>
                </c:pt>
                <c:pt idx="23">
                  <c:v>0.711017</c:v>
                </c:pt>
                <c:pt idx="24">
                  <c:v>0.722195</c:v>
                </c:pt>
                <c:pt idx="25">
                  <c:v>0.857541</c:v>
                </c:pt>
                <c:pt idx="26">
                  <c:v>0.824978</c:v>
                </c:pt>
                <c:pt idx="27">
                  <c:v>0.802862</c:v>
                </c:pt>
                <c:pt idx="28">
                  <c:v>1.07104</c:v>
                </c:pt>
                <c:pt idx="29">
                  <c:v>1.132522</c:v>
                </c:pt>
                <c:pt idx="30">
                  <c:v>1.251121</c:v>
                </c:pt>
                <c:pt idx="31">
                  <c:v>1.30124</c:v>
                </c:pt>
                <c:pt idx="32">
                  <c:v>1.024345</c:v>
                </c:pt>
                <c:pt idx="33">
                  <c:v>1.098546</c:v>
                </c:pt>
                <c:pt idx="34">
                  <c:v>1.111753</c:v>
                </c:pt>
                <c:pt idx="35">
                  <c:v>1.317203</c:v>
                </c:pt>
                <c:pt idx="36">
                  <c:v>1.635224</c:v>
                </c:pt>
                <c:pt idx="37">
                  <c:v>1.566023</c:v>
                </c:pt>
                <c:pt idx="38">
                  <c:v>1.320383</c:v>
                </c:pt>
                <c:pt idx="39">
                  <c:v>1.445727</c:v>
                </c:pt>
                <c:pt idx="40">
                  <c:v>1.402667</c:v>
                </c:pt>
                <c:pt idx="41">
                  <c:v>1.483804</c:v>
                </c:pt>
                <c:pt idx="42">
                  <c:v>1.355884</c:v>
                </c:pt>
                <c:pt idx="43">
                  <c:v>1.40529</c:v>
                </c:pt>
                <c:pt idx="44">
                  <c:v>1.386024</c:v>
                </c:pt>
                <c:pt idx="45">
                  <c:v>1.478905</c:v>
                </c:pt>
                <c:pt idx="46">
                  <c:v>1.372434</c:v>
                </c:pt>
                <c:pt idx="47">
                  <c:v>1.501741</c:v>
                </c:pt>
                <c:pt idx="48">
                  <c:v>1.463667</c:v>
                </c:pt>
                <c:pt idx="49">
                  <c:v>1.561477</c:v>
                </c:pt>
                <c:pt idx="50">
                  <c:v>1.57042</c:v>
                </c:pt>
                <c:pt idx="51">
                  <c:v>1.457371</c:v>
                </c:pt>
                <c:pt idx="52">
                  <c:v>1.593491</c:v>
                </c:pt>
                <c:pt idx="53">
                  <c:v>1.41508</c:v>
                </c:pt>
                <c:pt idx="54">
                  <c:v>1.446943</c:v>
                </c:pt>
                <c:pt idx="55">
                  <c:v>1.517527</c:v>
                </c:pt>
                <c:pt idx="56">
                  <c:v>1.477466</c:v>
                </c:pt>
                <c:pt idx="57">
                  <c:v>1.509219</c:v>
                </c:pt>
                <c:pt idx="58">
                  <c:v>1.563717</c:v>
                </c:pt>
                <c:pt idx="59">
                  <c:v>1.696014</c:v>
                </c:pt>
              </c:numCache>
            </c:numRef>
          </c:y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CED8E0"/>
              </a:solidFill>
            </a:ln>
          </c:spPr>
        </c:majorGridlines>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T24 (z)</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171"/>
                </a:solidFill>
                <a:latin typeface="Malgun Gothic"/>
                <a:ea typeface="Malgun Gothic"/>
                <a:cs typeface="Malgun Gothic"/>
              </a:defRPr>
            </a:pPr>
          </a:p>
        </c:txPr>
        <c:crossAx val="48650112"/>
      </c:valAx>
      <c:valAx>
        <c:axId val="48650112"/>
        <c:scaling>
          <c:orientation val="minMax"/>
          <c:max val="180"/>
          <c:min val="0"/>
        </c:scaling>
        <c:delete val="0"/>
        <c:axPos val="b"/>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Sample index</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171"/>
                </a:solidFill>
                <a:latin typeface="Malgun Gothic"/>
                <a:ea typeface="Malgun Gothic"/>
                <a:cs typeface="Malgun Gothic"/>
              </a:defRPr>
            </a:pPr>
          </a:p>
        </c:txPr>
        <c:crossAx val="48672768"/>
        <c:majorUnit val="60"/>
      </c:valAx>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536171"/>
              </a:solidFill>
              <a:latin typeface="Malgun Gothic"/>
              <a:ea typeface="Malgun Gothic"/>
              <a:cs typeface="Malgun Gothic"/>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Development CV</c:v>
          </c:tx>
          <c:spPr>
            <a:solidFill xmlns:a="http://schemas.openxmlformats.org/drawingml/2006/main">
              <a:srgbClr val="234B67"/>
            </a:solidFill>
          </c:spPr>
          <c:cat>
            <c:strRef>
              <c:f>'Chart Data'!$A$2:$A$5</c:f>
              <c:strCache>
                <c:ptCount val="4"/>
                <c:pt idx="0">
                  <c:v>Mean</c:v>
                </c:pt>
                <c:pt idx="1">
                  <c:v>Ridge
60/60</c:v>
                </c:pt>
                <c:pt idx="2">
                  <c:v>Ridge
30/15 + clip</c:v>
                </c:pt>
                <c:pt idx="3">
                  <c:v>CNN
60/60</c:v>
                </c:pt>
              </c:strCache>
            </c:strRef>
          </c:cat>
          <c:val>
            <c:numRef>
              <c:f>'Chart Data'!$B$2:$B$5</c:f>
              <c:numCache>
                <c:formatCode>0.00</c:formatCode>
                <c:ptCount val="4"/>
                <c:pt idx="0">
                  <c:v>21.914067</c:v>
                </c:pt>
                <c:pt idx="1">
                  <c:v>11.383443</c:v>
                </c:pt>
                <c:pt idx="2">
                  <c:v>10.778887</c:v>
                </c:pt>
                <c:pt idx="3">
                  <c:v>6.575258</c:v>
                </c:pt>
              </c:numCache>
            </c:numRef>
          </c:val>
        </c:ser>
        <c:ser>
          <c:idx val="1"/>
          <c:order val="1"/>
          <c:tx>
            <c:v>Test evaluation</c:v>
          </c:tx>
          <c:spPr>
            <a:solidFill xmlns:a="http://schemas.openxmlformats.org/drawingml/2006/main">
              <a:srgbClr val="D77938"/>
            </a:solidFill>
          </c:spPr>
          <c:cat>
            <c:strRef>
              <c:f>'Chart Data'!$C$2:$C$5</c:f>
              <c:strCache>
                <c:ptCount val="4"/>
                <c:pt idx="0">
                  <c:v>Mean</c:v>
                </c:pt>
                <c:pt idx="1">
                  <c:v>Ridge
60/60</c:v>
                </c:pt>
                <c:pt idx="2">
                  <c:v>Ridge
30/15 + clip</c:v>
                </c:pt>
                <c:pt idx="3">
                  <c:v>CNN
60/60</c:v>
                </c:pt>
              </c:strCache>
            </c:strRef>
          </c:cat>
          <c:val>
            <c:numRef>
              <c:f>'Chart Data'!$D$2:$D$5</c:f>
              <c:numCache>
                <c:formatCode>0.00</c:formatCode>
                <c:ptCount val="4"/>
                <c:pt idx="0">
                  <c:v>20.104145</c:v>
                </c:pt>
                <c:pt idx="1">
                  <c:v>11.276224</c:v>
                </c:pt>
                <c:pt idx="2">
                  <c:v>10.591274</c:v>
                </c:pt>
                <c:pt idx="3">
                  <c:v>5.695466</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122536"/>
                  </a:solidFill>
                  <a:latin typeface="Malgun Gothic"/>
                  <a:ea typeface="Malgun Gothic"/>
                  <a:cs typeface="Malgun Gothic"/>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36171"/>
                </a:solidFill>
                <a:latin typeface="Malgun Gothic"/>
                <a:ea typeface="Malgun Gothic"/>
                <a:cs typeface="Malgun Gothic"/>
              </a:defRPr>
            </a:pPr>
          </a:p>
        </c:txPr>
        <c:crossAx val="48672768"/>
      </c:catAx>
      <c:valAx>
        <c:axId val="48672768"/>
        <c:scaling>
          <c:orientation val="minMax"/>
          <c:max val="25"/>
          <c:min val="0"/>
        </c:scaling>
        <c:delete val="0"/>
        <c:axPos val="l"/>
        <c:majorGridlines>
          <c:spPr>
            <a:ln xmlns:a="http://schemas.openxmlformats.org/drawingml/2006/main" w="9525">
              <a:solidFill>
                <a:srgbClr val="CED8E0"/>
              </a:solidFill>
            </a:ln>
          </c:spPr>
        </c:majorGridlines>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RMSE (cycles)</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171"/>
                </a:solidFill>
                <a:latin typeface="Malgun Gothic"/>
                <a:ea typeface="Malgun Gothic"/>
                <a:cs typeface="Malgun Gothic"/>
              </a:defRPr>
            </a:pPr>
          </a:p>
        </c:txPr>
        <c:crossAx val="48650112"/>
        <c:crossBetween val="between"/>
        <c:majorUnit val="5"/>
      </c:valAx>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36171"/>
              </a:solidFill>
              <a:latin typeface="Malgun Gothic"/>
              <a:ea typeface="Malgun Gothic"/>
              <a:cs typeface="Malgun Gothic"/>
            </a:defRPr>
          </a:pPr>
        </a:p>
      </c:txPr>
    </c:legend>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Reference RUL</c:v>
          </c:tx>
          <c:spPr>
            <a:ln xmlns:a="http://schemas.openxmlformats.org/drawingml/2006/main" w="28575">
              <a:solidFill>
                <a:srgbClr val="234B67"/>
              </a:solidFill>
            </a:ln>
          </c:spPr>
          <c:marker>
            <c:symbol val="none"/>
          </c:marker>
          <c:xVal>
            <c:numRef>
              <c:f>'Chart Data'!$A$2:$A$60</c:f>
              <c:numCache>
                <c:formatCode>0</c:formatCode>
                <c:ptCount val="5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numCache>
            </c:numRef>
          </c:xVal>
          <c:yVal>
            <c:numRef>
              <c:f>'Chart Data'!$B$2:$B$60</c:f>
              <c:numCache>
                <c:formatCode>0.00</c:formatCode>
                <c:ptCount val="59"/>
                <c:pt idx="0">
                  <c:v>58</c:v>
                </c:pt>
                <c:pt idx="1">
                  <c:v>57</c:v>
                </c:pt>
                <c:pt idx="2">
                  <c:v>56</c:v>
                </c:pt>
                <c:pt idx="3">
                  <c:v>55</c:v>
                </c:pt>
                <c:pt idx="4">
                  <c:v>54</c:v>
                </c:pt>
                <c:pt idx="5">
                  <c:v>53</c:v>
                </c:pt>
                <c:pt idx="6">
                  <c:v>52</c:v>
                </c:pt>
                <c:pt idx="7">
                  <c:v>51</c:v>
                </c:pt>
                <c:pt idx="8">
                  <c:v>50</c:v>
                </c:pt>
                <c:pt idx="9">
                  <c:v>49</c:v>
                </c:pt>
                <c:pt idx="10">
                  <c:v>48</c:v>
                </c:pt>
                <c:pt idx="11">
                  <c:v>47</c:v>
                </c:pt>
                <c:pt idx="12">
                  <c:v>46</c:v>
                </c:pt>
                <c:pt idx="13">
                  <c:v>45</c:v>
                </c:pt>
                <c:pt idx="14">
                  <c:v>44</c:v>
                </c:pt>
                <c:pt idx="15">
                  <c:v>43</c:v>
                </c:pt>
                <c:pt idx="16">
                  <c:v>42</c:v>
                </c:pt>
                <c:pt idx="17">
                  <c:v>41</c:v>
                </c:pt>
                <c:pt idx="18">
                  <c:v>40</c:v>
                </c:pt>
                <c:pt idx="19">
                  <c:v>39</c:v>
                </c:pt>
                <c:pt idx="20">
                  <c:v>38</c:v>
                </c:pt>
                <c:pt idx="21">
                  <c:v>37</c:v>
                </c:pt>
                <c:pt idx="22">
                  <c:v>36</c:v>
                </c:pt>
                <c:pt idx="23">
                  <c:v>35</c:v>
                </c:pt>
                <c:pt idx="24">
                  <c:v>34</c:v>
                </c:pt>
                <c:pt idx="25">
                  <c:v>33</c:v>
                </c:pt>
                <c:pt idx="26">
                  <c:v>32</c:v>
                </c:pt>
                <c:pt idx="27">
                  <c:v>31</c:v>
                </c:pt>
                <c:pt idx="28">
                  <c:v>30</c:v>
                </c:pt>
                <c:pt idx="29">
                  <c:v>29</c:v>
                </c:pt>
                <c:pt idx="30">
                  <c:v>28</c:v>
                </c:pt>
                <c:pt idx="31">
                  <c:v>27</c:v>
                </c:pt>
                <c:pt idx="32">
                  <c:v>26</c:v>
                </c:pt>
                <c:pt idx="33">
                  <c:v>25</c:v>
                </c:pt>
                <c:pt idx="34">
                  <c:v>24</c:v>
                </c:pt>
                <c:pt idx="35">
                  <c:v>23</c:v>
                </c:pt>
                <c:pt idx="36">
                  <c:v>22</c:v>
                </c:pt>
                <c:pt idx="37">
                  <c:v>21</c:v>
                </c:pt>
                <c:pt idx="38">
                  <c:v>20</c:v>
                </c:pt>
                <c:pt idx="39">
                  <c:v>19</c:v>
                </c:pt>
                <c:pt idx="40">
                  <c:v>18</c:v>
                </c:pt>
                <c:pt idx="41">
                  <c:v>17</c:v>
                </c:pt>
                <c:pt idx="42">
                  <c:v>16</c:v>
                </c:pt>
                <c:pt idx="43">
                  <c:v>15</c:v>
                </c:pt>
                <c:pt idx="44">
                  <c:v>14</c:v>
                </c:pt>
                <c:pt idx="45">
                  <c:v>13</c:v>
                </c:pt>
                <c:pt idx="46">
                  <c:v>12</c:v>
                </c:pt>
                <c:pt idx="47">
                  <c:v>11</c:v>
                </c:pt>
                <c:pt idx="48">
                  <c:v>10</c:v>
                </c:pt>
                <c:pt idx="49">
                  <c:v>9</c:v>
                </c:pt>
                <c:pt idx="50">
                  <c:v>8</c:v>
                </c:pt>
                <c:pt idx="51">
                  <c:v>7</c:v>
                </c:pt>
                <c:pt idx="52">
                  <c:v>6</c:v>
                </c:pt>
                <c:pt idx="53">
                  <c:v>5</c:v>
                </c:pt>
                <c:pt idx="54">
                  <c:v>4</c:v>
                </c:pt>
                <c:pt idx="55">
                  <c:v>3</c:v>
                </c:pt>
                <c:pt idx="56">
                  <c:v>2</c:v>
                </c:pt>
                <c:pt idx="57">
                  <c:v>1</c:v>
                </c:pt>
                <c:pt idx="58">
                  <c:v>0</c:v>
                </c:pt>
              </c:numCache>
            </c:numRef>
          </c:yVal>
        </c:ser>
        <c:ser>
          <c:idx val="1"/>
          <c:order val="1"/>
          <c:tx>
            <c:v>CNN prediction</c:v>
          </c:tx>
          <c:spPr>
            <a:ln xmlns:a="http://schemas.openxmlformats.org/drawingml/2006/main" w="23813">
              <a:solidFill>
                <a:srgbClr val="D77938"/>
              </a:solidFill>
            </a:ln>
          </c:spPr>
          <c:marker>
            <c:symbol val="none"/>
          </c:marker>
          <c:xVal>
            <c:numRef>
              <c:f>'Chart Data'!$C$2:$C$60</c:f>
              <c:numCache>
                <c:formatCode>0</c:formatCode>
                <c:ptCount val="5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numCache>
            </c:numRef>
          </c:xVal>
          <c:yVal>
            <c:numRef>
              <c:f>'Chart Data'!$D$2:$D$60</c:f>
              <c:numCache>
                <c:formatCode>0.00</c:formatCode>
                <c:ptCount val="59"/>
                <c:pt idx="0">
                  <c:v>59.4186</c:v>
                </c:pt>
                <c:pt idx="1">
                  <c:v>63.857162</c:v>
                </c:pt>
                <c:pt idx="2">
                  <c:v>56.7926</c:v>
                </c:pt>
                <c:pt idx="3">
                  <c:v>59.948715</c:v>
                </c:pt>
                <c:pt idx="4">
                  <c:v>59.207394</c:v>
                </c:pt>
                <c:pt idx="5">
                  <c:v>60.4578</c:v>
                </c:pt>
                <c:pt idx="6">
                  <c:v>53.533474</c:v>
                </c:pt>
                <c:pt idx="7">
                  <c:v>56.690178</c:v>
                </c:pt>
                <c:pt idx="8">
                  <c:v>56.004982</c:v>
                </c:pt>
                <c:pt idx="9">
                  <c:v>60.646233</c:v>
                </c:pt>
                <c:pt idx="10">
                  <c:v>54.235752</c:v>
                </c:pt>
                <c:pt idx="11">
                  <c:v>60.189594</c:v>
                </c:pt>
                <c:pt idx="12">
                  <c:v>56.499233</c:v>
                </c:pt>
                <c:pt idx="13">
                  <c:v>58.18542</c:v>
                </c:pt>
                <c:pt idx="14">
                  <c:v>56.62132</c:v>
                </c:pt>
                <c:pt idx="15">
                  <c:v>49.78748</c:v>
                </c:pt>
                <c:pt idx="16">
                  <c:v>57.135006</c:v>
                </c:pt>
                <c:pt idx="17">
                  <c:v>57.008484</c:v>
                </c:pt>
                <c:pt idx="18">
                  <c:v>55.212124</c:v>
                </c:pt>
                <c:pt idx="19">
                  <c:v>49.724163</c:v>
                </c:pt>
                <c:pt idx="20">
                  <c:v>46.260323</c:v>
                </c:pt>
                <c:pt idx="21">
                  <c:v>47.966015</c:v>
                </c:pt>
                <c:pt idx="22">
                  <c:v>46.619617</c:v>
                </c:pt>
                <c:pt idx="23">
                  <c:v>46.371956</c:v>
                </c:pt>
                <c:pt idx="24">
                  <c:v>44.448883</c:v>
                </c:pt>
                <c:pt idx="25">
                  <c:v>40.586876</c:v>
                </c:pt>
                <c:pt idx="26">
                  <c:v>39.19113</c:v>
                </c:pt>
                <c:pt idx="27">
                  <c:v>41.671883</c:v>
                </c:pt>
                <c:pt idx="28">
                  <c:v>39.167774</c:v>
                </c:pt>
                <c:pt idx="29">
                  <c:v>36.775272</c:v>
                </c:pt>
                <c:pt idx="30">
                  <c:v>34.941685</c:v>
                </c:pt>
                <c:pt idx="31">
                  <c:v>32.090473</c:v>
                </c:pt>
                <c:pt idx="32">
                  <c:v>32.780632</c:v>
                </c:pt>
                <c:pt idx="33">
                  <c:v>32.046543</c:v>
                </c:pt>
                <c:pt idx="34">
                  <c:v>31.92923</c:v>
                </c:pt>
                <c:pt idx="35">
                  <c:v>28.376974</c:v>
                </c:pt>
                <c:pt idx="36">
                  <c:v>28.134699</c:v>
                </c:pt>
                <c:pt idx="37">
                  <c:v>26.61503</c:v>
                </c:pt>
                <c:pt idx="38">
                  <c:v>24.338188</c:v>
                </c:pt>
                <c:pt idx="39">
                  <c:v>24.367687</c:v>
                </c:pt>
                <c:pt idx="40">
                  <c:v>23.058365</c:v>
                </c:pt>
                <c:pt idx="41">
                  <c:v>21.917326</c:v>
                </c:pt>
                <c:pt idx="42">
                  <c:v>18.701977</c:v>
                </c:pt>
                <c:pt idx="43">
                  <c:v>18.932281</c:v>
                </c:pt>
                <c:pt idx="44">
                  <c:v>17.203577</c:v>
                </c:pt>
                <c:pt idx="45">
                  <c:v>15.923306</c:v>
                </c:pt>
                <c:pt idx="46">
                  <c:v>14.386462</c:v>
                </c:pt>
                <c:pt idx="47">
                  <c:v>13.130472</c:v>
                </c:pt>
                <c:pt idx="48">
                  <c:v>11.225087</c:v>
                </c:pt>
                <c:pt idx="49">
                  <c:v>9.948125</c:v>
                </c:pt>
                <c:pt idx="50">
                  <c:v>8.944178</c:v>
                </c:pt>
                <c:pt idx="51">
                  <c:v>8.014389</c:v>
                </c:pt>
                <c:pt idx="52">
                  <c:v>6.789593</c:v>
                </c:pt>
                <c:pt idx="53">
                  <c:v>5.608849</c:v>
                </c:pt>
                <c:pt idx="54">
                  <c:v>4.721531</c:v>
                </c:pt>
                <c:pt idx="55">
                  <c:v>4.057972</c:v>
                </c:pt>
                <c:pt idx="56">
                  <c:v>2.952924</c:v>
                </c:pt>
                <c:pt idx="57">
                  <c:v>2.595394</c:v>
                </c:pt>
                <c:pt idx="58">
                  <c:v>2.029408</c:v>
                </c:pt>
              </c:numCache>
            </c:numRef>
          </c:y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scatterChart>
      <c:valAx>
        <c:axId val="48672768"/>
        <c:scaling>
          <c:orientation val="minMax"/>
          <c:max val="80"/>
          <c:min val="0"/>
        </c:scaling>
        <c:delete val="0"/>
        <c:axPos val="l"/>
        <c:majorGridlines>
          <c:spPr>
            <a:ln xmlns:a="http://schemas.openxmlformats.org/drawingml/2006/main" w="9525">
              <a:solidFill>
                <a:srgbClr val="CED8E0"/>
              </a:solidFill>
            </a:ln>
          </c:spPr>
        </c:majorGridlines>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RUL</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171"/>
                </a:solidFill>
                <a:latin typeface="Malgun Gothic"/>
                <a:ea typeface="Malgun Gothic"/>
                <a:cs typeface="Malgun Gothic"/>
              </a:defRPr>
            </a:pPr>
          </a:p>
        </c:txPr>
        <c:crossAx val="48650112"/>
        <c:majorUnit val="20"/>
      </c:valAx>
      <c:valAx>
        <c:axId val="48650112"/>
        <c:scaling>
          <c:orientation val="minMax"/>
          <c:max val="80"/>
          <c:min val="0"/>
        </c:scaling>
        <c:delete val="0"/>
        <c:axPos val="b"/>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Flight cycle</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171"/>
                </a:solidFill>
                <a:latin typeface="Malgun Gothic"/>
                <a:ea typeface="Malgun Gothic"/>
                <a:cs typeface="Malgun Gothic"/>
              </a:defRPr>
            </a:pPr>
          </a:p>
        </c:txPr>
        <c:crossAx val="48672768"/>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536171"/>
              </a:solidFill>
              <a:latin typeface="Malgun Gothic"/>
              <a:ea typeface="Malgun Gothic"/>
              <a:cs typeface="Malgun Gothic"/>
            </a:defRPr>
          </a:pPr>
        </a:p>
      </c:txPr>
    </c:legend>
    <c:plotVisOnly val="1"/>
  </c:chart>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Reference RUL</c:v>
          </c:tx>
          <c:spPr>
            <a:ln xmlns:a="http://schemas.openxmlformats.org/drawingml/2006/main" w="28575">
              <a:solidFill>
                <a:srgbClr val="234B67"/>
              </a:solidFill>
            </a:ln>
          </c:spPr>
          <c:marker>
            <c:symbol val="none"/>
          </c:marker>
          <c:xVal>
            <c:numRef>
              <c:f>'Chart Data'!$A$2:$A$77</c:f>
              <c:numCache>
                <c:formatCode>0</c:formatCode>
                <c:ptCount val="7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numCache>
            </c:numRef>
          </c:xVal>
          <c:yVal>
            <c:numRef>
              <c:f>'Chart Data'!$B$2:$B$77</c:f>
              <c:numCache>
                <c:formatCode>0.00</c:formatCode>
                <c:ptCount val="76"/>
                <c:pt idx="0">
                  <c:v>75</c:v>
                </c:pt>
                <c:pt idx="1">
                  <c:v>74</c:v>
                </c:pt>
                <c:pt idx="2">
                  <c:v>73</c:v>
                </c:pt>
                <c:pt idx="3">
                  <c:v>72</c:v>
                </c:pt>
                <c:pt idx="4">
                  <c:v>71</c:v>
                </c:pt>
                <c:pt idx="5">
                  <c:v>70</c:v>
                </c:pt>
                <c:pt idx="6">
                  <c:v>69</c:v>
                </c:pt>
                <c:pt idx="7">
                  <c:v>68</c:v>
                </c:pt>
                <c:pt idx="8">
                  <c:v>67</c:v>
                </c:pt>
                <c:pt idx="9">
                  <c:v>66</c:v>
                </c:pt>
                <c:pt idx="10">
                  <c:v>65</c:v>
                </c:pt>
                <c:pt idx="11">
                  <c:v>64</c:v>
                </c:pt>
                <c:pt idx="12">
                  <c:v>63</c:v>
                </c:pt>
                <c:pt idx="13">
                  <c:v>62</c:v>
                </c:pt>
                <c:pt idx="14">
                  <c:v>61</c:v>
                </c:pt>
                <c:pt idx="15">
                  <c:v>60</c:v>
                </c:pt>
                <c:pt idx="16">
                  <c:v>59</c:v>
                </c:pt>
                <c:pt idx="17">
                  <c:v>58</c:v>
                </c:pt>
                <c:pt idx="18">
                  <c:v>57</c:v>
                </c:pt>
                <c:pt idx="19">
                  <c:v>56</c:v>
                </c:pt>
                <c:pt idx="20">
                  <c:v>55</c:v>
                </c:pt>
                <c:pt idx="21">
                  <c:v>54</c:v>
                </c:pt>
                <c:pt idx="22">
                  <c:v>53</c:v>
                </c:pt>
                <c:pt idx="23">
                  <c:v>52</c:v>
                </c:pt>
                <c:pt idx="24">
                  <c:v>51</c:v>
                </c:pt>
                <c:pt idx="25">
                  <c:v>50</c:v>
                </c:pt>
                <c:pt idx="26">
                  <c:v>49</c:v>
                </c:pt>
                <c:pt idx="27">
                  <c:v>48</c:v>
                </c:pt>
                <c:pt idx="28">
                  <c:v>47</c:v>
                </c:pt>
                <c:pt idx="29">
                  <c:v>46</c:v>
                </c:pt>
                <c:pt idx="30">
                  <c:v>45</c:v>
                </c:pt>
                <c:pt idx="31">
                  <c:v>44</c:v>
                </c:pt>
                <c:pt idx="32">
                  <c:v>43</c:v>
                </c:pt>
                <c:pt idx="33">
                  <c:v>42</c:v>
                </c:pt>
                <c:pt idx="34">
                  <c:v>41</c:v>
                </c:pt>
                <c:pt idx="35">
                  <c:v>40</c:v>
                </c:pt>
                <c:pt idx="36">
                  <c:v>39</c:v>
                </c:pt>
                <c:pt idx="37">
                  <c:v>38</c:v>
                </c:pt>
                <c:pt idx="38">
                  <c:v>37</c:v>
                </c:pt>
                <c:pt idx="39">
                  <c:v>36</c:v>
                </c:pt>
                <c:pt idx="40">
                  <c:v>35</c:v>
                </c:pt>
                <c:pt idx="41">
                  <c:v>34</c:v>
                </c:pt>
                <c:pt idx="42">
                  <c:v>33</c:v>
                </c:pt>
                <c:pt idx="43">
                  <c:v>32</c:v>
                </c:pt>
                <c:pt idx="44">
                  <c:v>31</c:v>
                </c:pt>
                <c:pt idx="45">
                  <c:v>30</c:v>
                </c:pt>
                <c:pt idx="46">
                  <c:v>29</c:v>
                </c:pt>
                <c:pt idx="47">
                  <c:v>28</c:v>
                </c:pt>
                <c:pt idx="48">
                  <c:v>27</c:v>
                </c:pt>
                <c:pt idx="49">
                  <c:v>26</c:v>
                </c:pt>
                <c:pt idx="50">
                  <c:v>25</c:v>
                </c:pt>
                <c:pt idx="51">
                  <c:v>24</c:v>
                </c:pt>
                <c:pt idx="52">
                  <c:v>23</c:v>
                </c:pt>
                <c:pt idx="53">
                  <c:v>22</c:v>
                </c:pt>
                <c:pt idx="54">
                  <c:v>21</c:v>
                </c:pt>
                <c:pt idx="55">
                  <c:v>20</c:v>
                </c:pt>
                <c:pt idx="56">
                  <c:v>19</c:v>
                </c:pt>
                <c:pt idx="57">
                  <c:v>18</c:v>
                </c:pt>
                <c:pt idx="58">
                  <c:v>17</c:v>
                </c:pt>
                <c:pt idx="59">
                  <c:v>16</c:v>
                </c:pt>
                <c:pt idx="60">
                  <c:v>15</c:v>
                </c:pt>
                <c:pt idx="61">
                  <c:v>14</c:v>
                </c:pt>
                <c:pt idx="62">
                  <c:v>13</c:v>
                </c:pt>
                <c:pt idx="63">
                  <c:v>12</c:v>
                </c:pt>
                <c:pt idx="64">
                  <c:v>11</c:v>
                </c:pt>
                <c:pt idx="65">
                  <c:v>10</c:v>
                </c:pt>
                <c:pt idx="66">
                  <c:v>9</c:v>
                </c:pt>
                <c:pt idx="67">
                  <c:v>8</c:v>
                </c:pt>
                <c:pt idx="68">
                  <c:v>7</c:v>
                </c:pt>
                <c:pt idx="69">
                  <c:v>6</c:v>
                </c:pt>
                <c:pt idx="70">
                  <c:v>5</c:v>
                </c:pt>
                <c:pt idx="71">
                  <c:v>4</c:v>
                </c:pt>
                <c:pt idx="72">
                  <c:v>3</c:v>
                </c:pt>
                <c:pt idx="73">
                  <c:v>2</c:v>
                </c:pt>
                <c:pt idx="74">
                  <c:v>1</c:v>
                </c:pt>
                <c:pt idx="75">
                  <c:v>0</c:v>
                </c:pt>
              </c:numCache>
            </c:numRef>
          </c:yVal>
        </c:ser>
        <c:ser>
          <c:idx val="1"/>
          <c:order val="1"/>
          <c:tx>
            <c:v>CNN prediction</c:v>
          </c:tx>
          <c:spPr>
            <a:ln xmlns:a="http://schemas.openxmlformats.org/drawingml/2006/main" w="23813">
              <a:solidFill>
                <a:srgbClr val="D77938"/>
              </a:solidFill>
            </a:ln>
          </c:spPr>
          <c:marker>
            <c:symbol val="none"/>
          </c:marker>
          <c:xVal>
            <c:numRef>
              <c:f>'Chart Data'!$C$2:$C$77</c:f>
              <c:numCache>
                <c:formatCode>0</c:formatCode>
                <c:ptCount val="7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numCache>
            </c:numRef>
          </c:xVal>
          <c:yVal>
            <c:numRef>
              <c:f>'Chart Data'!$D$2:$D$77</c:f>
              <c:numCache>
                <c:formatCode>0.00</c:formatCode>
                <c:ptCount val="76"/>
                <c:pt idx="0">
                  <c:v>60.896263</c:v>
                </c:pt>
                <c:pt idx="1">
                  <c:v>58.693325</c:v>
                </c:pt>
                <c:pt idx="2">
                  <c:v>59.359474</c:v>
                </c:pt>
                <c:pt idx="3">
                  <c:v>58.095726</c:v>
                </c:pt>
                <c:pt idx="4">
                  <c:v>60.393543</c:v>
                </c:pt>
                <c:pt idx="5">
                  <c:v>56.493526</c:v>
                </c:pt>
                <c:pt idx="6">
                  <c:v>58.003296</c:v>
                </c:pt>
                <c:pt idx="7">
                  <c:v>61.805233</c:v>
                </c:pt>
                <c:pt idx="8">
                  <c:v>60.51522</c:v>
                </c:pt>
                <c:pt idx="9">
                  <c:v>59.01284</c:v>
                </c:pt>
                <c:pt idx="10">
                  <c:v>56.58088</c:v>
                </c:pt>
                <c:pt idx="11">
                  <c:v>57.619446</c:v>
                </c:pt>
                <c:pt idx="12">
                  <c:v>51.908314</c:v>
                </c:pt>
                <c:pt idx="13">
                  <c:v>51.369022</c:v>
                </c:pt>
                <c:pt idx="14">
                  <c:v>51.103924</c:v>
                </c:pt>
                <c:pt idx="15">
                  <c:v>55.79288</c:v>
                </c:pt>
                <c:pt idx="16">
                  <c:v>54.918697</c:v>
                </c:pt>
                <c:pt idx="17">
                  <c:v>50.623592</c:v>
                </c:pt>
                <c:pt idx="18">
                  <c:v>56.457767</c:v>
                </c:pt>
                <c:pt idx="19">
                  <c:v>49.687984</c:v>
                </c:pt>
                <c:pt idx="20">
                  <c:v>55.385822</c:v>
                </c:pt>
                <c:pt idx="21">
                  <c:v>50.161674</c:v>
                </c:pt>
                <c:pt idx="22">
                  <c:v>52.852016</c:v>
                </c:pt>
                <c:pt idx="23">
                  <c:v>50.909473</c:v>
                </c:pt>
                <c:pt idx="24">
                  <c:v>50.898605</c:v>
                </c:pt>
                <c:pt idx="25">
                  <c:v>51.44012</c:v>
                </c:pt>
                <c:pt idx="26">
                  <c:v>49.90273</c:v>
                </c:pt>
                <c:pt idx="27">
                  <c:v>45.62241</c:v>
                </c:pt>
                <c:pt idx="28">
                  <c:v>46.25574</c:v>
                </c:pt>
                <c:pt idx="29">
                  <c:v>48.499874</c:v>
                </c:pt>
                <c:pt idx="30">
                  <c:v>44.95467</c:v>
                </c:pt>
                <c:pt idx="31">
                  <c:v>44.776413</c:v>
                </c:pt>
                <c:pt idx="32">
                  <c:v>45.62404</c:v>
                </c:pt>
                <c:pt idx="33">
                  <c:v>44.343864</c:v>
                </c:pt>
                <c:pt idx="34">
                  <c:v>51.090313</c:v>
                </c:pt>
                <c:pt idx="35">
                  <c:v>50.35079</c:v>
                </c:pt>
                <c:pt idx="36">
                  <c:v>45.59904</c:v>
                </c:pt>
                <c:pt idx="37">
                  <c:v>47.885323</c:v>
                </c:pt>
                <c:pt idx="38">
                  <c:v>42.62108</c:v>
                </c:pt>
                <c:pt idx="39">
                  <c:v>41.488766</c:v>
                </c:pt>
                <c:pt idx="40">
                  <c:v>41.38865</c:v>
                </c:pt>
                <c:pt idx="41">
                  <c:v>40.29456</c:v>
                </c:pt>
                <c:pt idx="42">
                  <c:v>41.0152</c:v>
                </c:pt>
                <c:pt idx="43">
                  <c:v>39.548725</c:v>
                </c:pt>
                <c:pt idx="44">
                  <c:v>37.867718</c:v>
                </c:pt>
                <c:pt idx="45">
                  <c:v>33.763813</c:v>
                </c:pt>
                <c:pt idx="46">
                  <c:v>32.54909</c:v>
                </c:pt>
                <c:pt idx="47">
                  <c:v>32.159187</c:v>
                </c:pt>
                <c:pt idx="48">
                  <c:v>30.306608</c:v>
                </c:pt>
                <c:pt idx="49">
                  <c:v>30.457872</c:v>
                </c:pt>
                <c:pt idx="50">
                  <c:v>27.885998</c:v>
                </c:pt>
                <c:pt idx="51">
                  <c:v>28.020327</c:v>
                </c:pt>
                <c:pt idx="52">
                  <c:v>26.825052</c:v>
                </c:pt>
                <c:pt idx="53">
                  <c:v>26.373964</c:v>
                </c:pt>
                <c:pt idx="54">
                  <c:v>24.17016</c:v>
                </c:pt>
                <c:pt idx="55">
                  <c:v>25.141064</c:v>
                </c:pt>
                <c:pt idx="56">
                  <c:v>21.929153</c:v>
                </c:pt>
                <c:pt idx="57">
                  <c:v>21.122765</c:v>
                </c:pt>
                <c:pt idx="58">
                  <c:v>21.213432</c:v>
                </c:pt>
                <c:pt idx="59">
                  <c:v>19.535442</c:v>
                </c:pt>
                <c:pt idx="60">
                  <c:v>16.517197</c:v>
                </c:pt>
                <c:pt idx="61">
                  <c:v>15.258219</c:v>
                </c:pt>
                <c:pt idx="62">
                  <c:v>14.64315</c:v>
                </c:pt>
                <c:pt idx="63">
                  <c:v>13.721954</c:v>
                </c:pt>
                <c:pt idx="64">
                  <c:v>12.193748</c:v>
                </c:pt>
                <c:pt idx="65">
                  <c:v>10.379427</c:v>
                </c:pt>
                <c:pt idx="66">
                  <c:v>9.73965</c:v>
                </c:pt>
                <c:pt idx="67">
                  <c:v>8.408361</c:v>
                </c:pt>
                <c:pt idx="68">
                  <c:v>7.316959</c:v>
                </c:pt>
                <c:pt idx="69">
                  <c:v>6.185515</c:v>
                </c:pt>
                <c:pt idx="70">
                  <c:v>5.51084</c:v>
                </c:pt>
                <c:pt idx="71">
                  <c:v>4.651156</c:v>
                </c:pt>
                <c:pt idx="72">
                  <c:v>3.653526</c:v>
                </c:pt>
                <c:pt idx="73">
                  <c:v>2.89973</c:v>
                </c:pt>
                <c:pt idx="74">
                  <c:v>2.510128</c:v>
                </c:pt>
                <c:pt idx="75">
                  <c:v>1.818224</c:v>
                </c:pt>
              </c:numCache>
            </c:numRef>
          </c:y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scatterChart>
      <c:valAx>
        <c:axId val="48672768"/>
        <c:scaling>
          <c:orientation val="minMax"/>
          <c:max val="80"/>
          <c:min val="0"/>
        </c:scaling>
        <c:delete val="0"/>
        <c:axPos val="l"/>
        <c:majorGridlines>
          <c:spPr>
            <a:ln xmlns:a="http://schemas.openxmlformats.org/drawingml/2006/main" w="9525">
              <a:solidFill>
                <a:srgbClr val="CED8E0"/>
              </a:solidFill>
            </a:ln>
          </c:spPr>
        </c:majorGridlines>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RUL</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171"/>
                </a:solidFill>
                <a:latin typeface="Malgun Gothic"/>
                <a:ea typeface="Malgun Gothic"/>
                <a:cs typeface="Malgun Gothic"/>
              </a:defRPr>
            </a:pPr>
          </a:p>
        </c:txPr>
        <c:crossAx val="48650112"/>
        <c:majorUnit val="20"/>
      </c:valAx>
      <c:valAx>
        <c:axId val="48650112"/>
        <c:scaling>
          <c:orientation val="minMax"/>
          <c:max val="80"/>
          <c:min val="0"/>
        </c:scaling>
        <c:delete val="0"/>
        <c:axPos val="b"/>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Flight cycle</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171"/>
                </a:solidFill>
                <a:latin typeface="Malgun Gothic"/>
                <a:ea typeface="Malgun Gothic"/>
                <a:cs typeface="Malgun Gothic"/>
              </a:defRPr>
            </a:pPr>
          </a:p>
        </c:txPr>
        <c:crossAx val="48672768"/>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536171"/>
              </a:solidFill>
              <a:latin typeface="Malgun Gothic"/>
              <a:ea typeface="Malgun Gothic"/>
              <a:cs typeface="Malgun Gothic"/>
            </a:defRPr>
          </a:pPr>
        </a:p>
      </c:txPr>
    </c:legend>
    <c:plotVisOnly val="1"/>
  </c:chart>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Reference RUL</c:v>
          </c:tx>
          <c:spPr>
            <a:ln xmlns:a="http://schemas.openxmlformats.org/drawingml/2006/main" w="28575">
              <a:solidFill>
                <a:srgbClr val="234B67"/>
              </a:solidFill>
            </a:ln>
          </c:spPr>
          <c:marker>
            <c:symbol val="none"/>
          </c:marker>
          <c:xVal>
            <c:numRef>
              <c:f>'Chart Data'!$A$2:$A$68</c:f>
              <c:numCache>
                <c:formatCode>0</c:formatCode>
                <c:ptCount val="67"/>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numCache>
            </c:numRef>
          </c:xVal>
          <c:yVal>
            <c:numRef>
              <c:f>'Chart Data'!$B$2:$B$68</c:f>
              <c:numCache>
                <c:formatCode>0.00</c:formatCode>
                <c:ptCount val="67"/>
                <c:pt idx="0">
                  <c:v>66</c:v>
                </c:pt>
                <c:pt idx="1">
                  <c:v>65</c:v>
                </c:pt>
                <c:pt idx="2">
                  <c:v>64</c:v>
                </c:pt>
                <c:pt idx="3">
                  <c:v>63</c:v>
                </c:pt>
                <c:pt idx="4">
                  <c:v>62</c:v>
                </c:pt>
                <c:pt idx="5">
                  <c:v>61</c:v>
                </c:pt>
                <c:pt idx="6">
                  <c:v>60</c:v>
                </c:pt>
                <c:pt idx="7">
                  <c:v>59</c:v>
                </c:pt>
                <c:pt idx="8">
                  <c:v>58</c:v>
                </c:pt>
                <c:pt idx="9">
                  <c:v>57</c:v>
                </c:pt>
                <c:pt idx="10">
                  <c:v>56</c:v>
                </c:pt>
                <c:pt idx="11">
                  <c:v>55</c:v>
                </c:pt>
                <c:pt idx="12">
                  <c:v>54</c:v>
                </c:pt>
                <c:pt idx="13">
                  <c:v>53</c:v>
                </c:pt>
                <c:pt idx="14">
                  <c:v>52</c:v>
                </c:pt>
                <c:pt idx="15">
                  <c:v>51</c:v>
                </c:pt>
                <c:pt idx="16">
                  <c:v>50</c:v>
                </c:pt>
                <c:pt idx="17">
                  <c:v>49</c:v>
                </c:pt>
                <c:pt idx="18">
                  <c:v>48</c:v>
                </c:pt>
                <c:pt idx="19">
                  <c:v>47</c:v>
                </c:pt>
                <c:pt idx="20">
                  <c:v>46</c:v>
                </c:pt>
                <c:pt idx="21">
                  <c:v>45</c:v>
                </c:pt>
                <c:pt idx="22">
                  <c:v>44</c:v>
                </c:pt>
                <c:pt idx="23">
                  <c:v>43</c:v>
                </c:pt>
                <c:pt idx="24">
                  <c:v>42</c:v>
                </c:pt>
                <c:pt idx="25">
                  <c:v>41</c:v>
                </c:pt>
                <c:pt idx="26">
                  <c:v>40</c:v>
                </c:pt>
                <c:pt idx="27">
                  <c:v>39</c:v>
                </c:pt>
                <c:pt idx="28">
                  <c:v>38</c:v>
                </c:pt>
                <c:pt idx="29">
                  <c:v>37</c:v>
                </c:pt>
                <c:pt idx="30">
                  <c:v>36</c:v>
                </c:pt>
                <c:pt idx="31">
                  <c:v>35</c:v>
                </c:pt>
                <c:pt idx="32">
                  <c:v>34</c:v>
                </c:pt>
                <c:pt idx="33">
                  <c:v>33</c:v>
                </c:pt>
                <c:pt idx="34">
                  <c:v>32</c:v>
                </c:pt>
                <c:pt idx="35">
                  <c:v>31</c:v>
                </c:pt>
                <c:pt idx="36">
                  <c:v>30</c:v>
                </c:pt>
                <c:pt idx="37">
                  <c:v>29</c:v>
                </c:pt>
                <c:pt idx="38">
                  <c:v>28</c:v>
                </c:pt>
                <c:pt idx="39">
                  <c:v>27</c:v>
                </c:pt>
                <c:pt idx="40">
                  <c:v>26</c:v>
                </c:pt>
                <c:pt idx="41">
                  <c:v>25</c:v>
                </c:pt>
                <c:pt idx="42">
                  <c:v>24</c:v>
                </c:pt>
                <c:pt idx="43">
                  <c:v>23</c:v>
                </c:pt>
                <c:pt idx="44">
                  <c:v>22</c:v>
                </c:pt>
                <c:pt idx="45">
                  <c:v>21</c:v>
                </c:pt>
                <c:pt idx="46">
                  <c:v>20</c:v>
                </c:pt>
                <c:pt idx="47">
                  <c:v>19</c:v>
                </c:pt>
                <c:pt idx="48">
                  <c:v>18</c:v>
                </c:pt>
                <c:pt idx="49">
                  <c:v>17</c:v>
                </c:pt>
                <c:pt idx="50">
                  <c:v>16</c:v>
                </c:pt>
                <c:pt idx="51">
                  <c:v>15</c:v>
                </c:pt>
                <c:pt idx="52">
                  <c:v>14</c:v>
                </c:pt>
                <c:pt idx="53">
                  <c:v>13</c:v>
                </c:pt>
                <c:pt idx="54">
                  <c:v>12</c:v>
                </c:pt>
                <c:pt idx="55">
                  <c:v>11</c:v>
                </c:pt>
                <c:pt idx="56">
                  <c:v>10</c:v>
                </c:pt>
                <c:pt idx="57">
                  <c:v>9</c:v>
                </c:pt>
                <c:pt idx="58">
                  <c:v>8</c:v>
                </c:pt>
                <c:pt idx="59">
                  <c:v>7</c:v>
                </c:pt>
                <c:pt idx="60">
                  <c:v>6</c:v>
                </c:pt>
                <c:pt idx="61">
                  <c:v>5</c:v>
                </c:pt>
                <c:pt idx="62">
                  <c:v>4</c:v>
                </c:pt>
                <c:pt idx="63">
                  <c:v>3</c:v>
                </c:pt>
                <c:pt idx="64">
                  <c:v>2</c:v>
                </c:pt>
                <c:pt idx="65">
                  <c:v>1</c:v>
                </c:pt>
                <c:pt idx="66">
                  <c:v>0</c:v>
                </c:pt>
              </c:numCache>
            </c:numRef>
          </c:yVal>
        </c:ser>
        <c:ser>
          <c:idx val="1"/>
          <c:order val="1"/>
          <c:tx>
            <c:v>CNN prediction</c:v>
          </c:tx>
          <c:spPr>
            <a:ln xmlns:a="http://schemas.openxmlformats.org/drawingml/2006/main" w="23813">
              <a:solidFill>
                <a:srgbClr val="D77938"/>
              </a:solidFill>
            </a:ln>
          </c:spPr>
          <c:marker>
            <c:symbol val="none"/>
          </c:marker>
          <c:xVal>
            <c:numRef>
              <c:f>'Chart Data'!$C$2:$C$68</c:f>
              <c:numCache>
                <c:formatCode>0</c:formatCode>
                <c:ptCount val="67"/>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numCache>
            </c:numRef>
          </c:xVal>
          <c:yVal>
            <c:numRef>
              <c:f>'Chart Data'!$D$2:$D$68</c:f>
              <c:numCache>
                <c:formatCode>0.00</c:formatCode>
                <c:ptCount val="67"/>
                <c:pt idx="0">
                  <c:v>59.057358</c:v>
                </c:pt>
                <c:pt idx="1">
                  <c:v>60.89379</c:v>
                </c:pt>
                <c:pt idx="2">
                  <c:v>61.45971</c:v>
                </c:pt>
                <c:pt idx="3">
                  <c:v>56.999065</c:v>
                </c:pt>
                <c:pt idx="4">
                  <c:v>56.954483</c:v>
                </c:pt>
                <c:pt idx="5">
                  <c:v>57.538574</c:v>
                </c:pt>
                <c:pt idx="6">
                  <c:v>57.40351</c:v>
                </c:pt>
                <c:pt idx="7">
                  <c:v>56.02975</c:v>
                </c:pt>
                <c:pt idx="8">
                  <c:v>50.854656</c:v>
                </c:pt>
                <c:pt idx="9">
                  <c:v>54.452927</c:v>
                </c:pt>
                <c:pt idx="10">
                  <c:v>54.83481</c:v>
                </c:pt>
                <c:pt idx="11">
                  <c:v>55.625954</c:v>
                </c:pt>
                <c:pt idx="12">
                  <c:v>59.47778</c:v>
                </c:pt>
                <c:pt idx="13">
                  <c:v>56.238117</c:v>
                </c:pt>
                <c:pt idx="14">
                  <c:v>52.358715</c:v>
                </c:pt>
                <c:pt idx="15">
                  <c:v>52.028797</c:v>
                </c:pt>
                <c:pt idx="16">
                  <c:v>53.256226</c:v>
                </c:pt>
                <c:pt idx="17">
                  <c:v>52.057724</c:v>
                </c:pt>
                <c:pt idx="18">
                  <c:v>47.44902</c:v>
                </c:pt>
                <c:pt idx="19">
                  <c:v>50.96258</c:v>
                </c:pt>
                <c:pt idx="20">
                  <c:v>52.33157</c:v>
                </c:pt>
                <c:pt idx="21">
                  <c:v>45.98907</c:v>
                </c:pt>
                <c:pt idx="22">
                  <c:v>52.695763</c:v>
                </c:pt>
                <c:pt idx="23">
                  <c:v>46.87576</c:v>
                </c:pt>
                <c:pt idx="24">
                  <c:v>48.57442</c:v>
                </c:pt>
                <c:pt idx="25">
                  <c:v>38.478546</c:v>
                </c:pt>
                <c:pt idx="26">
                  <c:v>39.88033</c:v>
                </c:pt>
                <c:pt idx="27">
                  <c:v>40.153168</c:v>
                </c:pt>
                <c:pt idx="28">
                  <c:v>37.465553</c:v>
                </c:pt>
                <c:pt idx="29">
                  <c:v>42.368004</c:v>
                </c:pt>
                <c:pt idx="30">
                  <c:v>39.06816</c:v>
                </c:pt>
                <c:pt idx="31">
                  <c:v>36.002357</c:v>
                </c:pt>
                <c:pt idx="32">
                  <c:v>37.592514</c:v>
                </c:pt>
                <c:pt idx="33">
                  <c:v>36.683792</c:v>
                </c:pt>
                <c:pt idx="34">
                  <c:v>36.827694</c:v>
                </c:pt>
                <c:pt idx="35">
                  <c:v>38.238934</c:v>
                </c:pt>
                <c:pt idx="36">
                  <c:v>36.78899</c:v>
                </c:pt>
                <c:pt idx="37">
                  <c:v>33.458374</c:v>
                </c:pt>
                <c:pt idx="38">
                  <c:v>31.31403</c:v>
                </c:pt>
                <c:pt idx="39">
                  <c:v>29.058905</c:v>
                </c:pt>
                <c:pt idx="40">
                  <c:v>29.835861</c:v>
                </c:pt>
                <c:pt idx="41">
                  <c:v>29.578201</c:v>
                </c:pt>
                <c:pt idx="42">
                  <c:v>25.706684</c:v>
                </c:pt>
                <c:pt idx="43">
                  <c:v>25.392181</c:v>
                </c:pt>
                <c:pt idx="44">
                  <c:v>25.00576</c:v>
                </c:pt>
                <c:pt idx="45">
                  <c:v>22.625893</c:v>
                </c:pt>
                <c:pt idx="46">
                  <c:v>23.20976</c:v>
                </c:pt>
                <c:pt idx="47">
                  <c:v>21.550907</c:v>
                </c:pt>
                <c:pt idx="48">
                  <c:v>21.446913</c:v>
                </c:pt>
                <c:pt idx="49">
                  <c:v>18.337452</c:v>
                </c:pt>
                <c:pt idx="50">
                  <c:v>16.897648</c:v>
                </c:pt>
                <c:pt idx="51">
                  <c:v>16.459934</c:v>
                </c:pt>
                <c:pt idx="52">
                  <c:v>14.549883</c:v>
                </c:pt>
                <c:pt idx="53">
                  <c:v>13.259342</c:v>
                </c:pt>
                <c:pt idx="54">
                  <c:v>12.289881</c:v>
                </c:pt>
                <c:pt idx="55">
                  <c:v>10.245477</c:v>
                </c:pt>
                <c:pt idx="56">
                  <c:v>10.6071</c:v>
                </c:pt>
                <c:pt idx="57">
                  <c:v>8.745092</c:v>
                </c:pt>
                <c:pt idx="58">
                  <c:v>7.682296</c:v>
                </c:pt>
                <c:pt idx="59">
                  <c:v>6.833612</c:v>
                </c:pt>
                <c:pt idx="60">
                  <c:v>5.577563</c:v>
                </c:pt>
                <c:pt idx="61">
                  <c:v>5.03298</c:v>
                </c:pt>
                <c:pt idx="62">
                  <c:v>4.31692</c:v>
                </c:pt>
                <c:pt idx="63">
                  <c:v>3.622592</c:v>
                </c:pt>
                <c:pt idx="64">
                  <c:v>3.074336</c:v>
                </c:pt>
                <c:pt idx="65">
                  <c:v>2.324711</c:v>
                </c:pt>
                <c:pt idx="66">
                  <c:v>1.896233</c:v>
                </c:pt>
              </c:numCache>
            </c:numRef>
          </c:y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scatterChart>
      <c:valAx>
        <c:axId val="48672768"/>
        <c:scaling>
          <c:orientation val="minMax"/>
          <c:max val="80"/>
          <c:min val="0"/>
        </c:scaling>
        <c:delete val="0"/>
        <c:axPos val="l"/>
        <c:majorGridlines>
          <c:spPr>
            <a:ln xmlns:a="http://schemas.openxmlformats.org/drawingml/2006/main" w="9525">
              <a:solidFill>
                <a:srgbClr val="CED8E0"/>
              </a:solidFill>
            </a:ln>
          </c:spPr>
        </c:majorGridlines>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RUL</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171"/>
                </a:solidFill>
                <a:latin typeface="Malgun Gothic"/>
                <a:ea typeface="Malgun Gothic"/>
                <a:cs typeface="Malgun Gothic"/>
              </a:defRPr>
            </a:pPr>
          </a:p>
        </c:txPr>
        <c:crossAx val="48650112"/>
        <c:majorUnit val="20"/>
      </c:valAx>
      <c:valAx>
        <c:axId val="48650112"/>
        <c:scaling>
          <c:orientation val="minMax"/>
          <c:max val="80"/>
          <c:min val="0"/>
        </c:scaling>
        <c:delete val="0"/>
        <c:axPos val="b"/>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Flight cycle</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171"/>
                </a:solidFill>
                <a:latin typeface="Malgun Gothic"/>
                <a:ea typeface="Malgun Gothic"/>
                <a:cs typeface="Malgun Gothic"/>
              </a:defRPr>
            </a:pPr>
          </a:p>
        </c:txPr>
        <c:crossAx val="48672768"/>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536171"/>
              </a:solidFill>
              <a:latin typeface="Malgun Gothic"/>
              <a:ea typeface="Malgun Gothic"/>
              <a:cs typeface="Malgun Gothic"/>
            </a:defRPr>
          </a:pPr>
        </a:p>
      </c:txPr>
    </c:legend>
    <c:plotVisOnly val="1"/>
  </c:chart>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Minimum</c:v>
          </c:tx>
          <c:spPr>
            <a:solidFill xmlns:a="http://schemas.openxmlformats.org/drawingml/2006/main">
              <a:srgbClr val="C3D2DB"/>
            </a:solidFill>
          </c:spPr>
          <c:cat>
            <c:numRef>
              <c:f>'Chart Data'!$A$2:$A$5</c:f>
              <c:numCache>
                <c:formatCode>General</c:formatCode>
                <c:ptCount val="4"/>
                <c:pt idx="0">
                  <c:v>1</c:v>
                </c:pt>
                <c:pt idx="1">
                  <c:v>2</c:v>
                </c:pt>
                <c:pt idx="2">
                  <c:v>4</c:v>
                </c:pt>
                <c:pt idx="3">
                  <c:v>8</c:v>
                </c:pt>
              </c:numCache>
            </c:numRef>
          </c:cat>
          <c:val>
            <c:numRef>
              <c:f>'Chart Data'!$B$2:$B$5</c:f>
              <c:numCache>
                <c:formatCode>0.00</c:formatCode>
                <c:ptCount val="4"/>
                <c:pt idx="0">
                  <c:v>2.152144</c:v>
                </c:pt>
                <c:pt idx="1">
                  <c:v>1.771851</c:v>
                </c:pt>
                <c:pt idx="2">
                  <c:v>1.471917</c:v>
                </c:pt>
                <c:pt idx="3">
                  <c:v>1.598367</c:v>
                </c:pt>
              </c:numCache>
            </c:numRef>
          </c:val>
        </c:ser>
        <c:ser>
          <c:idx val="1"/>
          <c:order val="1"/>
          <c:tx>
            <c:v>Median</c:v>
          </c:tx>
          <c:spPr>
            <a:solidFill xmlns:a="http://schemas.openxmlformats.org/drawingml/2006/main">
              <a:srgbClr val="087F8C"/>
            </a:solidFill>
          </c:spPr>
          <c:dLbls>
            <c:dLbl>
              <c:idx val="0"/>
              <c:txPr>
                <a:bodyPr xmlns:a="http://schemas.openxmlformats.org/drawingml/2006/main" anchorCtr="1"/>
                <a:lstStyle xmlns:a="http://schemas.openxmlformats.org/drawingml/2006/main"/>
                <a:p xmlns:a="http://schemas.openxmlformats.org/drawingml/2006/main">
                  <a:pPr>
                    <a:defRPr sz="1500" b="1">
                      <a:solidFill>
                        <a:srgbClr val="122536"/>
                      </a:solidFill>
                      <a:latin typeface="Malgun Gothic"/>
                      <a:ea typeface="Malgun Gothic"/>
                      <a:cs typeface="Malgun Gothic"/>
                    </a:defRPr>
                  </a:pPr>
                </a:p>
              </c:txPr>
              <c:dLblPos val="outEnd"/>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1500" b="1">
                      <a:solidFill>
                        <a:srgbClr val="122536"/>
                      </a:solidFill>
                      <a:latin typeface="Malgun Gothic"/>
                      <a:ea typeface="Malgun Gothic"/>
                      <a:cs typeface="Malgun Gothic"/>
                    </a:defRPr>
                  </a:pPr>
                </a:p>
              </c:txPr>
              <c:dLblPos val="outEnd"/>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1500" b="1">
                      <a:solidFill>
                        <a:srgbClr val="122536"/>
                      </a:solidFill>
                      <a:latin typeface="Malgun Gothic"/>
                      <a:ea typeface="Malgun Gothic"/>
                      <a:cs typeface="Malgun Gothic"/>
                    </a:defRPr>
                  </a:pPr>
                </a:p>
              </c:txPr>
              <c:dLblPos val="outEnd"/>
              <c:showLegendKey val="0"/>
              <c:showVal val="1"/>
              <c:showCatName val="0"/>
              <c:showSerName val="0"/>
              <c:showPercent val="0"/>
              <c:showBubbleSize val="0"/>
            </c:dLbl>
            <c:dLbl>
              <c:idx val="3"/>
              <c:txPr>
                <a:bodyPr xmlns:a="http://schemas.openxmlformats.org/drawingml/2006/main" anchorCtr="1"/>
                <a:lstStyle xmlns:a="http://schemas.openxmlformats.org/drawingml/2006/main"/>
                <a:p xmlns:a="http://schemas.openxmlformats.org/drawingml/2006/main">
                  <a:pPr>
                    <a:defRPr sz="1500" b="1">
                      <a:solidFill>
                        <a:srgbClr val="122536"/>
                      </a:solidFill>
                      <a:latin typeface="Malgun Gothic"/>
                      <a:ea typeface="Malgun Gothic"/>
                      <a:cs typeface="Malgun Gothic"/>
                    </a:defRPr>
                  </a:pPr>
                </a:p>
              </c:txPr>
              <c:dLblPos val="outEnd"/>
              <c:showLegendKey val="0"/>
              <c:showVal val="1"/>
              <c:showCatName val="0"/>
              <c:showSerName val="0"/>
              <c:showPercent val="0"/>
              <c:showBubbleSize val="0"/>
            </c:dLbl>
          </c:dLbls>
          <c:cat>
            <c:numRef>
              <c:f>'Chart Data'!$C$2:$C$5</c:f>
              <c:numCache>
                <c:formatCode>General</c:formatCode>
                <c:ptCount val="4"/>
                <c:pt idx="0">
                  <c:v>1</c:v>
                </c:pt>
                <c:pt idx="1">
                  <c:v>2</c:v>
                </c:pt>
                <c:pt idx="2">
                  <c:v>4</c:v>
                </c:pt>
                <c:pt idx="3">
                  <c:v>8</c:v>
                </c:pt>
              </c:numCache>
            </c:numRef>
          </c:cat>
          <c:val>
            <c:numRef>
              <c:f>'Chart Data'!$D$2:$D$5</c:f>
              <c:numCache>
                <c:formatCode>0.00</c:formatCode>
                <c:ptCount val="4"/>
                <c:pt idx="0">
                  <c:v>2.152596</c:v>
                </c:pt>
                <c:pt idx="1">
                  <c:v>1.7775</c:v>
                </c:pt>
                <c:pt idx="2">
                  <c:v>1.473292</c:v>
                </c:pt>
                <c:pt idx="3">
                  <c:v>1.62122</c:v>
                </c:pt>
              </c:numCache>
            </c:numRef>
          </c:val>
        </c:ser>
        <c:ser>
          <c:idx val="2"/>
          <c:order val="2"/>
          <c:tx>
            <c:v>Maximum</c:v>
          </c:tx>
          <c:spPr>
            <a:solidFill xmlns:a="http://schemas.openxmlformats.org/drawingml/2006/main">
              <a:srgbClr val="D77938"/>
            </a:solidFill>
          </c:spPr>
          <c:dLbls>
            <c:dLbl>
              <c:idx val="2"/>
              <c:txPr>
                <a:bodyPr xmlns:a="http://schemas.openxmlformats.org/drawingml/2006/main" anchorCtr="1"/>
                <a:lstStyle xmlns:a="http://schemas.openxmlformats.org/drawingml/2006/main"/>
                <a:p xmlns:a="http://schemas.openxmlformats.org/drawingml/2006/main">
                  <a:pPr>
                    <a:defRPr sz="1500" b="1">
                      <a:solidFill>
                        <a:srgbClr val="D77938"/>
                      </a:solidFill>
                      <a:latin typeface="Malgun Gothic"/>
                      <a:ea typeface="Malgun Gothic"/>
                      <a:cs typeface="Malgun Gothic"/>
                    </a:defRPr>
                  </a:pPr>
                </a:p>
              </c:txPr>
              <c:dLblPos val="outEnd"/>
              <c:showLegendKey val="0"/>
              <c:showVal val="1"/>
              <c:showCatName val="0"/>
              <c:showSerName val="0"/>
              <c:showPercent val="0"/>
              <c:showBubbleSize val="0"/>
            </c:dLbl>
          </c:dLbls>
          <c:cat>
            <c:numRef>
              <c:f>'Chart Data'!$E$2:$E$5</c:f>
              <c:numCache>
                <c:formatCode>General</c:formatCode>
                <c:ptCount val="4"/>
                <c:pt idx="0">
                  <c:v>1</c:v>
                </c:pt>
                <c:pt idx="1">
                  <c:v>2</c:v>
                </c:pt>
                <c:pt idx="2">
                  <c:v>4</c:v>
                </c:pt>
                <c:pt idx="3">
                  <c:v>8</c:v>
                </c:pt>
              </c:numCache>
            </c:numRef>
          </c:cat>
          <c:val>
            <c:numRef>
              <c:f>'Chart Data'!$F$2:$F$5</c:f>
              <c:numCache>
                <c:formatCode>0.00</c:formatCode>
                <c:ptCount val="4"/>
                <c:pt idx="0">
                  <c:v>2.189645</c:v>
                </c:pt>
                <c:pt idx="1">
                  <c:v>1.807514</c:v>
                </c:pt>
                <c:pt idx="2">
                  <c:v>2.285063</c:v>
                </c:pt>
                <c:pt idx="3">
                  <c:v>1.637242</c:v>
                </c:pt>
              </c:numCache>
            </c:numRef>
          </c: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Workers</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171"/>
                </a:solidFill>
                <a:latin typeface="Malgun Gothic"/>
                <a:ea typeface="Malgun Gothic"/>
                <a:cs typeface="Malgun Gothic"/>
              </a:defRPr>
            </a:pPr>
          </a:p>
        </c:txPr>
        <c:crossAx val="48672768"/>
      </c:catAx>
      <c:valAx>
        <c:axId val="48672768"/>
        <c:scaling>
          <c:orientation val="minMax"/>
          <c:max val="2.6"/>
          <c:min val="0"/>
        </c:scaling>
        <c:delete val="0"/>
        <c:axPos val="l"/>
        <c:majorGridlines>
          <c:spPr>
            <a:ln xmlns:a="http://schemas.openxmlformats.org/drawingml/2006/main" w="9525">
              <a:solidFill>
                <a:srgbClr val="CED8E0"/>
              </a:solidFill>
            </a:ln>
          </c:spPr>
        </c:majorGridlines>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Time (seconds)</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171"/>
                </a:solidFill>
                <a:latin typeface="Malgun Gothic"/>
                <a:ea typeface="Malgun Gothic"/>
                <a:cs typeface="Malgun Gothic"/>
              </a:defRPr>
            </a:pPr>
          </a:p>
        </c:txPr>
        <c:crossAx val="48650112"/>
        <c:crossBetween val="between"/>
        <c:majorUnit val="0.5"/>
      </c:valAx>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36171"/>
              </a:solidFill>
              <a:latin typeface="Malgun Gothic"/>
              <a:ea typeface="Malgun Gothic"/>
              <a:cs typeface="Malgun Gothic"/>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AE6F8E0-01A9-4A7F-B7AD-00F142B47EE3}"/>
              </a:ext>
            </a:extLst>
          </p:cNvPr>
          <p:cNvSpPr>
            <a:spLocks xmlns:a="http://schemas.openxmlformats.org/drawingml/2006/main" noGrp="1"/>
          </p:cNvSpPr>
          <p:nvPr/>
        </p:nvSpPr>
        <p:spPr>
          <a:xfrm xmlns:a="http://schemas.openxmlformats.org/drawingml/2006/main">
            <a:off x="685800" y="1028700"/>
            <a:ext cx="61912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122536"/>
                </a:solidFill>
                <a:latin typeface="Malgun Gothic"/>
                <a:ea typeface="Malgun Gothic"/>
                <a:cs typeface="Malgun Gothic"/>
              </a:defRPr>
            </a:pPr>
            <a:r>
              <a:rPr sz="4275" b="1">
                <a:solidFill>
                  <a:srgbClr val="122536"/>
                </a:solidFill>
                <a:latin typeface="Malgun Gothic"/>
                <a:ea typeface="Malgun Gothic"/>
                <a:cs typeface="Malgun Gothic"/>
              </a:rPr>
              <a:t>Predicting aircraft</a:t>
            </a:r>
          </a:p>
          <a:p xmlns:a="http://schemas.openxmlformats.org/drawingml/2006/main">
            <a:pPr>
              <a:defRPr sz="4275" b="1">
                <a:solidFill>
                  <a:srgbClr val="122536"/>
                </a:solidFill>
                <a:latin typeface="Malgun Gothic"/>
                <a:ea typeface="Malgun Gothic"/>
                <a:cs typeface="Malgun Gothic"/>
              </a:defRPr>
            </a:pPr>
            <a:r>
              <a:rPr sz="4275" b="1">
                <a:solidFill>
                  <a:srgbClr val="122536"/>
                </a:solidFill>
                <a:latin typeface="Malgun Gothic"/>
                <a:ea typeface="Malgun Gothic"/>
                <a:cs typeface="Malgun Gothic"/>
              </a:rPr>
              <a:t>engine remaining life</a:t>
            </a:r>
          </a:p>
        </p:txBody>
      </p:sp>
      <p:sp>
        <p:nvSpPr>
          <p:cNvPr id="2" name="">
            <a:extLst xmlns:a="http://schemas.openxmlformats.org/drawingml/2006/main">
              <a:ext uri="{FF2B5EF4-FFF2-40B4-BE49-F238E27FC236}">
                <a16:creationId xmlns:a16="http://schemas.microsoft.com/office/drawing/2014/main" id="{29A20402-3E83-4A70-8557-9D80B0FC8783}"/>
              </a:ext>
            </a:extLst>
          </p:cNvPr>
          <p:cNvSpPr>
            <a:spLocks xmlns:a="http://schemas.openxmlformats.org/drawingml/2006/main" noGrp="1"/>
          </p:cNvSpPr>
          <p:nvPr/>
        </p:nvSpPr>
        <p:spPr>
          <a:xfrm xmlns:a="http://schemas.openxmlformats.org/drawingml/2006/main">
            <a:off x="723900" y="3048000"/>
            <a:ext cx="628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4B67"/>
                </a:solidFill>
                <a:latin typeface="Malgun Gothic"/>
                <a:ea typeface="Malgun Gothic"/>
                <a:cs typeface="Malgun Gothic"/>
              </a:defRPr>
            </a:pPr>
            <a:r>
              <a:rPr sz="2175" b="0">
                <a:solidFill>
                  <a:srgbClr val="234B67"/>
                </a:solidFill>
                <a:latin typeface="Malgun Gothic"/>
                <a:ea typeface="Malgun Gothic"/>
                <a:cs typeface="Malgun Gothic"/>
              </a:rPr>
              <a:t>N-CMAPSS DS02</a:t>
            </a:r>
          </a:p>
          <a:p xmlns:a="http://schemas.openxmlformats.org/drawingml/2006/main">
            <a:pPr>
              <a:defRPr sz="2175" b="0">
                <a:solidFill>
                  <a:srgbClr val="234B67"/>
                </a:solidFill>
                <a:latin typeface="Malgun Gothic"/>
                <a:ea typeface="Malgun Gothic"/>
                <a:cs typeface="Malgun Gothic"/>
              </a:defRPr>
            </a:pPr>
            <a:r>
              <a:rPr sz="2175" b="0">
                <a:solidFill>
                  <a:srgbClr val="234B67"/>
                </a:solidFill>
                <a:latin typeface="Malgun Gothic"/>
                <a:ea typeface="Malgun Gothic"/>
                <a:cs typeface="Malgun Gothic"/>
              </a:rPr>
              <a:t>Remaining flight cycles from observed sensors</a:t>
            </a:r>
          </a:p>
        </p:txBody>
      </p:sp>
      <p:sp>
        <p:nvSpPr>
          <p:cNvPr id="3" name="">
            <a:extLst xmlns:a="http://schemas.openxmlformats.org/drawingml/2006/main">
              <a:ext uri="{FF2B5EF4-FFF2-40B4-BE49-F238E27FC236}">
                <a16:creationId xmlns:a16="http://schemas.microsoft.com/office/drawing/2014/main" id="{260DAE15-9913-4033-85F5-0526956E15A7}"/>
              </a:ext>
            </a:extLst>
          </p:cNvPr>
          <p:cNvSpPr>
            <a:spLocks xmlns:a="http://schemas.openxmlformats.org/drawingml/2006/main" noGrp="1"/>
          </p:cNvSpPr>
          <p:nvPr/>
        </p:nvSpPr>
        <p:spPr>
          <a:xfrm xmlns:a="http://schemas.openxmlformats.org/drawingml/2006/main">
            <a:off x="723900" y="4524375"/>
            <a:ext cx="2143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1">
                <a:solidFill>
                  <a:srgbClr val="087F8C"/>
                </a:solidFill>
                <a:latin typeface="Malgun Gothic"/>
                <a:ea typeface="Malgun Gothic"/>
                <a:cs typeface="Malgun Gothic"/>
              </a:defRPr>
            </a:pPr>
            <a:r>
              <a:rPr sz="5850" b="1">
                <a:solidFill>
                  <a:srgbClr val="087F8C"/>
                </a:solidFill>
                <a:latin typeface="Malgun Gothic"/>
                <a:ea typeface="Malgun Gothic"/>
                <a:cs typeface="Malgun Gothic"/>
              </a:rPr>
              <a:t>5.70</a:t>
            </a:r>
          </a:p>
        </p:txBody>
      </p:sp>
      <p:sp>
        <p:nvSpPr>
          <p:cNvPr id="4" name="">
            <a:extLst xmlns:a="http://schemas.openxmlformats.org/drawingml/2006/main">
              <a:ext uri="{FF2B5EF4-FFF2-40B4-BE49-F238E27FC236}">
                <a16:creationId xmlns:a16="http://schemas.microsoft.com/office/drawing/2014/main" id="{4F7F6680-3129-4739-B7AB-1EA04328E01D}"/>
              </a:ext>
            </a:extLst>
          </p:cNvPr>
          <p:cNvSpPr>
            <a:spLocks xmlns:a="http://schemas.openxmlformats.org/drawingml/2006/main" noGrp="1"/>
          </p:cNvSpPr>
          <p:nvPr/>
        </p:nvSpPr>
        <p:spPr>
          <a:xfrm xmlns:a="http://schemas.openxmlformats.org/drawingml/2006/main">
            <a:off x="3000375" y="4705350"/>
            <a:ext cx="342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2536"/>
                </a:solidFill>
                <a:latin typeface="Malgun Gothic"/>
                <a:ea typeface="Malgun Gothic"/>
                <a:cs typeface="Malgun Gothic"/>
              </a:defRPr>
            </a:pPr>
            <a:r>
              <a:rPr sz="1950" b="0">
                <a:solidFill>
                  <a:srgbClr val="122536"/>
                </a:solidFill>
                <a:latin typeface="Malgun Gothic"/>
                <a:ea typeface="Malgun Gothic"/>
                <a:cs typeface="Malgun Gothic"/>
              </a:rPr>
              <a:t>cycles RMSE</a:t>
            </a:r>
          </a:p>
          <a:p xmlns:a="http://schemas.openxmlformats.org/drawingml/2006/main">
            <a:pPr>
              <a:defRPr sz="1950" b="0">
                <a:solidFill>
                  <a:srgbClr val="122536"/>
                </a:solidFill>
                <a:latin typeface="Malgun Gothic"/>
                <a:ea typeface="Malgun Gothic"/>
                <a:cs typeface="Malgun Gothic"/>
              </a:defRPr>
            </a:pPr>
            <a:r>
              <a:rPr sz="1950" b="0">
                <a:solidFill>
                  <a:srgbClr val="122536"/>
                </a:solidFill>
                <a:latin typeface="Malgun Gothic"/>
                <a:ea typeface="Malgun Gothic"/>
                <a:cs typeface="Malgun Gothic"/>
              </a:rPr>
              <a:t>CNN on reused test data</a:t>
            </a:r>
          </a:p>
        </p:txBody>
      </p:sp>
      <p:sp>
        <p:nvSpPr>
          <p:cNvPr id="5" name="">
            <a:extLst xmlns:a="http://schemas.openxmlformats.org/drawingml/2006/main">
              <a:ext uri="{FF2B5EF4-FFF2-40B4-BE49-F238E27FC236}">
                <a16:creationId xmlns:a16="http://schemas.microsoft.com/office/drawing/2014/main" id="{DABA71DB-A44F-4EB0-9986-FDAF365376FD}"/>
              </a:ext>
            </a:extLst>
          </p:cNvPr>
          <p:cNvSpPr>
            <a:spLocks xmlns:a="http://schemas.openxmlformats.org/drawingml/2006/main" noGrp="1"/>
          </p:cNvSpPr>
          <p:nvPr/>
        </p:nvSpPr>
        <p:spPr>
          <a:xfrm xmlns:a="http://schemas.openxmlformats.org/drawingml/2006/main">
            <a:off x="7762875" y="990600"/>
            <a:ext cx="3286125" cy="809625"/>
          </a:xfrm>
          <a:prstGeom xmlns:a="http://schemas.openxmlformats.org/drawingml/2006/main" prst="rect">
            <a:avLst/>
          </a:prstGeom>
          <a:solidFill xmlns:a="http://schemas.openxmlformats.org/drawingml/2006/main">
            <a:srgbClr val="EEF3F6"/>
          </a:solidFill>
          <a:ln xmlns:a="http://schemas.openxmlformats.org/drawingml/2006/main" w="13335">
            <a:solidFill>
              <a:srgbClr val="CED8E0"/>
            </a:solidFill>
          </a:ln>
        </p:spPr>
        <p:txBody>
          <a:bodyPr xmlns:a="http://schemas.openxmlformats.org/drawingml/2006/main" lIns="85725" tIns="66675" rIns="85725" bIns="66675" anchor="ctr">
            <a:noAutofit/>
          </a:bodyPr>
          <a:lstStyle xmlns:a="http://schemas.openxmlformats.org/drawingml/2006/main"/>
          <a:p xmlns:a="http://schemas.openxmlformats.org/drawingml/2006/main">
            <a:pPr algn="ctr">
              <a:defRPr sz="1875" b="0">
                <a:solidFill>
                  <a:srgbClr val="122536"/>
                </a:solidFill>
                <a:latin typeface="Malgun Gothic"/>
                <a:ea typeface="Malgun Gothic"/>
                <a:cs typeface="Malgun Gothic"/>
              </a:defRPr>
            </a:pPr>
            <a:r>
              <a:rPr sz="1875" b="0">
                <a:solidFill>
                  <a:srgbClr val="122536"/>
                </a:solidFill>
                <a:latin typeface="Malgun Gothic"/>
                <a:ea typeface="Malgun Gothic"/>
                <a:cs typeface="Malgun Gothic"/>
              </a:rPr>
              <a:t>HDF5</a:t>
            </a:r>
          </a:p>
          <a:p xmlns:a="http://schemas.openxmlformats.org/drawingml/2006/main">
            <a:pPr algn="ctr">
              <a:defRPr sz="1875" b="0">
                <a:solidFill>
                  <a:srgbClr val="122536"/>
                </a:solidFill>
                <a:latin typeface="Malgun Gothic"/>
                <a:ea typeface="Malgun Gothic"/>
                <a:cs typeface="Malgun Gothic"/>
              </a:defRPr>
            </a:pPr>
            <a:r>
              <a:rPr sz="1875" b="0">
                <a:solidFill>
                  <a:srgbClr val="122536"/>
                </a:solidFill>
                <a:latin typeface="Malgun Gothic"/>
                <a:ea typeface="Malgun Gothic"/>
                <a:cs typeface="Malgun Gothic"/>
              </a:rPr>
              <a:t>6.5M time points</a:t>
            </a:r>
          </a:p>
        </p:txBody>
      </p:sp>
      <p:sp>
        <p:nvSpPr>
          <p:cNvPr id="6" name="">
            <a:extLst xmlns:a="http://schemas.openxmlformats.org/drawingml/2006/main">
              <a:ext uri="{FF2B5EF4-FFF2-40B4-BE49-F238E27FC236}">
                <a16:creationId xmlns:a16="http://schemas.microsoft.com/office/drawing/2014/main" id="{D1E22105-6D5F-4118-9340-93F9C30909C5}"/>
              </a:ext>
            </a:extLst>
          </p:cNvPr>
          <p:cNvSpPr>
            <a:spLocks xmlns:a="http://schemas.openxmlformats.org/drawingml/2006/main" noGrp="1"/>
          </p:cNvSpPr>
          <p:nvPr/>
        </p:nvSpPr>
        <p:spPr>
          <a:xfrm xmlns:a="http://schemas.openxmlformats.org/drawingml/2006/main">
            <a:off x="7762875" y="2295525"/>
            <a:ext cx="3286125" cy="809625"/>
          </a:xfrm>
          <a:prstGeom xmlns:a="http://schemas.openxmlformats.org/drawingml/2006/main" prst="rect">
            <a:avLst/>
          </a:prstGeom>
          <a:solidFill xmlns:a="http://schemas.openxmlformats.org/drawingml/2006/main">
            <a:srgbClr val="E6F3F3"/>
          </a:solidFill>
          <a:ln xmlns:a="http://schemas.openxmlformats.org/drawingml/2006/main" w="13335">
            <a:solidFill>
              <a:srgbClr val="CED8E0"/>
            </a:solidFill>
          </a:ln>
        </p:spPr>
        <p:txBody>
          <a:bodyPr xmlns:a="http://schemas.openxmlformats.org/drawingml/2006/main" lIns="85725" tIns="66675" rIns="85725" bIns="66675" anchor="ctr">
            <a:noAutofit/>
          </a:bodyPr>
          <a:lstStyle xmlns:a="http://schemas.openxmlformats.org/drawingml/2006/main"/>
          <a:p xmlns:a="http://schemas.openxmlformats.org/drawingml/2006/main">
            <a:pPr algn="ctr">
              <a:defRPr sz="1875" b="0">
                <a:solidFill>
                  <a:srgbClr val="122536"/>
                </a:solidFill>
                <a:latin typeface="Malgun Gothic"/>
                <a:ea typeface="Malgun Gothic"/>
                <a:cs typeface="Malgun Gothic"/>
              </a:defRPr>
            </a:pPr>
            <a:r>
              <a:rPr sz="1875" b="0">
                <a:solidFill>
                  <a:srgbClr val="122536"/>
                </a:solidFill>
                <a:latin typeface="Malgun Gothic"/>
                <a:ea typeface="Malgun Gothic"/>
                <a:cs typeface="Malgun Gothic"/>
              </a:rPr>
              <a:t>18 observable channels</a:t>
            </a:r>
          </a:p>
          <a:p xmlns:a="http://schemas.openxmlformats.org/drawingml/2006/main">
            <a:pPr algn="ctr">
              <a:defRPr sz="1875" b="0">
                <a:solidFill>
                  <a:srgbClr val="122536"/>
                </a:solidFill>
                <a:latin typeface="Malgun Gothic"/>
                <a:ea typeface="Malgun Gothic"/>
                <a:cs typeface="Malgun Gothic"/>
              </a:defRPr>
            </a:pPr>
            <a:r>
              <a:rPr sz="1875" b="0">
                <a:solidFill>
                  <a:srgbClr val="122536"/>
                </a:solidFill>
                <a:latin typeface="Malgun Gothic"/>
                <a:ea typeface="Malgun Gothic"/>
                <a:cs typeface="Malgun Gothic"/>
              </a:rPr>
              <a:t>60-sample windows</a:t>
            </a:r>
          </a:p>
        </p:txBody>
      </p:sp>
      <p:sp>
        <p:nvSpPr>
          <p:cNvPr id="7" name="">
            <a:extLst xmlns:a="http://schemas.openxmlformats.org/drawingml/2006/main">
              <a:ext uri="{FF2B5EF4-FFF2-40B4-BE49-F238E27FC236}">
                <a16:creationId xmlns:a16="http://schemas.microsoft.com/office/drawing/2014/main" id="{0BABD3CF-8D8C-49EB-9895-92223F4154DC}"/>
              </a:ext>
            </a:extLst>
          </p:cNvPr>
          <p:cNvSpPr>
            <a:spLocks xmlns:a="http://schemas.openxmlformats.org/drawingml/2006/main" noGrp="1"/>
          </p:cNvSpPr>
          <p:nvPr/>
        </p:nvSpPr>
        <p:spPr>
          <a:xfrm xmlns:a="http://schemas.openxmlformats.org/drawingml/2006/main">
            <a:off x="7762875" y="3600450"/>
            <a:ext cx="3286125" cy="857250"/>
          </a:xfrm>
          <a:prstGeom xmlns:a="http://schemas.openxmlformats.org/drawingml/2006/main" prst="rect">
            <a:avLst/>
          </a:prstGeom>
          <a:solidFill xmlns:a="http://schemas.openxmlformats.org/drawingml/2006/main">
            <a:srgbClr val="E6F3F3"/>
          </a:solidFill>
          <a:ln xmlns:a="http://schemas.openxmlformats.org/drawingml/2006/main" w="13335">
            <a:solidFill>
              <a:srgbClr val="CED8E0"/>
            </a:solidFill>
          </a:ln>
        </p:spPr>
        <p:txBody>
          <a:bodyPr xmlns:a="http://schemas.openxmlformats.org/drawingml/2006/main" lIns="85725" tIns="66675" rIns="85725" bIns="66675" anchor="ctr">
            <a:noAutofit/>
          </a:bodyPr>
          <a:lstStyle xmlns:a="http://schemas.openxmlformats.org/drawingml/2006/main"/>
          <a:p xmlns:a="http://schemas.openxmlformats.org/drawingml/2006/main">
            <a:pPr algn="ctr">
              <a:defRPr sz="1800" b="0">
                <a:solidFill>
                  <a:srgbClr val="122536"/>
                </a:solidFill>
                <a:latin typeface="Malgun Gothic"/>
                <a:ea typeface="Malgun Gothic"/>
                <a:cs typeface="Malgun Gothic"/>
              </a:defRPr>
            </a:pPr>
            <a:r>
              <a:rPr sz="1800" b="0">
                <a:solidFill>
                  <a:srgbClr val="122536"/>
                </a:solidFill>
                <a:latin typeface="Malgun Gothic"/>
                <a:ea typeface="Malgun Gothic"/>
                <a:cs typeface="Malgun Gothic"/>
              </a:rPr>
              <a:t>Small 1D CNN</a:t>
            </a:r>
          </a:p>
          <a:p xmlns:a="http://schemas.openxmlformats.org/drawingml/2006/main">
            <a:pPr algn="ctr">
              <a:defRPr sz="1800" b="0">
                <a:solidFill>
                  <a:srgbClr val="122536"/>
                </a:solidFill>
                <a:latin typeface="Malgun Gothic"/>
                <a:ea typeface="Malgun Gothic"/>
                <a:cs typeface="Malgun Gothic"/>
              </a:defRPr>
            </a:pPr>
            <a:r>
              <a:rPr sz="1800" b="0">
                <a:solidFill>
                  <a:srgbClr val="122536"/>
                </a:solidFill>
                <a:latin typeface="Malgun Gothic"/>
                <a:ea typeface="Malgun Gothic"/>
                <a:cs typeface="Malgun Gothic"/>
              </a:rPr>
              <a:t>Selected by development CV</a:t>
            </a:r>
          </a:p>
        </p:txBody>
      </p:sp>
      <p:sp>
        <p:nvSpPr>
          <p:cNvPr id="8" name="">
            <a:extLst xmlns:a="http://schemas.openxmlformats.org/drawingml/2006/main">
              <a:ext uri="{FF2B5EF4-FFF2-40B4-BE49-F238E27FC236}">
                <a16:creationId xmlns:a16="http://schemas.microsoft.com/office/drawing/2014/main" id="{47A8A507-470C-4E4F-8BBB-BA6B8C808CFC}"/>
              </a:ext>
            </a:extLst>
          </p:cNvPr>
          <p:cNvSpPr>
            <a:spLocks xmlns:a="http://schemas.openxmlformats.org/drawingml/2006/main" noGrp="1"/>
          </p:cNvSpPr>
          <p:nvPr/>
        </p:nvSpPr>
        <p:spPr>
          <a:xfrm xmlns:a="http://schemas.openxmlformats.org/drawingml/2006/main">
            <a:off x="7762875" y="4953000"/>
            <a:ext cx="3286125" cy="714375"/>
          </a:xfrm>
          <a:prstGeom xmlns:a="http://schemas.openxmlformats.org/drawingml/2006/main" prst="rect">
            <a:avLst/>
          </a:prstGeom>
          <a:solidFill xmlns:a="http://schemas.openxmlformats.org/drawingml/2006/main">
            <a:srgbClr val="FDF0E6"/>
          </a:solidFill>
          <a:ln xmlns:a="http://schemas.openxmlformats.org/drawingml/2006/main" w="13335">
            <a:solidFill>
              <a:srgbClr val="CED8E0"/>
            </a:solidFill>
          </a:ln>
        </p:spPr>
        <p:txBody>
          <a:bodyPr xmlns:a="http://schemas.openxmlformats.org/drawingml/2006/main" lIns="85725" tIns="66675" rIns="85725" bIns="66675" anchor="ctr">
            <a:noAutofit/>
          </a:bodyPr>
          <a:lstStyle xmlns:a="http://schemas.openxmlformats.org/drawingml/2006/main"/>
          <a:p xmlns:a="http://schemas.openxmlformats.org/drawingml/2006/main">
            <a:pPr algn="ctr">
              <a:defRPr sz="2025" b="0">
                <a:solidFill>
                  <a:srgbClr val="122536"/>
                </a:solidFill>
                <a:latin typeface="Malgun Gothic"/>
                <a:ea typeface="Malgun Gothic"/>
                <a:cs typeface="Malgun Gothic"/>
              </a:defRPr>
            </a:pPr>
            <a:r>
              <a:rPr sz="2025" b="0">
                <a:solidFill>
                  <a:srgbClr val="122536"/>
                </a:solidFill>
                <a:latin typeface="Malgun Gothic"/>
                <a:ea typeface="Malgun Gothic"/>
                <a:cs typeface="Malgun Gothic"/>
              </a:rPr>
              <a:t>RUL for each flight</a:t>
            </a:r>
          </a:p>
        </p:txBody>
      </p:sp>
      <p:cxnSp>
        <p:nvCxnSpPr>
          <p:cNvPr id="21" name=""/>
          <p:cNvCxnSpPr>
            <a:stCxn xmlns:a="http://schemas.openxmlformats.org/drawingml/2006/main" id="5" idx="2"/>
            <a:endCxn xmlns:a="http://schemas.openxmlformats.org/drawingml/2006/main" id="6" idx="0"/>
          </p:cNvCxnSpPr>
          <p:nvPr/>
        </p:nvCxnSpPr>
        <p:spPr>
          <a:xfrm xmlns:a="http://schemas.openxmlformats.org/drawingml/2006/main">
            <a:off x="9405938" y="1800225"/>
            <a:ext cx="0" cy="495300"/>
          </a:xfrm>
          <a:prstGeom xmlns:a="http://schemas.openxmlformats.org/drawingml/2006/main" prst="straightConnector1">
            <a:avLst/>
          </a:prstGeom>
          <a:ln xmlns:a="http://schemas.openxmlformats.org/drawingml/2006/main" w="19050">
            <a:solidFill>
              <a:srgbClr val="234B67"/>
            </a:solidFill>
            <a:tailEnd type="triangle" w="sm" len="sm"/>
          </a:ln>
        </p:spPr>
      </p:cxnSp>
      <p:cxnSp>
        <p:nvCxnSpPr>
          <p:cNvPr id="22" name=""/>
          <p:cNvCxnSpPr>
            <a:stCxn xmlns:a="http://schemas.openxmlformats.org/drawingml/2006/main" id="6" idx="2"/>
            <a:endCxn xmlns:a="http://schemas.openxmlformats.org/drawingml/2006/main" id="7" idx="0"/>
          </p:cNvCxnSpPr>
          <p:nvPr/>
        </p:nvCxnSpPr>
        <p:spPr>
          <a:xfrm xmlns:a="http://schemas.openxmlformats.org/drawingml/2006/main">
            <a:off x="9405938" y="3105150"/>
            <a:ext cx="0" cy="495300"/>
          </a:xfrm>
          <a:prstGeom xmlns:a="http://schemas.openxmlformats.org/drawingml/2006/main" prst="straightConnector1">
            <a:avLst/>
          </a:prstGeom>
          <a:ln xmlns:a="http://schemas.openxmlformats.org/drawingml/2006/main" w="19050">
            <a:solidFill>
              <a:srgbClr val="234B67"/>
            </a:solidFill>
            <a:tailEnd type="triangle" w="sm" len="sm"/>
          </a:ln>
        </p:spPr>
      </p:cxnSp>
      <p:cxnSp>
        <p:nvCxnSpPr>
          <p:cNvPr id="23" name=""/>
          <p:cNvCxnSpPr>
            <a:stCxn xmlns:a="http://schemas.openxmlformats.org/drawingml/2006/main" id="7" idx="2"/>
            <a:endCxn xmlns:a="http://schemas.openxmlformats.org/drawingml/2006/main" id="8" idx="0"/>
          </p:cNvCxnSpPr>
          <p:nvPr/>
        </p:nvCxnSpPr>
        <p:spPr>
          <a:xfrm xmlns:a="http://schemas.openxmlformats.org/drawingml/2006/main">
            <a:off x="9405938" y="4457700"/>
            <a:ext cx="0" cy="495300"/>
          </a:xfrm>
          <a:prstGeom xmlns:a="http://schemas.openxmlformats.org/drawingml/2006/main" prst="straightConnector1">
            <a:avLst/>
          </a:prstGeom>
          <a:ln xmlns:a="http://schemas.openxmlformats.org/drawingml/2006/main" w="19050">
            <a:solidFill>
              <a:srgbClr val="234B67"/>
            </a:solidFill>
            <a:tailEnd type="triangle" w="sm" len="sm"/>
          </a:ln>
        </p:spPr>
      </p:cxnSp>
      <p:sp>
        <p:nvSpPr>
          <p:cNvPr id="12" name="">
            <a:extLst xmlns:a="http://schemas.openxmlformats.org/drawingml/2006/main">
              <a:ext uri="{FF2B5EF4-FFF2-40B4-BE49-F238E27FC236}">
                <a16:creationId xmlns:a16="http://schemas.microsoft.com/office/drawing/2014/main" id="{E6CA5D73-0702-4110-A9F7-318383000618}"/>
              </a:ext>
            </a:extLst>
          </p:cNvPr>
          <p:cNvSpPr>
            <a:spLocks xmlns:a="http://schemas.openxmlformats.org/drawingml/2006/main" noGrp="1"/>
          </p:cNvSpPr>
          <p:nvPr/>
        </p:nvSpPr>
        <p:spPr>
          <a:xfrm xmlns:a="http://schemas.openxmlformats.org/drawingml/2006/main">
            <a:off x="723900" y="5905500"/>
            <a:ext cx="619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171"/>
                </a:solidFill>
                <a:latin typeface="Malgun Gothic"/>
                <a:ea typeface="Malgun Gothic"/>
                <a:cs typeface="Malgun Gothic"/>
              </a:defRPr>
            </a:pPr>
            <a:r>
              <a:rPr sz="1650" b="0">
                <a:solidFill>
                  <a:srgbClr val="536171"/>
                </a:solidFill>
                <a:latin typeface="Malgun Gothic"/>
                <a:ea typeface="Malgun Gothic"/>
                <a:cs typeface="Malgun Gothic"/>
              </a:rPr>
              <a:t>김성현  2021271250</a:t>
            </a:r>
          </a:p>
          <a:p xmlns:a="http://schemas.openxmlformats.org/drawingml/2006/main">
            <a:pPr>
              <a:defRPr sz="1650" b="0">
                <a:solidFill>
                  <a:srgbClr val="536171"/>
                </a:solidFill>
                <a:latin typeface="Malgun Gothic"/>
                <a:ea typeface="Malgun Gothic"/>
                <a:cs typeface="Malgun Gothic"/>
              </a:defRPr>
            </a:pPr>
            <a:r>
              <a:rPr sz="1650" b="0">
                <a:solidFill>
                  <a:srgbClr val="536171"/>
                </a:solidFill>
                <a:latin typeface="Malgun Gothic"/>
                <a:ea typeface="Malgun Gothic"/>
                <a:cs typeface="Malgun Gothic"/>
              </a:rPr>
              <a:t>DCCS 410  2026-10-02</a:t>
            </a:r>
          </a:p>
        </p:txBody>
      </p:sp>
    </p:spTree>
    <p:extLst>
      <p:ext uri="{BB962C8B-B14F-4D97-AF65-F5344CB8AC3E}">
        <p14:creationId xmlns:p14="http://schemas.microsoft.com/office/powerpoint/2010/main" val="39801965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CE82A74-DC2D-4387-8B73-B89977D7866E}"/>
              </a:ext>
            </a:extLst>
          </p:cNvPr>
          <p:cNvSpPr>
            <a:spLocks xmlns:a="http://schemas.openxmlformats.org/drawingml/2006/main" noGrp="1"/>
          </p:cNvSpPr>
          <p:nvPr/>
        </p:nvSpPr>
        <p:spPr>
          <a:xfrm xmlns:a="http://schemas.openxmlformats.org/drawingml/2006/main">
            <a:off x="685800" y="428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536"/>
                </a:solidFill>
                <a:latin typeface="Malgun Gothic"/>
                <a:ea typeface="Malgun Gothic"/>
                <a:cs typeface="Malgun Gothic"/>
              </a:defRPr>
            </a:pPr>
            <a:r>
              <a:rPr sz="3300" b="1">
                <a:solidFill>
                  <a:srgbClr val="122536"/>
                </a:solidFill>
                <a:latin typeface="Malgun Gothic"/>
                <a:ea typeface="Malgun Gothic"/>
                <a:cs typeface="Malgun Gothic"/>
              </a:rPr>
              <a:t>Sensor windows and validation by engine</a:t>
            </a:r>
          </a:p>
        </p:txBody>
      </p:sp>
      <p:sp>
        <p:nvSpPr>
          <p:cNvPr id="2" name="">
            <a:extLst xmlns:a="http://schemas.openxmlformats.org/drawingml/2006/main">
              <a:ext uri="{FF2B5EF4-FFF2-40B4-BE49-F238E27FC236}">
                <a16:creationId xmlns:a16="http://schemas.microsoft.com/office/drawing/2014/main" id="{A4FFF0C7-A91B-4754-9B4B-F9A71768D5F3}"/>
              </a:ext>
            </a:extLst>
          </p:cNvPr>
          <p:cNvSpPr>
            <a:spLocks xmlns:a="http://schemas.openxmlformats.org/drawingml/2006/main" noGrp="1"/>
          </p:cNvSpPr>
          <p:nvPr/>
        </p:nvSpPr>
        <p:spPr>
          <a:xfrm xmlns:a="http://schemas.openxmlformats.org/drawingml/2006/main">
            <a:off x="685800" y="6391275"/>
            <a:ext cx="952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171"/>
                </a:solidFill>
                <a:latin typeface="Malgun Gothic"/>
                <a:ea typeface="Malgun Gothic"/>
                <a:cs typeface="Malgun Gothic"/>
              </a:defRPr>
            </a:pPr>
            <a:r>
              <a:rPr sz="1200" b="0">
                <a:solidFill>
                  <a:srgbClr val="536171"/>
                </a:solidFill>
                <a:latin typeface="Malgun Gothic"/>
                <a:ea typeface="Malgun Gothic"/>
                <a:cs typeface="Malgun Gothic"/>
              </a:rPr>
              <a:t>DCCS 410  김성현  2021271250</a:t>
            </a:r>
          </a:p>
        </p:txBody>
      </p:sp>
      <p:sp>
        <p:nvSpPr>
          <p:cNvPr id="3" name="">
            <a:extLst xmlns:a="http://schemas.openxmlformats.org/drawingml/2006/main">
              <a:ext uri="{FF2B5EF4-FFF2-40B4-BE49-F238E27FC236}">
                <a16:creationId xmlns:a16="http://schemas.microsoft.com/office/drawing/2014/main" id="{EEB45218-7731-4E0B-8C6E-1923F51F1196}"/>
              </a:ext>
            </a:extLst>
          </p:cNvPr>
          <p:cNvSpPr>
            <a:spLocks xmlns:a="http://schemas.openxmlformats.org/drawingml/2006/main" noGrp="1"/>
          </p:cNvSpPr>
          <p:nvPr/>
        </p:nvSpPr>
        <p:spPr>
          <a:xfrm xmlns:a="http://schemas.openxmlformats.org/drawingml/2006/main">
            <a:off x="11049000" y="63912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171"/>
                </a:solidFill>
                <a:latin typeface="Malgun Gothic"/>
                <a:ea typeface="Malgun Gothic"/>
                <a:cs typeface="Malgun Gothic"/>
              </a:defRPr>
            </a:pPr>
            <a:r>
              <a:rPr sz="1200" b="0">
                <a:solidFill>
                  <a:srgbClr val="536171"/>
                </a:solidFill>
                <a:latin typeface="Malgun Gothic"/>
                <a:ea typeface="Malgun Gothic"/>
                <a:cs typeface="Malgun Gothic"/>
              </a:rPr>
              <a:t>02</a:t>
            </a:r>
          </a:p>
        </p:txBody>
      </p:sp>
      <p:sp>
        <p:nvSpPr>
          <p:cNvPr id="4" name="">
            <a:extLst xmlns:a="http://schemas.openxmlformats.org/drawingml/2006/main">
              <a:ext uri="{FF2B5EF4-FFF2-40B4-BE49-F238E27FC236}">
                <a16:creationId xmlns:a16="http://schemas.microsoft.com/office/drawing/2014/main" id="{6F658F0E-2ED3-42FB-8BF7-A6E7556AB827}"/>
              </a:ext>
            </a:extLst>
          </p:cNvPr>
          <p:cNvSpPr>
            <a:spLocks xmlns:a="http://schemas.openxmlformats.org/drawingml/2006/main" noGrp="1"/>
          </p:cNvSpPr>
          <p:nvPr/>
        </p:nvSpPr>
        <p:spPr>
          <a:xfrm xmlns:a="http://schemas.openxmlformats.org/drawingml/2006/main">
            <a:off x="723900" y="1362075"/>
            <a:ext cx="676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8C"/>
                </a:solidFill>
                <a:latin typeface="Malgun Gothic"/>
                <a:ea typeface="Malgun Gothic"/>
                <a:cs typeface="Malgun Gothic"/>
              </a:defRPr>
            </a:pPr>
            <a:r>
              <a:rPr sz="2250" b="1">
                <a:solidFill>
                  <a:srgbClr val="087F8C"/>
                </a:solidFill>
                <a:latin typeface="Malgun Gothic"/>
                <a:ea typeface="Malgun Gothic"/>
                <a:cs typeface="Malgun Gothic"/>
              </a:rPr>
              <a:t>60 samples at a time within one flight</a:t>
            </a:r>
          </a:p>
        </p:txBody>
      </p:sp>
      <p:graphicFrame>
        <p:nvGraphicFramePr>
          <p:cNvPr id="15" name="Chart"/>
          <p:cNvGraphicFramePr/>
          <p:nvPr/>
        </p:nvGraphicFramePr>
        <p:xfrm>
          <a:off xmlns:a="http://schemas.openxmlformats.org/drawingml/2006/main" x="600075" y="2000250"/>
          <a:ext xmlns:a="http://schemas.openxmlformats.org/drawingml/2006/main" cx="6791325" cy="3409950"/>
        </p:xfrm>
        <a:graphic xmlns:a="http://schemas.openxmlformats.org/drawingml/2006/main">
          <a:graphicData uri="http://schemas.openxmlformats.org/drawingml/2006/chart">
            <c:chart xmlns:r="http://schemas.openxmlformats.org/officeDocument/2006/relationships" xmlns:c="http://schemas.openxmlformats.org/drawingml/2006/chart" r:id="Rfabc688782694796"/>
          </a:graphicData>
        </a:graphic>
      </p:graphicFrame>
      <p:sp>
        <p:nvSpPr>
          <p:cNvPr id="6" name="">
            <a:extLst xmlns:a="http://schemas.openxmlformats.org/drawingml/2006/main">
              <a:ext uri="{FF2B5EF4-FFF2-40B4-BE49-F238E27FC236}">
                <a16:creationId xmlns:a16="http://schemas.microsoft.com/office/drawing/2014/main" id="{C67473D4-EE98-490B-B9EC-1D9382AC16DB}"/>
              </a:ext>
            </a:extLst>
          </p:cNvPr>
          <p:cNvSpPr>
            <a:spLocks xmlns:a="http://schemas.openxmlformats.org/drawingml/2006/main" noGrp="1"/>
          </p:cNvSpPr>
          <p:nvPr/>
        </p:nvSpPr>
        <p:spPr>
          <a:xfrm xmlns:a="http://schemas.openxmlformats.org/drawingml/2006/main">
            <a:off x="762000" y="5553075"/>
            <a:ext cx="666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171"/>
                </a:solidFill>
                <a:latin typeface="Malgun Gothic"/>
                <a:ea typeface="Malgun Gothic"/>
                <a:cs typeface="Malgun Gothic"/>
              </a:defRPr>
            </a:pPr>
            <a:r>
              <a:rPr sz="1650" b="0">
                <a:solidFill>
                  <a:srgbClr val="536171"/>
                </a:solidFill>
                <a:latin typeface="Malgun Gothic"/>
                <a:ea typeface="Malgun Gothic"/>
                <a:cs typeface="Malgun Gothic"/>
              </a:rPr>
              <a:t>Actual development engine 2, flight 1</a:t>
            </a:r>
          </a:p>
          <a:p xmlns:a="http://schemas.openxmlformats.org/drawingml/2006/main">
            <a:pPr>
              <a:defRPr sz="1650" b="0">
                <a:solidFill>
                  <a:srgbClr val="536171"/>
                </a:solidFill>
                <a:latin typeface="Malgun Gothic"/>
                <a:ea typeface="Malgun Gothic"/>
                <a:cs typeface="Malgun Gothic"/>
              </a:defRPr>
            </a:pPr>
            <a:r>
              <a:rPr sz="1650" b="0">
                <a:solidFill>
                  <a:srgbClr val="536171"/>
                </a:solidFill>
                <a:latin typeface="Malgun Gothic"/>
                <a:ea typeface="Malgun Gothic"/>
                <a:cs typeface="Malgun Gothic"/>
              </a:rPr>
              <a:t>Standardized for this display only</a:t>
            </a:r>
          </a:p>
        </p:txBody>
      </p:sp>
      <p:sp>
        <p:nvSpPr>
          <p:cNvPr id="7" name="">
            <a:extLst xmlns:a="http://schemas.openxmlformats.org/drawingml/2006/main">
              <a:ext uri="{FF2B5EF4-FFF2-40B4-BE49-F238E27FC236}">
                <a16:creationId xmlns:a16="http://schemas.microsoft.com/office/drawing/2014/main" id="{CBC2C5F8-0001-42C5-982D-6C52CFFFAD7D}"/>
              </a:ext>
            </a:extLst>
          </p:cNvPr>
          <p:cNvSpPr>
            <a:spLocks xmlns:a="http://schemas.openxmlformats.org/drawingml/2006/main" noGrp="1"/>
          </p:cNvSpPr>
          <p:nvPr/>
        </p:nvSpPr>
        <p:spPr>
          <a:xfrm xmlns:a="http://schemas.openxmlformats.org/drawingml/2006/main">
            <a:off x="7762875" y="1533525"/>
            <a:ext cx="3638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4B67"/>
                </a:solidFill>
                <a:latin typeface="Malgun Gothic"/>
                <a:ea typeface="Malgun Gothic"/>
                <a:cs typeface="Malgun Gothic"/>
              </a:defRPr>
            </a:pPr>
            <a:r>
              <a:rPr sz="2175" b="1">
                <a:solidFill>
                  <a:srgbClr val="234B67"/>
                </a:solidFill>
                <a:latin typeface="Malgun Gothic"/>
                <a:ea typeface="Malgun Gothic"/>
                <a:cs typeface="Malgun Gothic"/>
              </a:rPr>
              <a:t>Six development engines</a:t>
            </a:r>
          </a:p>
        </p:txBody>
      </p:sp>
      <p:graphicFrame>
        <p:nvGraphicFramePr>
          <p:cNvPr id="18" name=""/>
          <p:cNvGraphicFramePr/>
          <p:nvPr/>
        </p:nvGraphicFramePr>
        <p:xfrm>
          <a:off xmlns:a="http://schemas.openxmlformats.org/drawingml/2006/main" x="7762875" y="2428875"/>
          <a:ext xmlns:a="http://schemas.openxmlformats.org/drawingml/2006/main" cx="3581400" cy="1857375"/>
        </p:xfrm>
        <a:graphic xmlns:a="http://schemas.openxmlformats.org/drawingml/2006/main">
          <a:graphicData uri="http://schemas.openxmlformats.org/drawingml/2006/table">
            <a:tbl>
              <a:tblPr firstRow="1" bandRow="0"/>
              <a:tblGrid>
                <a:gridCol w="609600"/>
                <a:gridCol w="495300"/>
                <a:gridCol w="495300"/>
                <a:gridCol w="495300"/>
                <a:gridCol w="495300"/>
                <a:gridCol w="495300"/>
                <a:gridCol w="495300"/>
              </a:tblGrid>
              <a:tr h="464344">
                <a:tc>
                  <a:txBody>
                    <a:bodyPr/>
                    <a:lstStyle/>
                    <a:p>
                      <a:r>
                        <a:rPr sz="1575" b="1">
                          <a:solidFill>
                            <a:srgbClr val="122536"/>
                          </a:solidFill>
                          <a:latin typeface="Malgun Gothic"/>
                          <a:ea typeface="Malgun Gothic"/>
                          <a:cs typeface="Malgun Gothic"/>
                        </a:rPr>
                        <a:t>CV</a:t>
                      </a:r>
                    </a:p>
                  </a:txBody>
                  <a:tcPr marL="38100" marR="38100" marT="76200" marB="76200">
                    <a:solidFill>
                      <a:srgbClr val="EEF3F6"/>
                    </a:solidFill>
                  </a:tcPr>
                </a:tc>
                <a:tc>
                  <a:txBody>
                    <a:bodyPr/>
                    <a:lstStyle/>
                    <a:p>
                      <a:r>
                        <a:rPr sz="1575" b="1">
                          <a:solidFill>
                            <a:srgbClr val="122536"/>
                          </a:solidFill>
                          <a:latin typeface="Malgun Gothic"/>
                          <a:ea typeface="Malgun Gothic"/>
                          <a:cs typeface="Malgun Gothic"/>
                        </a:rPr>
                        <a:t>2</a:t>
                      </a:r>
                    </a:p>
                  </a:txBody>
                  <a:tcPr marL="38100" marR="38100" marT="76200" marB="76200">
                    <a:solidFill>
                      <a:srgbClr val="EEF3F6"/>
                    </a:solidFill>
                  </a:tcPr>
                </a:tc>
                <a:tc>
                  <a:txBody>
                    <a:bodyPr/>
                    <a:lstStyle/>
                    <a:p>
                      <a:r>
                        <a:rPr sz="1575" b="1">
                          <a:solidFill>
                            <a:srgbClr val="122536"/>
                          </a:solidFill>
                          <a:latin typeface="Malgun Gothic"/>
                          <a:ea typeface="Malgun Gothic"/>
                          <a:cs typeface="Malgun Gothic"/>
                        </a:rPr>
                        <a:t>5</a:t>
                      </a:r>
                    </a:p>
                  </a:txBody>
                  <a:tcPr marL="38100" marR="38100" marT="76200" marB="76200">
                    <a:solidFill>
                      <a:srgbClr val="EEF3F6"/>
                    </a:solidFill>
                  </a:tcPr>
                </a:tc>
                <a:tc>
                  <a:txBody>
                    <a:bodyPr/>
                    <a:lstStyle/>
                    <a:p>
                      <a:r>
                        <a:rPr sz="1575" b="1">
                          <a:solidFill>
                            <a:srgbClr val="122536"/>
                          </a:solidFill>
                          <a:latin typeface="Malgun Gothic"/>
                          <a:ea typeface="Malgun Gothic"/>
                          <a:cs typeface="Malgun Gothic"/>
                        </a:rPr>
                        <a:t>10</a:t>
                      </a:r>
                    </a:p>
                  </a:txBody>
                  <a:tcPr marL="38100" marR="38100" marT="76200" marB="76200">
                    <a:solidFill>
                      <a:srgbClr val="EEF3F6"/>
                    </a:solidFill>
                  </a:tcPr>
                </a:tc>
                <a:tc>
                  <a:txBody>
                    <a:bodyPr/>
                    <a:lstStyle/>
                    <a:p>
                      <a:r>
                        <a:rPr sz="1575" b="1">
                          <a:solidFill>
                            <a:srgbClr val="122536"/>
                          </a:solidFill>
                          <a:latin typeface="Malgun Gothic"/>
                          <a:ea typeface="Malgun Gothic"/>
                          <a:cs typeface="Malgun Gothic"/>
                        </a:rPr>
                        <a:t>16</a:t>
                      </a:r>
                    </a:p>
                  </a:txBody>
                  <a:tcPr marL="38100" marR="38100" marT="76200" marB="76200">
                    <a:solidFill>
                      <a:srgbClr val="EEF3F6"/>
                    </a:solidFill>
                  </a:tcPr>
                </a:tc>
                <a:tc>
                  <a:txBody>
                    <a:bodyPr/>
                    <a:lstStyle/>
                    <a:p>
                      <a:r>
                        <a:rPr sz="1575" b="1">
                          <a:solidFill>
                            <a:srgbClr val="122536"/>
                          </a:solidFill>
                          <a:latin typeface="Malgun Gothic"/>
                          <a:ea typeface="Malgun Gothic"/>
                          <a:cs typeface="Malgun Gothic"/>
                        </a:rPr>
                        <a:t>18</a:t>
                      </a:r>
                    </a:p>
                  </a:txBody>
                  <a:tcPr marL="38100" marR="38100" marT="76200" marB="76200">
                    <a:solidFill>
                      <a:srgbClr val="EEF3F6"/>
                    </a:solidFill>
                  </a:tcPr>
                </a:tc>
                <a:tc>
                  <a:txBody>
                    <a:bodyPr/>
                    <a:lstStyle/>
                    <a:p>
                      <a:r>
                        <a:rPr sz="1575" b="1">
                          <a:solidFill>
                            <a:srgbClr val="122536"/>
                          </a:solidFill>
                          <a:latin typeface="Malgun Gothic"/>
                          <a:ea typeface="Malgun Gothic"/>
                          <a:cs typeface="Malgun Gothic"/>
                        </a:rPr>
                        <a:t>20</a:t>
                      </a:r>
                    </a:p>
                  </a:txBody>
                  <a:tcPr marL="38100" marR="38100" marT="76200" marB="76200">
                    <a:solidFill>
                      <a:srgbClr val="EEF3F6"/>
                    </a:solidFill>
                  </a:tcPr>
                </a:tc>
              </a:tr>
              <a:tr h="464344">
                <a:tc>
                  <a:txBody>
                    <a:bodyPr/>
                    <a:lstStyle/>
                    <a:p>
                      <a:r>
                        <a:rPr sz="1575">
                          <a:solidFill>
                            <a:srgbClr val="122536"/>
                          </a:solidFill>
                          <a:latin typeface="Malgun Gothic"/>
                          <a:ea typeface="Malgun Gothic"/>
                          <a:cs typeface="Malgun Gothic"/>
                        </a:rPr>
                        <a:t>1</a:t>
                      </a:r>
                    </a:p>
                  </a:txBody>
                  <a:tcPr marL="38100" marR="38100" marT="76200" marB="76200">
                    <a:solidFill>
                      <a:srgbClr val="FFFFFF"/>
                    </a:solidFill>
                  </a:tcPr>
                </a:tc>
                <a:tc>
                  <a:txBody>
                    <a:bodyPr/>
                    <a:lstStyle/>
                    <a:p>
                      <a:pPr algn="ctr"/>
                      <a:r>
                        <a:rPr sz="1575" b="0">
                          <a:solidFill>
                            <a:srgbClr val="536171"/>
                          </a:solidFill>
                          <a:latin typeface="Malgun Gothic"/>
                          <a:ea typeface="Malgun Gothic"/>
                          <a:cs typeface="Malgun Gothic"/>
                        </a:rPr>
                        <a:t>T</a:t>
                      </a:r>
                    </a:p>
                  </a:txBody>
                  <a:tcPr marL="38100" marR="38100" marT="76200" marB="76200">
                    <a:solidFill>
                      <a:srgbClr val="F2F5F7"/>
                    </a:solidFill>
                  </a:tcPr>
                </a:tc>
                <a:tc>
                  <a:txBody>
                    <a:bodyPr/>
                    <a:lstStyle/>
                    <a:p>
                      <a:pPr algn="ctr"/>
                      <a:r>
                        <a:rPr sz="1575" b="1">
                          <a:solidFill>
                            <a:srgbClr val="FFFFFF"/>
                          </a:solidFill>
                          <a:latin typeface="Malgun Gothic"/>
                          <a:ea typeface="Malgun Gothic"/>
                          <a:cs typeface="Malgun Gothic"/>
                        </a:rPr>
                        <a:t>V</a:t>
                      </a:r>
                    </a:p>
                  </a:txBody>
                  <a:tcPr marL="38100" marR="38100" marT="76200" marB="76200">
                    <a:solidFill>
                      <a:srgbClr val="087F8C"/>
                    </a:solidFill>
                  </a:tcPr>
                </a:tc>
                <a:tc>
                  <a:txBody>
                    <a:bodyPr/>
                    <a:lstStyle/>
                    <a:p>
                      <a:pPr algn="ctr"/>
                      <a:r>
                        <a:rPr sz="1575" b="0">
                          <a:solidFill>
                            <a:srgbClr val="536171"/>
                          </a:solidFill>
                          <a:latin typeface="Malgun Gothic"/>
                          <a:ea typeface="Malgun Gothic"/>
                          <a:cs typeface="Malgun Gothic"/>
                        </a:rPr>
                        <a:t>T</a:t>
                      </a:r>
                    </a:p>
                  </a:txBody>
                  <a:tcPr marL="38100" marR="38100" marT="76200" marB="76200">
                    <a:solidFill>
                      <a:srgbClr val="F2F5F7"/>
                    </a:solidFill>
                  </a:tcPr>
                </a:tc>
                <a:tc>
                  <a:txBody>
                    <a:bodyPr/>
                    <a:lstStyle/>
                    <a:p>
                      <a:pPr algn="ctr"/>
                      <a:r>
                        <a:rPr sz="1575" b="1">
                          <a:solidFill>
                            <a:srgbClr val="FFFFFF"/>
                          </a:solidFill>
                          <a:latin typeface="Malgun Gothic"/>
                          <a:ea typeface="Malgun Gothic"/>
                          <a:cs typeface="Malgun Gothic"/>
                        </a:rPr>
                        <a:t>V</a:t>
                      </a:r>
                    </a:p>
                  </a:txBody>
                  <a:tcPr marL="38100" marR="38100" marT="76200" marB="76200">
                    <a:solidFill>
                      <a:srgbClr val="087F8C"/>
                    </a:solidFill>
                  </a:tcPr>
                </a:tc>
                <a:tc>
                  <a:txBody>
                    <a:bodyPr/>
                    <a:lstStyle/>
                    <a:p>
                      <a:pPr algn="ctr"/>
                      <a:r>
                        <a:rPr sz="1575" b="0">
                          <a:solidFill>
                            <a:srgbClr val="536171"/>
                          </a:solidFill>
                          <a:latin typeface="Malgun Gothic"/>
                          <a:ea typeface="Malgun Gothic"/>
                          <a:cs typeface="Malgun Gothic"/>
                        </a:rPr>
                        <a:t>T</a:t>
                      </a:r>
                    </a:p>
                  </a:txBody>
                  <a:tcPr marL="38100" marR="38100" marT="76200" marB="76200">
                    <a:solidFill>
                      <a:srgbClr val="F2F5F7"/>
                    </a:solidFill>
                  </a:tcPr>
                </a:tc>
                <a:tc>
                  <a:txBody>
                    <a:bodyPr/>
                    <a:lstStyle/>
                    <a:p>
                      <a:pPr algn="ctr"/>
                      <a:r>
                        <a:rPr sz="1575" b="0">
                          <a:solidFill>
                            <a:srgbClr val="536171"/>
                          </a:solidFill>
                          <a:latin typeface="Malgun Gothic"/>
                          <a:ea typeface="Malgun Gothic"/>
                          <a:cs typeface="Malgun Gothic"/>
                        </a:rPr>
                        <a:t>T</a:t>
                      </a:r>
                    </a:p>
                  </a:txBody>
                  <a:tcPr marL="38100" marR="38100" marT="76200" marB="76200">
                    <a:solidFill>
                      <a:srgbClr val="F2F5F7"/>
                    </a:solidFill>
                  </a:tcPr>
                </a:tc>
              </a:tr>
              <a:tr h="464344">
                <a:tc>
                  <a:txBody>
                    <a:bodyPr/>
                    <a:lstStyle/>
                    <a:p>
                      <a:r>
                        <a:rPr sz="1575">
                          <a:solidFill>
                            <a:srgbClr val="122536"/>
                          </a:solidFill>
                          <a:latin typeface="Malgun Gothic"/>
                          <a:ea typeface="Malgun Gothic"/>
                          <a:cs typeface="Malgun Gothic"/>
                        </a:rPr>
                        <a:t>2</a:t>
                      </a:r>
                    </a:p>
                  </a:txBody>
                  <a:tcPr marL="38100" marR="38100" marT="76200" marB="76200">
                    <a:solidFill>
                      <a:srgbClr val="FFFFFF"/>
                    </a:solidFill>
                  </a:tcPr>
                </a:tc>
                <a:tc>
                  <a:txBody>
                    <a:bodyPr/>
                    <a:lstStyle/>
                    <a:p>
                      <a:pPr algn="ctr"/>
                      <a:r>
                        <a:rPr sz="1575" b="0">
                          <a:solidFill>
                            <a:srgbClr val="536171"/>
                          </a:solidFill>
                          <a:latin typeface="Malgun Gothic"/>
                          <a:ea typeface="Malgun Gothic"/>
                          <a:cs typeface="Malgun Gothic"/>
                        </a:rPr>
                        <a:t>T</a:t>
                      </a:r>
                    </a:p>
                  </a:txBody>
                  <a:tcPr marL="38100" marR="38100" marT="76200" marB="76200">
                    <a:solidFill>
                      <a:srgbClr val="F2F5F7"/>
                    </a:solidFill>
                  </a:tcPr>
                </a:tc>
                <a:tc>
                  <a:txBody>
                    <a:bodyPr/>
                    <a:lstStyle/>
                    <a:p>
                      <a:pPr algn="ctr"/>
                      <a:r>
                        <a:rPr sz="1575" b="0">
                          <a:solidFill>
                            <a:srgbClr val="536171"/>
                          </a:solidFill>
                          <a:latin typeface="Malgun Gothic"/>
                          <a:ea typeface="Malgun Gothic"/>
                          <a:cs typeface="Malgun Gothic"/>
                        </a:rPr>
                        <a:t>T</a:t>
                      </a:r>
                    </a:p>
                  </a:txBody>
                  <a:tcPr marL="38100" marR="38100" marT="76200" marB="76200">
                    <a:solidFill>
                      <a:srgbClr val="F2F5F7"/>
                    </a:solidFill>
                  </a:tcPr>
                </a:tc>
                <a:tc>
                  <a:txBody>
                    <a:bodyPr/>
                    <a:lstStyle/>
                    <a:p>
                      <a:pPr algn="ctr"/>
                      <a:r>
                        <a:rPr sz="1575" b="1">
                          <a:solidFill>
                            <a:srgbClr val="FFFFFF"/>
                          </a:solidFill>
                          <a:latin typeface="Malgun Gothic"/>
                          <a:ea typeface="Malgun Gothic"/>
                          <a:cs typeface="Malgun Gothic"/>
                        </a:rPr>
                        <a:t>V</a:t>
                      </a:r>
                    </a:p>
                  </a:txBody>
                  <a:tcPr marL="38100" marR="38100" marT="76200" marB="76200">
                    <a:solidFill>
                      <a:srgbClr val="087F8C"/>
                    </a:solidFill>
                  </a:tcPr>
                </a:tc>
                <a:tc>
                  <a:txBody>
                    <a:bodyPr/>
                    <a:lstStyle/>
                    <a:p>
                      <a:pPr algn="ctr"/>
                      <a:r>
                        <a:rPr sz="1575" b="0">
                          <a:solidFill>
                            <a:srgbClr val="536171"/>
                          </a:solidFill>
                          <a:latin typeface="Malgun Gothic"/>
                          <a:ea typeface="Malgun Gothic"/>
                          <a:cs typeface="Malgun Gothic"/>
                        </a:rPr>
                        <a:t>T</a:t>
                      </a:r>
                    </a:p>
                  </a:txBody>
                  <a:tcPr marL="38100" marR="38100" marT="76200" marB="76200">
                    <a:solidFill>
                      <a:srgbClr val="F2F5F7"/>
                    </a:solidFill>
                  </a:tcPr>
                </a:tc>
                <a:tc>
                  <a:txBody>
                    <a:bodyPr/>
                    <a:lstStyle/>
                    <a:p>
                      <a:pPr algn="ctr"/>
                      <a:r>
                        <a:rPr sz="1575" b="0">
                          <a:solidFill>
                            <a:srgbClr val="536171"/>
                          </a:solidFill>
                          <a:latin typeface="Malgun Gothic"/>
                          <a:ea typeface="Malgun Gothic"/>
                          <a:cs typeface="Malgun Gothic"/>
                        </a:rPr>
                        <a:t>T</a:t>
                      </a:r>
                    </a:p>
                  </a:txBody>
                  <a:tcPr marL="38100" marR="38100" marT="76200" marB="76200">
                    <a:solidFill>
                      <a:srgbClr val="F2F5F7"/>
                    </a:solidFill>
                  </a:tcPr>
                </a:tc>
                <a:tc>
                  <a:txBody>
                    <a:bodyPr/>
                    <a:lstStyle/>
                    <a:p>
                      <a:pPr algn="ctr"/>
                      <a:r>
                        <a:rPr sz="1575" b="1">
                          <a:solidFill>
                            <a:srgbClr val="FFFFFF"/>
                          </a:solidFill>
                          <a:latin typeface="Malgun Gothic"/>
                          <a:ea typeface="Malgun Gothic"/>
                          <a:cs typeface="Malgun Gothic"/>
                        </a:rPr>
                        <a:t>V</a:t>
                      </a:r>
                    </a:p>
                  </a:txBody>
                  <a:tcPr marL="38100" marR="38100" marT="76200" marB="76200">
                    <a:solidFill>
                      <a:srgbClr val="087F8C"/>
                    </a:solidFill>
                  </a:tcPr>
                </a:tc>
              </a:tr>
              <a:tr h="464344">
                <a:tc>
                  <a:txBody>
                    <a:bodyPr/>
                    <a:lstStyle/>
                    <a:p>
                      <a:r>
                        <a:rPr sz="1575">
                          <a:solidFill>
                            <a:srgbClr val="122536"/>
                          </a:solidFill>
                          <a:latin typeface="Malgun Gothic"/>
                          <a:ea typeface="Malgun Gothic"/>
                          <a:cs typeface="Malgun Gothic"/>
                        </a:rPr>
                        <a:t>3</a:t>
                      </a:r>
                    </a:p>
                  </a:txBody>
                  <a:tcPr marL="38100" marR="38100" marT="76200" marB="76200">
                    <a:solidFill>
                      <a:srgbClr val="FFFFFF"/>
                    </a:solidFill>
                  </a:tcPr>
                </a:tc>
                <a:tc>
                  <a:txBody>
                    <a:bodyPr/>
                    <a:lstStyle/>
                    <a:p>
                      <a:pPr algn="ctr"/>
                      <a:r>
                        <a:rPr sz="1575" b="1">
                          <a:solidFill>
                            <a:srgbClr val="FFFFFF"/>
                          </a:solidFill>
                          <a:latin typeface="Malgun Gothic"/>
                          <a:ea typeface="Malgun Gothic"/>
                          <a:cs typeface="Malgun Gothic"/>
                        </a:rPr>
                        <a:t>V</a:t>
                      </a:r>
                    </a:p>
                  </a:txBody>
                  <a:tcPr marL="38100" marR="38100" marT="76200" marB="76200">
                    <a:solidFill>
                      <a:srgbClr val="087F8C"/>
                    </a:solidFill>
                  </a:tcPr>
                </a:tc>
                <a:tc>
                  <a:txBody>
                    <a:bodyPr/>
                    <a:lstStyle/>
                    <a:p>
                      <a:pPr algn="ctr"/>
                      <a:r>
                        <a:rPr sz="1575" b="0">
                          <a:solidFill>
                            <a:srgbClr val="536171"/>
                          </a:solidFill>
                          <a:latin typeface="Malgun Gothic"/>
                          <a:ea typeface="Malgun Gothic"/>
                          <a:cs typeface="Malgun Gothic"/>
                        </a:rPr>
                        <a:t>T</a:t>
                      </a:r>
                    </a:p>
                  </a:txBody>
                  <a:tcPr marL="38100" marR="38100" marT="76200" marB="76200">
                    <a:solidFill>
                      <a:srgbClr val="F2F5F7"/>
                    </a:solidFill>
                  </a:tcPr>
                </a:tc>
                <a:tc>
                  <a:txBody>
                    <a:bodyPr/>
                    <a:lstStyle/>
                    <a:p>
                      <a:pPr algn="ctr"/>
                      <a:r>
                        <a:rPr sz="1575" b="0">
                          <a:solidFill>
                            <a:srgbClr val="536171"/>
                          </a:solidFill>
                          <a:latin typeface="Malgun Gothic"/>
                          <a:ea typeface="Malgun Gothic"/>
                          <a:cs typeface="Malgun Gothic"/>
                        </a:rPr>
                        <a:t>T</a:t>
                      </a:r>
                    </a:p>
                  </a:txBody>
                  <a:tcPr marL="38100" marR="38100" marT="76200" marB="76200">
                    <a:solidFill>
                      <a:srgbClr val="F2F5F7"/>
                    </a:solidFill>
                  </a:tcPr>
                </a:tc>
                <a:tc>
                  <a:txBody>
                    <a:bodyPr/>
                    <a:lstStyle/>
                    <a:p>
                      <a:pPr algn="ctr"/>
                      <a:r>
                        <a:rPr sz="1575" b="0">
                          <a:solidFill>
                            <a:srgbClr val="536171"/>
                          </a:solidFill>
                          <a:latin typeface="Malgun Gothic"/>
                          <a:ea typeface="Malgun Gothic"/>
                          <a:cs typeface="Malgun Gothic"/>
                        </a:rPr>
                        <a:t>T</a:t>
                      </a:r>
                    </a:p>
                  </a:txBody>
                  <a:tcPr marL="38100" marR="38100" marT="76200" marB="76200">
                    <a:solidFill>
                      <a:srgbClr val="F2F5F7"/>
                    </a:solidFill>
                  </a:tcPr>
                </a:tc>
                <a:tc>
                  <a:txBody>
                    <a:bodyPr/>
                    <a:lstStyle/>
                    <a:p>
                      <a:pPr algn="ctr"/>
                      <a:r>
                        <a:rPr sz="1575" b="1">
                          <a:solidFill>
                            <a:srgbClr val="FFFFFF"/>
                          </a:solidFill>
                          <a:latin typeface="Malgun Gothic"/>
                          <a:ea typeface="Malgun Gothic"/>
                          <a:cs typeface="Malgun Gothic"/>
                        </a:rPr>
                        <a:t>V</a:t>
                      </a:r>
                    </a:p>
                  </a:txBody>
                  <a:tcPr marL="38100" marR="38100" marT="76200" marB="76200">
                    <a:solidFill>
                      <a:srgbClr val="087F8C"/>
                    </a:solidFill>
                  </a:tcPr>
                </a:tc>
                <a:tc>
                  <a:txBody>
                    <a:bodyPr/>
                    <a:lstStyle/>
                    <a:p>
                      <a:pPr algn="ctr"/>
                      <a:r>
                        <a:rPr sz="1575" b="0">
                          <a:solidFill>
                            <a:srgbClr val="536171"/>
                          </a:solidFill>
                          <a:latin typeface="Malgun Gothic"/>
                          <a:ea typeface="Malgun Gothic"/>
                          <a:cs typeface="Malgun Gothic"/>
                        </a:rPr>
                        <a:t>T</a:t>
                      </a:r>
                    </a:p>
                  </a:txBody>
                  <a:tcPr marL="38100" marR="38100" marT="76200" marB="76200">
                    <a:solidFill>
                      <a:srgbClr val="F2F5F7"/>
                    </a:solidFill>
                  </a:tcPr>
                </a:tc>
              </a:tr>
            </a:tbl>
          </a:graphicData>
        </a:graphic>
      </p:graphicFrame>
      <p:sp>
        <p:nvSpPr>
          <p:cNvPr id="9" name="">
            <a:extLst xmlns:a="http://schemas.openxmlformats.org/drawingml/2006/main">
              <a:ext uri="{FF2B5EF4-FFF2-40B4-BE49-F238E27FC236}">
                <a16:creationId xmlns:a16="http://schemas.microsoft.com/office/drawing/2014/main" id="{960FCAE0-2A81-413D-A6F5-B63223788031}"/>
              </a:ext>
            </a:extLst>
          </p:cNvPr>
          <p:cNvSpPr>
            <a:spLocks xmlns:a="http://schemas.openxmlformats.org/drawingml/2006/main" noGrp="1"/>
          </p:cNvSpPr>
          <p:nvPr/>
        </p:nvSpPr>
        <p:spPr>
          <a:xfrm xmlns:a="http://schemas.openxmlformats.org/drawingml/2006/main">
            <a:off x="7772400" y="4476750"/>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171"/>
                </a:solidFill>
                <a:latin typeface="Malgun Gothic"/>
                <a:ea typeface="Malgun Gothic"/>
                <a:cs typeface="Malgun Gothic"/>
              </a:defRPr>
            </a:pPr>
            <a:r>
              <a:rPr sz="1725" b="0">
                <a:solidFill>
                  <a:srgbClr val="536171"/>
                </a:solidFill>
                <a:latin typeface="Malgun Gothic"/>
                <a:ea typeface="Malgun Gothic"/>
                <a:cs typeface="Malgun Gothic"/>
              </a:rPr>
              <a:t>T training     V validation</a:t>
            </a:r>
          </a:p>
        </p:txBody>
      </p:sp>
      <p:sp>
        <p:nvSpPr>
          <p:cNvPr id="10" name="">
            <a:extLst xmlns:a="http://schemas.openxmlformats.org/drawingml/2006/main">
              <a:ext uri="{FF2B5EF4-FFF2-40B4-BE49-F238E27FC236}">
                <a16:creationId xmlns:a16="http://schemas.microsoft.com/office/drawing/2014/main" id="{CA7DDBB1-26E8-4B36-8009-F5418C76E6C2}"/>
              </a:ext>
            </a:extLst>
          </p:cNvPr>
          <p:cNvSpPr>
            <a:spLocks xmlns:a="http://schemas.openxmlformats.org/drawingml/2006/main" noGrp="1"/>
          </p:cNvSpPr>
          <p:nvPr/>
        </p:nvSpPr>
        <p:spPr>
          <a:xfrm xmlns:a="http://schemas.openxmlformats.org/drawingml/2006/main">
            <a:off x="7762875" y="5219700"/>
            <a:ext cx="3667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22536"/>
                </a:solidFill>
                <a:latin typeface="Malgun Gothic"/>
                <a:ea typeface="Malgun Gothic"/>
                <a:cs typeface="Malgun Gothic"/>
              </a:defRPr>
            </a:pPr>
            <a:r>
              <a:rPr sz="1875" b="0">
                <a:solidFill>
                  <a:srgbClr val="122536"/>
                </a:solidFill>
                <a:latin typeface="Malgun Gothic"/>
                <a:ea typeface="Malgun Gothic"/>
                <a:cs typeface="Malgun Gothic"/>
              </a:rPr>
              <a:t>Test engines 11, 14, 15</a:t>
            </a:r>
          </a:p>
          <a:p xmlns:a="http://schemas.openxmlformats.org/drawingml/2006/main">
            <a:pPr>
              <a:defRPr sz="1875" b="0">
                <a:solidFill>
                  <a:srgbClr val="122536"/>
                </a:solidFill>
                <a:latin typeface="Malgun Gothic"/>
                <a:ea typeface="Malgun Gothic"/>
                <a:cs typeface="Malgun Gothic"/>
              </a:defRPr>
            </a:pPr>
            <a:r>
              <a:rPr sz="1875" b="0">
                <a:solidFill>
                  <a:srgbClr val="122536"/>
                </a:solidFill>
                <a:latin typeface="Malgun Gothic"/>
                <a:ea typeface="Malgun Gothic"/>
                <a:cs typeface="Malgun Gothic"/>
              </a:rPr>
              <a:t>Reused for extension evaluation</a:t>
            </a:r>
          </a:p>
        </p:txBody>
      </p:sp>
    </p:spTree>
    <p:extLst>
      <p:ext uri="{BB962C8B-B14F-4D97-AF65-F5344CB8AC3E}">
        <p14:creationId xmlns:p14="http://schemas.microsoft.com/office/powerpoint/2010/main" val="209749069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A47CB07-9D08-4A52-909E-E115DB4BA019}"/>
              </a:ext>
            </a:extLst>
          </p:cNvPr>
          <p:cNvSpPr>
            <a:spLocks xmlns:a="http://schemas.openxmlformats.org/drawingml/2006/main" noGrp="1"/>
          </p:cNvSpPr>
          <p:nvPr/>
        </p:nvSpPr>
        <p:spPr>
          <a:xfrm xmlns:a="http://schemas.openxmlformats.org/drawingml/2006/main">
            <a:off x="685800" y="428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536"/>
                </a:solidFill>
                <a:latin typeface="Malgun Gothic"/>
                <a:ea typeface="Malgun Gothic"/>
                <a:cs typeface="Malgun Gothic"/>
              </a:defRPr>
            </a:pPr>
            <a:r>
              <a:rPr sz="3300" b="1">
                <a:solidFill>
                  <a:srgbClr val="122536"/>
                </a:solidFill>
                <a:latin typeface="Malgun Gothic"/>
                <a:ea typeface="Malgun Gothic"/>
                <a:cs typeface="Malgun Gothic"/>
              </a:rPr>
              <a:t>Inputs to regression and the CNN</a:t>
            </a:r>
          </a:p>
        </p:txBody>
      </p:sp>
      <p:sp>
        <p:nvSpPr>
          <p:cNvPr id="2" name="">
            <a:extLst xmlns:a="http://schemas.openxmlformats.org/drawingml/2006/main">
              <a:ext uri="{FF2B5EF4-FFF2-40B4-BE49-F238E27FC236}">
                <a16:creationId xmlns:a16="http://schemas.microsoft.com/office/drawing/2014/main" id="{383EB70F-4764-4921-BBE7-3BA07CF3F09B}"/>
              </a:ext>
            </a:extLst>
          </p:cNvPr>
          <p:cNvSpPr>
            <a:spLocks xmlns:a="http://schemas.openxmlformats.org/drawingml/2006/main" noGrp="1"/>
          </p:cNvSpPr>
          <p:nvPr/>
        </p:nvSpPr>
        <p:spPr>
          <a:xfrm xmlns:a="http://schemas.openxmlformats.org/drawingml/2006/main">
            <a:off x="685800" y="6391275"/>
            <a:ext cx="952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171"/>
                </a:solidFill>
                <a:latin typeface="Malgun Gothic"/>
                <a:ea typeface="Malgun Gothic"/>
                <a:cs typeface="Malgun Gothic"/>
              </a:defRPr>
            </a:pPr>
            <a:r>
              <a:rPr sz="1200" b="0">
                <a:solidFill>
                  <a:srgbClr val="536171"/>
                </a:solidFill>
                <a:latin typeface="Malgun Gothic"/>
                <a:ea typeface="Malgun Gothic"/>
                <a:cs typeface="Malgun Gothic"/>
              </a:rPr>
              <a:t>DCCS 410  김성현  2021271250</a:t>
            </a:r>
          </a:p>
        </p:txBody>
      </p:sp>
      <p:sp>
        <p:nvSpPr>
          <p:cNvPr id="3" name="">
            <a:extLst xmlns:a="http://schemas.openxmlformats.org/drawingml/2006/main">
              <a:ext uri="{FF2B5EF4-FFF2-40B4-BE49-F238E27FC236}">
                <a16:creationId xmlns:a16="http://schemas.microsoft.com/office/drawing/2014/main" id="{B27E785A-D174-4F93-9115-76C24A12EF76}"/>
              </a:ext>
            </a:extLst>
          </p:cNvPr>
          <p:cNvSpPr>
            <a:spLocks xmlns:a="http://schemas.openxmlformats.org/drawingml/2006/main" noGrp="1"/>
          </p:cNvSpPr>
          <p:nvPr/>
        </p:nvSpPr>
        <p:spPr>
          <a:xfrm xmlns:a="http://schemas.openxmlformats.org/drawingml/2006/main">
            <a:off x="11049000" y="63912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171"/>
                </a:solidFill>
                <a:latin typeface="Malgun Gothic"/>
                <a:ea typeface="Malgun Gothic"/>
                <a:cs typeface="Malgun Gothic"/>
              </a:defRPr>
            </a:pPr>
            <a:r>
              <a:rPr sz="1200" b="0">
                <a:solidFill>
                  <a:srgbClr val="536171"/>
                </a:solidFill>
                <a:latin typeface="Malgun Gothic"/>
                <a:ea typeface="Malgun Gothic"/>
                <a:cs typeface="Malgun Gothic"/>
              </a:rPr>
              <a:t>03</a:t>
            </a:r>
          </a:p>
        </p:txBody>
      </p:sp>
      <p:sp>
        <p:nvSpPr>
          <p:cNvPr id="4" name="">
            <a:extLst xmlns:a="http://schemas.openxmlformats.org/drawingml/2006/main">
              <a:ext uri="{FF2B5EF4-FFF2-40B4-BE49-F238E27FC236}">
                <a16:creationId xmlns:a16="http://schemas.microsoft.com/office/drawing/2014/main" id="{849A5FFC-29E6-4412-AA07-8F5699446602}"/>
              </a:ext>
            </a:extLst>
          </p:cNvPr>
          <p:cNvSpPr>
            <a:spLocks xmlns:a="http://schemas.openxmlformats.org/drawingml/2006/main" noGrp="1"/>
          </p:cNvSpPr>
          <p:nvPr/>
        </p:nvSpPr>
        <p:spPr>
          <a:xfrm xmlns:a="http://schemas.openxmlformats.org/drawingml/2006/main">
            <a:off x="2952750" y="136207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B67"/>
                </a:solidFill>
                <a:latin typeface="Malgun Gothic"/>
                <a:ea typeface="Malgun Gothic"/>
                <a:cs typeface="Malgun Gothic"/>
              </a:defRPr>
            </a:pPr>
            <a:r>
              <a:rPr sz="2100" b="1">
                <a:solidFill>
                  <a:srgbClr val="234B67"/>
                </a:solidFill>
                <a:latin typeface="Malgun Gothic"/>
                <a:ea typeface="Malgun Gothic"/>
                <a:cs typeface="Malgun Gothic"/>
              </a:rPr>
              <a:t>Regression with statistics</a:t>
            </a:r>
          </a:p>
        </p:txBody>
      </p:sp>
      <p:sp>
        <p:nvSpPr>
          <p:cNvPr id="5" name="">
            <a:extLst xmlns:a="http://schemas.openxmlformats.org/drawingml/2006/main">
              <a:ext uri="{FF2B5EF4-FFF2-40B4-BE49-F238E27FC236}">
                <a16:creationId xmlns:a16="http://schemas.microsoft.com/office/drawing/2014/main" id="{B6BB74A6-AFDD-439A-8AFE-2ACE549960E8}"/>
              </a:ext>
            </a:extLst>
          </p:cNvPr>
          <p:cNvSpPr>
            <a:spLocks xmlns:a="http://schemas.openxmlformats.org/drawingml/2006/main" noGrp="1"/>
          </p:cNvSpPr>
          <p:nvPr/>
        </p:nvSpPr>
        <p:spPr>
          <a:xfrm xmlns:a="http://schemas.openxmlformats.org/drawingml/2006/main">
            <a:off x="695325" y="2819400"/>
            <a:ext cx="1571625" cy="1085850"/>
          </a:xfrm>
          <a:prstGeom xmlns:a="http://schemas.openxmlformats.org/drawingml/2006/main" prst="rect">
            <a:avLst/>
          </a:prstGeom>
          <a:solidFill xmlns:a="http://schemas.openxmlformats.org/drawingml/2006/main">
            <a:srgbClr val="E6F3F3"/>
          </a:solidFill>
          <a:ln xmlns:a="http://schemas.openxmlformats.org/drawingml/2006/main" w="13335">
            <a:solidFill>
              <a:srgbClr val="CED8E0"/>
            </a:solidFill>
          </a:ln>
        </p:spPr>
        <p:txBody>
          <a:bodyPr xmlns:a="http://schemas.openxmlformats.org/drawingml/2006/main" lIns="85725" tIns="66675" rIns="85725" bIns="66675" anchor="ctr">
            <a:noAutofit/>
          </a:bodyPr>
          <a:lstStyle xmlns:a="http://schemas.openxmlformats.org/drawingml/2006/main"/>
          <a:p xmlns:a="http://schemas.openxmlformats.org/drawingml/2006/main">
            <a:pPr algn="ctr">
              <a:defRPr sz="1950" b="0">
                <a:solidFill>
                  <a:srgbClr val="122536"/>
                </a:solidFill>
                <a:latin typeface="Malgun Gothic"/>
                <a:ea typeface="Malgun Gothic"/>
                <a:cs typeface="Malgun Gothic"/>
              </a:defRPr>
            </a:pPr>
            <a:r>
              <a:rPr sz="1950" b="0">
                <a:solidFill>
                  <a:srgbClr val="122536"/>
                </a:solidFill>
                <a:latin typeface="Malgun Gothic"/>
                <a:ea typeface="Malgun Gothic"/>
                <a:cs typeface="Malgun Gothic"/>
              </a:rPr>
              <a:t>Observed</a:t>
            </a:r>
          </a:p>
          <a:p xmlns:a="http://schemas.openxmlformats.org/drawingml/2006/main">
            <a:pPr algn="ctr">
              <a:defRPr sz="1950" b="0">
                <a:solidFill>
                  <a:srgbClr val="122536"/>
                </a:solidFill>
                <a:latin typeface="Malgun Gothic"/>
                <a:ea typeface="Malgun Gothic"/>
                <a:cs typeface="Malgun Gothic"/>
              </a:defRPr>
            </a:pPr>
            <a:r>
              <a:rPr sz="1950" b="0">
                <a:solidFill>
                  <a:srgbClr val="122536"/>
                </a:solidFill>
                <a:latin typeface="Malgun Gothic"/>
                <a:ea typeface="Malgun Gothic"/>
                <a:cs typeface="Malgun Gothic"/>
              </a:rPr>
              <a:t>18 channels</a:t>
            </a:r>
          </a:p>
        </p:txBody>
      </p:sp>
      <p:sp>
        <p:nvSpPr>
          <p:cNvPr id="6" name="">
            <a:extLst xmlns:a="http://schemas.openxmlformats.org/drawingml/2006/main">
              <a:ext uri="{FF2B5EF4-FFF2-40B4-BE49-F238E27FC236}">
                <a16:creationId xmlns:a16="http://schemas.microsoft.com/office/drawing/2014/main" id="{AB44CB5C-1A32-47B1-938C-8A230FA9B0B6}"/>
              </a:ext>
            </a:extLst>
          </p:cNvPr>
          <p:cNvSpPr>
            <a:spLocks xmlns:a="http://schemas.openxmlformats.org/drawingml/2006/main" noGrp="1"/>
          </p:cNvSpPr>
          <p:nvPr/>
        </p:nvSpPr>
        <p:spPr>
          <a:xfrm xmlns:a="http://schemas.openxmlformats.org/drawingml/2006/main">
            <a:off x="3009900" y="1971675"/>
            <a:ext cx="1914525" cy="1000125"/>
          </a:xfrm>
          <a:prstGeom xmlns:a="http://schemas.openxmlformats.org/drawingml/2006/main" prst="rect">
            <a:avLst/>
          </a:prstGeom>
          <a:solidFill xmlns:a="http://schemas.openxmlformats.org/drawingml/2006/main">
            <a:srgbClr val="EEF3F6"/>
          </a:solidFill>
          <a:ln xmlns:a="http://schemas.openxmlformats.org/drawingml/2006/main" w="13335">
            <a:solidFill>
              <a:srgbClr val="CED8E0"/>
            </a:solidFill>
          </a:ln>
        </p:spPr>
        <p:txBody>
          <a:bodyPr xmlns:a="http://schemas.openxmlformats.org/drawingml/2006/main" lIns="85725" tIns="66675" rIns="85725" bIns="66675" anchor="ctr">
            <a:noAutofit/>
          </a:bodyPr>
          <a:lstStyle xmlns:a="http://schemas.openxmlformats.org/drawingml/2006/main"/>
          <a:p xmlns:a="http://schemas.openxmlformats.org/drawingml/2006/main">
            <a:pPr algn="ctr">
              <a:defRPr sz="1950" b="0">
                <a:solidFill>
                  <a:srgbClr val="122536"/>
                </a:solidFill>
                <a:latin typeface="Malgun Gothic"/>
                <a:ea typeface="Malgun Gothic"/>
                <a:cs typeface="Malgun Gothic"/>
              </a:defRPr>
            </a:pPr>
            <a:r>
              <a:rPr sz="1950" b="0">
                <a:solidFill>
                  <a:srgbClr val="122536"/>
                </a:solidFill>
                <a:latin typeface="Malgun Gothic"/>
                <a:ea typeface="Malgun Gothic"/>
                <a:cs typeface="Malgun Gothic"/>
              </a:rPr>
              <a:t>Five statistics</a:t>
            </a:r>
          </a:p>
          <a:p xmlns:a="http://schemas.openxmlformats.org/drawingml/2006/main">
            <a:pPr algn="ctr">
              <a:defRPr sz="1950" b="0">
                <a:solidFill>
                  <a:srgbClr val="122536"/>
                </a:solidFill>
                <a:latin typeface="Malgun Gothic"/>
                <a:ea typeface="Malgun Gothic"/>
                <a:cs typeface="Malgun Gothic"/>
              </a:defRPr>
            </a:pPr>
            <a:r>
              <a:rPr sz="1950" b="0">
                <a:solidFill>
                  <a:srgbClr val="122536"/>
                </a:solidFill>
                <a:latin typeface="Malgun Gothic"/>
                <a:ea typeface="Malgun Gothic"/>
                <a:cs typeface="Malgun Gothic"/>
              </a:rPr>
              <a:t>90 features</a:t>
            </a:r>
          </a:p>
        </p:txBody>
      </p:sp>
      <p:sp>
        <p:nvSpPr>
          <p:cNvPr id="7" name="">
            <a:extLst xmlns:a="http://schemas.openxmlformats.org/drawingml/2006/main">
              <a:ext uri="{FF2B5EF4-FFF2-40B4-BE49-F238E27FC236}">
                <a16:creationId xmlns:a16="http://schemas.microsoft.com/office/drawing/2014/main" id="{2C0C8AD4-81D2-48AA-ABCD-AEB83E104CA1}"/>
              </a:ext>
            </a:extLst>
          </p:cNvPr>
          <p:cNvSpPr>
            <a:spLocks xmlns:a="http://schemas.openxmlformats.org/drawingml/2006/main" noGrp="1"/>
          </p:cNvSpPr>
          <p:nvPr/>
        </p:nvSpPr>
        <p:spPr>
          <a:xfrm xmlns:a="http://schemas.openxmlformats.org/drawingml/2006/main">
            <a:off x="5619750" y="1971675"/>
            <a:ext cx="2095500" cy="1000125"/>
          </a:xfrm>
          <a:prstGeom xmlns:a="http://schemas.openxmlformats.org/drawingml/2006/main" prst="rect">
            <a:avLst/>
          </a:prstGeom>
          <a:solidFill xmlns:a="http://schemas.openxmlformats.org/drawingml/2006/main">
            <a:srgbClr val="EEF3F6"/>
          </a:solidFill>
          <a:ln xmlns:a="http://schemas.openxmlformats.org/drawingml/2006/main" w="13335">
            <a:solidFill>
              <a:srgbClr val="CED8E0"/>
            </a:solidFill>
          </a:ln>
        </p:spPr>
        <p:txBody>
          <a:bodyPr xmlns:a="http://schemas.openxmlformats.org/drawingml/2006/main" lIns="85725" tIns="66675" rIns="85725" bIns="66675" anchor="ctr">
            <a:noAutofit/>
          </a:bodyPr>
          <a:lstStyle xmlns:a="http://schemas.openxmlformats.org/drawingml/2006/main"/>
          <a:p xmlns:a="http://schemas.openxmlformats.org/drawingml/2006/main">
            <a:pPr algn="ctr">
              <a:defRPr sz="1725" b="0">
                <a:solidFill>
                  <a:srgbClr val="122536"/>
                </a:solidFill>
                <a:latin typeface="Malgun Gothic"/>
                <a:ea typeface="Malgun Gothic"/>
                <a:cs typeface="Malgun Gothic"/>
              </a:defRPr>
            </a:pPr>
            <a:r>
              <a:rPr sz="1725" b="0">
                <a:solidFill>
                  <a:srgbClr val="122536"/>
                </a:solidFill>
                <a:latin typeface="Malgun Gothic"/>
                <a:ea typeface="Malgun Gothic"/>
                <a:cs typeface="Malgun Gothic"/>
              </a:rPr>
              <a:t>Ridge</a:t>
            </a:r>
          </a:p>
          <a:p xmlns:a="http://schemas.openxmlformats.org/drawingml/2006/main">
            <a:pPr algn="ctr">
              <a:defRPr sz="1725" b="0">
                <a:solidFill>
                  <a:srgbClr val="122536"/>
                </a:solidFill>
                <a:latin typeface="Malgun Gothic"/>
                <a:ea typeface="Malgun Gothic"/>
                <a:cs typeface="Malgun Gothic"/>
              </a:defRPr>
            </a:pPr>
            <a:r>
              <a:rPr sz="1725" b="0">
                <a:solidFill>
                  <a:srgbClr val="122536"/>
                </a:solidFill>
                <a:latin typeface="Malgun Gothic"/>
                <a:ea typeface="Malgun Gothic"/>
                <a:cs typeface="Malgun Gothic"/>
              </a:rPr>
              <a:t>Gradient boosting</a:t>
            </a:r>
          </a:p>
        </p:txBody>
      </p:sp>
      <p:sp>
        <p:nvSpPr>
          <p:cNvPr id="8" name="">
            <a:extLst xmlns:a="http://schemas.openxmlformats.org/drawingml/2006/main">
              <a:ext uri="{FF2B5EF4-FFF2-40B4-BE49-F238E27FC236}">
                <a16:creationId xmlns:a16="http://schemas.microsoft.com/office/drawing/2014/main" id="{BC010673-4EE6-48EF-B2D7-86B0AF5FDB8D}"/>
              </a:ext>
            </a:extLst>
          </p:cNvPr>
          <p:cNvSpPr>
            <a:spLocks xmlns:a="http://schemas.openxmlformats.org/drawingml/2006/main" noGrp="1"/>
          </p:cNvSpPr>
          <p:nvPr/>
        </p:nvSpPr>
        <p:spPr>
          <a:xfrm xmlns:a="http://schemas.openxmlformats.org/drawingml/2006/main">
            <a:off x="10001250" y="2819400"/>
            <a:ext cx="1524000" cy="1085850"/>
          </a:xfrm>
          <a:prstGeom xmlns:a="http://schemas.openxmlformats.org/drawingml/2006/main" prst="rect">
            <a:avLst/>
          </a:prstGeom>
          <a:solidFill xmlns:a="http://schemas.openxmlformats.org/drawingml/2006/main">
            <a:srgbClr val="FDF0E6"/>
          </a:solidFill>
          <a:ln xmlns:a="http://schemas.openxmlformats.org/drawingml/2006/main" w="13335">
            <a:solidFill>
              <a:srgbClr val="CED8E0"/>
            </a:solidFill>
          </a:ln>
        </p:spPr>
        <p:txBody>
          <a:bodyPr xmlns:a="http://schemas.openxmlformats.org/drawingml/2006/main" lIns="85725" tIns="66675" rIns="85725" bIns="66675" anchor="ctr">
            <a:noAutofit/>
          </a:bodyPr>
          <a:lstStyle xmlns:a="http://schemas.openxmlformats.org/drawingml/2006/main"/>
          <a:p xmlns:a="http://schemas.openxmlformats.org/drawingml/2006/main">
            <a:pPr algn="ctr">
              <a:defRPr sz="1950" b="0">
                <a:solidFill>
                  <a:srgbClr val="122536"/>
                </a:solidFill>
                <a:latin typeface="Malgun Gothic"/>
                <a:ea typeface="Malgun Gothic"/>
                <a:cs typeface="Malgun Gothic"/>
              </a:defRPr>
            </a:pPr>
            <a:r>
              <a:rPr sz="1950" b="0">
                <a:solidFill>
                  <a:srgbClr val="122536"/>
                </a:solidFill>
                <a:latin typeface="Malgun Gothic"/>
                <a:ea typeface="Malgun Gothic"/>
                <a:cs typeface="Malgun Gothic"/>
              </a:rPr>
              <a:t>Remaining</a:t>
            </a:r>
          </a:p>
          <a:p xmlns:a="http://schemas.openxmlformats.org/drawingml/2006/main">
            <a:pPr algn="ctr">
              <a:defRPr sz="1950" b="0">
                <a:solidFill>
                  <a:srgbClr val="122536"/>
                </a:solidFill>
                <a:latin typeface="Malgun Gothic"/>
                <a:ea typeface="Malgun Gothic"/>
                <a:cs typeface="Malgun Gothic"/>
              </a:defRPr>
            </a:pPr>
            <a:r>
              <a:rPr sz="1950" b="0">
                <a:solidFill>
                  <a:srgbClr val="122536"/>
                </a:solidFill>
                <a:latin typeface="Malgun Gothic"/>
                <a:ea typeface="Malgun Gothic"/>
                <a:cs typeface="Malgun Gothic"/>
              </a:rPr>
              <a:t>flight cycles</a:t>
            </a:r>
          </a:p>
        </p:txBody>
      </p:sp>
      <p:cxnSp>
        <p:nvCxnSpPr>
          <p:cNvPr id="33" name=""/>
          <p:cNvCxnSpPr>
            <a:stCxn xmlns:a="http://schemas.openxmlformats.org/drawingml/2006/main" id="5" idx="3"/>
            <a:endCxn xmlns:a="http://schemas.openxmlformats.org/drawingml/2006/main" id="6" idx="1"/>
          </p:cNvCxnSpPr>
          <p:nvPr/>
        </p:nvCxnSpPr>
        <p:spPr>
          <a:xfrm xmlns:a="http://schemas.openxmlformats.org/drawingml/2006/main" flipV="1">
            <a:off x="2266950" y="2471738"/>
            <a:ext cx="742950" cy="890588"/>
          </a:xfrm>
          <a:prstGeom xmlns:a="http://schemas.openxmlformats.org/drawingml/2006/main" prst="bentConnector3">
            <a:avLst>
              <a:gd name="adj1" fmla="val 50000"/>
            </a:avLst>
          </a:prstGeom>
          <a:ln xmlns:a="http://schemas.openxmlformats.org/drawingml/2006/main" w="19050">
            <a:solidFill>
              <a:srgbClr val="234B67"/>
            </a:solidFill>
            <a:tailEnd type="triangle" w="sm" len="sm"/>
          </a:ln>
        </p:spPr>
      </p:cxnSp>
      <p:cxnSp>
        <p:nvCxnSpPr>
          <p:cNvPr id="34" name=""/>
          <p:cNvCxnSpPr>
            <a:stCxn xmlns:a="http://schemas.openxmlformats.org/drawingml/2006/main" id="6" idx="3"/>
            <a:endCxn xmlns:a="http://schemas.openxmlformats.org/drawingml/2006/main" id="7" idx="1"/>
          </p:cNvCxnSpPr>
          <p:nvPr/>
        </p:nvCxnSpPr>
        <p:spPr>
          <a:xfrm xmlns:a="http://schemas.openxmlformats.org/drawingml/2006/main">
            <a:off x="4924425" y="2471738"/>
            <a:ext cx="695325" cy="0"/>
          </a:xfrm>
          <a:prstGeom xmlns:a="http://schemas.openxmlformats.org/drawingml/2006/main" prst="straightConnector1">
            <a:avLst/>
          </a:prstGeom>
          <a:ln xmlns:a="http://schemas.openxmlformats.org/drawingml/2006/main" w="19050">
            <a:solidFill>
              <a:srgbClr val="234B67"/>
            </a:solidFill>
            <a:tailEnd type="triangle" w="sm" len="sm"/>
          </a:ln>
        </p:spPr>
      </p:cxnSp>
      <p:cxnSp>
        <p:nvCxnSpPr>
          <p:cNvPr id="35" name=""/>
          <p:cNvCxnSpPr>
            <a:stCxn xmlns:a="http://schemas.openxmlformats.org/drawingml/2006/main" id="7" idx="3"/>
            <a:endCxn xmlns:a="http://schemas.openxmlformats.org/drawingml/2006/main" id="8" idx="1"/>
          </p:cNvCxnSpPr>
          <p:nvPr/>
        </p:nvCxnSpPr>
        <p:spPr>
          <a:xfrm xmlns:a="http://schemas.openxmlformats.org/drawingml/2006/main">
            <a:off x="7715250" y="2471738"/>
            <a:ext cx="2286000" cy="890588"/>
          </a:xfrm>
          <a:prstGeom xmlns:a="http://schemas.openxmlformats.org/drawingml/2006/main" prst="bentConnector3">
            <a:avLst>
              <a:gd name="adj1" fmla="val 50000"/>
            </a:avLst>
          </a:prstGeom>
          <a:ln xmlns:a="http://schemas.openxmlformats.org/drawingml/2006/main" w="19050">
            <a:solidFill>
              <a:srgbClr val="234B67"/>
            </a:solidFill>
            <a:tailEnd type="triangle" w="sm" len="sm"/>
          </a:ln>
        </p:spPr>
      </p:cxnSp>
      <p:sp>
        <p:nvSpPr>
          <p:cNvPr id="12" name="">
            <a:extLst xmlns:a="http://schemas.openxmlformats.org/drawingml/2006/main">
              <a:ext uri="{FF2B5EF4-FFF2-40B4-BE49-F238E27FC236}">
                <a16:creationId xmlns:a16="http://schemas.microsoft.com/office/drawing/2014/main" id="{720E9C35-33A8-4722-9D7A-567984E389CF}"/>
              </a:ext>
            </a:extLst>
          </p:cNvPr>
          <p:cNvSpPr>
            <a:spLocks xmlns:a="http://schemas.openxmlformats.org/drawingml/2006/main" noGrp="1"/>
          </p:cNvSpPr>
          <p:nvPr/>
        </p:nvSpPr>
        <p:spPr>
          <a:xfrm xmlns:a="http://schemas.openxmlformats.org/drawingml/2006/main">
            <a:off x="2952750" y="33813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8C"/>
                </a:solidFill>
                <a:latin typeface="Malgun Gothic"/>
                <a:ea typeface="Malgun Gothic"/>
                <a:cs typeface="Malgun Gothic"/>
              </a:defRPr>
            </a:pPr>
            <a:r>
              <a:rPr sz="2100" b="1">
                <a:solidFill>
                  <a:srgbClr val="087F8C"/>
                </a:solidFill>
                <a:latin typeface="Malgun Gothic"/>
                <a:ea typeface="Malgun Gothic"/>
                <a:cs typeface="Malgun Gothic"/>
              </a:rPr>
              <a:t>1D CNN</a:t>
            </a:r>
          </a:p>
        </p:txBody>
      </p:sp>
      <p:sp>
        <p:nvSpPr>
          <p:cNvPr id="13" name="">
            <a:extLst xmlns:a="http://schemas.openxmlformats.org/drawingml/2006/main">
              <a:ext uri="{FF2B5EF4-FFF2-40B4-BE49-F238E27FC236}">
                <a16:creationId xmlns:a16="http://schemas.microsoft.com/office/drawing/2014/main" id="{68815CE7-9F2B-4466-BF8D-B3C6AF5AE2F9}"/>
              </a:ext>
            </a:extLst>
          </p:cNvPr>
          <p:cNvSpPr>
            <a:spLocks xmlns:a="http://schemas.openxmlformats.org/drawingml/2006/main" noGrp="1"/>
          </p:cNvSpPr>
          <p:nvPr/>
        </p:nvSpPr>
        <p:spPr>
          <a:xfrm xmlns:a="http://schemas.openxmlformats.org/drawingml/2006/main">
            <a:off x="2981325" y="4000500"/>
            <a:ext cx="1333500" cy="1066800"/>
          </a:xfrm>
          <a:prstGeom xmlns:a="http://schemas.openxmlformats.org/drawingml/2006/main" prst="rect">
            <a:avLst/>
          </a:prstGeom>
          <a:solidFill xmlns:a="http://schemas.openxmlformats.org/drawingml/2006/main">
            <a:srgbClr val="E6F3F3"/>
          </a:solidFill>
          <a:ln xmlns:a="http://schemas.openxmlformats.org/drawingml/2006/main" w="13335">
            <a:solidFill>
              <a:srgbClr val="CED8E0"/>
            </a:solidFill>
          </a:ln>
        </p:spPr>
        <p:txBody>
          <a:bodyPr xmlns:a="http://schemas.openxmlformats.org/drawingml/2006/main" lIns="85725" tIns="66675" rIns="85725" bIns="66675" anchor="ctr">
            <a:noAutofit/>
          </a:bodyPr>
          <a:lstStyle xmlns:a="http://schemas.openxmlformats.org/drawingml/2006/main"/>
          <a:p xmlns:a="http://schemas.openxmlformats.org/drawingml/2006/main">
            <a:pPr algn="ctr">
              <a:defRPr sz="1725" b="0">
                <a:solidFill>
                  <a:srgbClr val="122536"/>
                </a:solidFill>
                <a:latin typeface="Malgun Gothic"/>
                <a:ea typeface="Malgun Gothic"/>
                <a:cs typeface="Malgun Gothic"/>
              </a:defRPr>
            </a:pPr>
            <a:r>
              <a:rPr sz="1725" b="0">
                <a:solidFill>
                  <a:srgbClr val="122536"/>
                </a:solidFill>
                <a:latin typeface="Malgun Gothic"/>
                <a:ea typeface="Malgun Gothic"/>
                <a:cs typeface="Malgun Gothic"/>
              </a:rPr>
              <a:t>Conv1d 16</a:t>
            </a:r>
          </a:p>
          <a:p xmlns:a="http://schemas.openxmlformats.org/drawingml/2006/main">
            <a:pPr algn="ctr">
              <a:defRPr sz="1725" b="0">
                <a:solidFill>
                  <a:srgbClr val="122536"/>
                </a:solidFill>
                <a:latin typeface="Malgun Gothic"/>
                <a:ea typeface="Malgun Gothic"/>
                <a:cs typeface="Malgun Gothic"/>
              </a:defRPr>
            </a:pPr>
            <a:r>
              <a:rPr sz="1725" b="0">
                <a:solidFill>
                  <a:srgbClr val="122536"/>
                </a:solidFill>
                <a:latin typeface="Malgun Gothic"/>
                <a:ea typeface="Malgun Gothic"/>
                <a:cs typeface="Malgun Gothic"/>
              </a:rPr>
              <a:t>kernel 5</a:t>
            </a:r>
          </a:p>
          <a:p xmlns:a="http://schemas.openxmlformats.org/drawingml/2006/main">
            <a:pPr algn="ctr">
              <a:defRPr sz="1725" b="0">
                <a:solidFill>
                  <a:srgbClr val="122536"/>
                </a:solidFill>
                <a:latin typeface="Malgun Gothic"/>
                <a:ea typeface="Malgun Gothic"/>
                <a:cs typeface="Malgun Gothic"/>
              </a:defRPr>
            </a:pPr>
            <a:r>
              <a:rPr sz="1725" b="0">
                <a:solidFill>
                  <a:srgbClr val="122536"/>
                </a:solidFill>
                <a:latin typeface="Malgun Gothic"/>
                <a:ea typeface="Malgun Gothic"/>
                <a:cs typeface="Malgun Gothic"/>
              </a:rPr>
              <a:t>ReLU</a:t>
            </a:r>
          </a:p>
        </p:txBody>
      </p:sp>
      <p:sp>
        <p:nvSpPr>
          <p:cNvPr id="14" name="">
            <a:extLst xmlns:a="http://schemas.openxmlformats.org/drawingml/2006/main">
              <a:ext uri="{FF2B5EF4-FFF2-40B4-BE49-F238E27FC236}">
                <a16:creationId xmlns:a16="http://schemas.microsoft.com/office/drawing/2014/main" id="{68070E94-950D-48F4-99E0-B00ADF2A2DF5}"/>
              </a:ext>
            </a:extLst>
          </p:cNvPr>
          <p:cNvSpPr>
            <a:spLocks xmlns:a="http://schemas.openxmlformats.org/drawingml/2006/main" noGrp="1"/>
          </p:cNvSpPr>
          <p:nvPr/>
        </p:nvSpPr>
        <p:spPr>
          <a:xfrm xmlns:a="http://schemas.openxmlformats.org/drawingml/2006/main">
            <a:off x="4695825" y="4000500"/>
            <a:ext cx="1333500" cy="1066800"/>
          </a:xfrm>
          <a:prstGeom xmlns:a="http://schemas.openxmlformats.org/drawingml/2006/main" prst="rect">
            <a:avLst/>
          </a:prstGeom>
          <a:solidFill xmlns:a="http://schemas.openxmlformats.org/drawingml/2006/main">
            <a:srgbClr val="E6F3F3"/>
          </a:solidFill>
          <a:ln xmlns:a="http://schemas.openxmlformats.org/drawingml/2006/main" w="13335">
            <a:solidFill>
              <a:srgbClr val="CED8E0"/>
            </a:solidFill>
          </a:ln>
        </p:spPr>
        <p:txBody>
          <a:bodyPr xmlns:a="http://schemas.openxmlformats.org/drawingml/2006/main" lIns="85725" tIns="66675" rIns="85725" bIns="66675" anchor="ctr">
            <a:noAutofit/>
          </a:bodyPr>
          <a:lstStyle xmlns:a="http://schemas.openxmlformats.org/drawingml/2006/main"/>
          <a:p xmlns:a="http://schemas.openxmlformats.org/drawingml/2006/main">
            <a:pPr algn="ctr">
              <a:defRPr sz="1725" b="0">
                <a:solidFill>
                  <a:srgbClr val="122536"/>
                </a:solidFill>
                <a:latin typeface="Malgun Gothic"/>
                <a:ea typeface="Malgun Gothic"/>
                <a:cs typeface="Malgun Gothic"/>
              </a:defRPr>
            </a:pPr>
            <a:r>
              <a:rPr sz="1725" b="0">
                <a:solidFill>
                  <a:srgbClr val="122536"/>
                </a:solidFill>
                <a:latin typeface="Malgun Gothic"/>
                <a:ea typeface="Malgun Gothic"/>
                <a:cs typeface="Malgun Gothic"/>
              </a:rPr>
              <a:t>Conv1d 32</a:t>
            </a:r>
          </a:p>
          <a:p xmlns:a="http://schemas.openxmlformats.org/drawingml/2006/main">
            <a:pPr algn="ctr">
              <a:defRPr sz="1725" b="0">
                <a:solidFill>
                  <a:srgbClr val="122536"/>
                </a:solidFill>
                <a:latin typeface="Malgun Gothic"/>
                <a:ea typeface="Malgun Gothic"/>
                <a:cs typeface="Malgun Gothic"/>
              </a:defRPr>
            </a:pPr>
            <a:r>
              <a:rPr sz="1725" b="0">
                <a:solidFill>
                  <a:srgbClr val="122536"/>
                </a:solidFill>
                <a:latin typeface="Malgun Gothic"/>
                <a:ea typeface="Malgun Gothic"/>
                <a:cs typeface="Malgun Gothic"/>
              </a:rPr>
              <a:t>kernel 5</a:t>
            </a:r>
          </a:p>
          <a:p xmlns:a="http://schemas.openxmlformats.org/drawingml/2006/main">
            <a:pPr algn="ctr">
              <a:defRPr sz="1725" b="0">
                <a:solidFill>
                  <a:srgbClr val="122536"/>
                </a:solidFill>
                <a:latin typeface="Malgun Gothic"/>
                <a:ea typeface="Malgun Gothic"/>
                <a:cs typeface="Malgun Gothic"/>
              </a:defRPr>
            </a:pPr>
            <a:r>
              <a:rPr sz="1725" b="0">
                <a:solidFill>
                  <a:srgbClr val="122536"/>
                </a:solidFill>
                <a:latin typeface="Malgun Gothic"/>
                <a:ea typeface="Malgun Gothic"/>
                <a:cs typeface="Malgun Gothic"/>
              </a:rPr>
              <a:t>ReLU</a:t>
            </a:r>
          </a:p>
        </p:txBody>
      </p:sp>
      <p:sp>
        <p:nvSpPr>
          <p:cNvPr id="15" name="">
            <a:extLst xmlns:a="http://schemas.openxmlformats.org/drawingml/2006/main">
              <a:ext uri="{FF2B5EF4-FFF2-40B4-BE49-F238E27FC236}">
                <a16:creationId xmlns:a16="http://schemas.microsoft.com/office/drawing/2014/main" id="{E988F20A-D31E-4945-848F-B94FB8DDC963}"/>
              </a:ext>
            </a:extLst>
          </p:cNvPr>
          <p:cNvSpPr>
            <a:spLocks xmlns:a="http://schemas.openxmlformats.org/drawingml/2006/main" noGrp="1"/>
          </p:cNvSpPr>
          <p:nvPr/>
        </p:nvSpPr>
        <p:spPr>
          <a:xfrm xmlns:a="http://schemas.openxmlformats.org/drawingml/2006/main">
            <a:off x="6410325" y="4000500"/>
            <a:ext cx="1333500" cy="1066800"/>
          </a:xfrm>
          <a:prstGeom xmlns:a="http://schemas.openxmlformats.org/drawingml/2006/main" prst="rect">
            <a:avLst/>
          </a:prstGeom>
          <a:solidFill xmlns:a="http://schemas.openxmlformats.org/drawingml/2006/main">
            <a:srgbClr val="E6F3F3"/>
          </a:solidFill>
          <a:ln xmlns:a="http://schemas.openxmlformats.org/drawingml/2006/main" w="13335">
            <a:solidFill>
              <a:srgbClr val="CED8E0"/>
            </a:solidFill>
          </a:ln>
        </p:spPr>
        <p:txBody>
          <a:bodyPr xmlns:a="http://schemas.openxmlformats.org/drawingml/2006/main" lIns="85725" tIns="66675" rIns="85725" bIns="66675" anchor="ctr">
            <a:noAutofit/>
          </a:bodyPr>
          <a:lstStyle xmlns:a="http://schemas.openxmlformats.org/drawingml/2006/main"/>
          <a:p xmlns:a="http://schemas.openxmlformats.org/drawingml/2006/main">
            <a:pPr algn="ctr">
              <a:defRPr sz="1725" b="0">
                <a:solidFill>
                  <a:srgbClr val="122536"/>
                </a:solidFill>
                <a:latin typeface="Malgun Gothic"/>
                <a:ea typeface="Malgun Gothic"/>
                <a:cs typeface="Malgun Gothic"/>
              </a:defRPr>
            </a:pPr>
            <a:r>
              <a:rPr sz="1725" b="0">
                <a:solidFill>
                  <a:srgbClr val="122536"/>
                </a:solidFill>
                <a:latin typeface="Malgun Gothic"/>
                <a:ea typeface="Malgun Gothic"/>
                <a:cs typeface="Malgun Gothic"/>
              </a:rPr>
              <a:t>Average</a:t>
            </a:r>
          </a:p>
          <a:p xmlns:a="http://schemas.openxmlformats.org/drawingml/2006/main">
            <a:pPr algn="ctr">
              <a:defRPr sz="1725" b="0">
                <a:solidFill>
                  <a:srgbClr val="122536"/>
                </a:solidFill>
                <a:latin typeface="Malgun Gothic"/>
                <a:ea typeface="Malgun Gothic"/>
                <a:cs typeface="Malgun Gothic"/>
              </a:defRPr>
            </a:pPr>
            <a:r>
              <a:rPr sz="1725" b="0">
                <a:solidFill>
                  <a:srgbClr val="122536"/>
                </a:solidFill>
                <a:latin typeface="Malgun Gothic"/>
                <a:ea typeface="Malgun Gothic"/>
                <a:cs typeface="Malgun Gothic"/>
              </a:rPr>
              <a:t>pooling</a:t>
            </a:r>
          </a:p>
        </p:txBody>
      </p:sp>
      <p:sp>
        <p:nvSpPr>
          <p:cNvPr id="16" name="">
            <a:extLst xmlns:a="http://schemas.openxmlformats.org/drawingml/2006/main">
              <a:ext uri="{FF2B5EF4-FFF2-40B4-BE49-F238E27FC236}">
                <a16:creationId xmlns:a16="http://schemas.microsoft.com/office/drawing/2014/main" id="{781C6C67-34A2-4159-8D19-76B0DCE351B5}"/>
              </a:ext>
            </a:extLst>
          </p:cNvPr>
          <p:cNvSpPr>
            <a:spLocks xmlns:a="http://schemas.openxmlformats.org/drawingml/2006/main" noGrp="1"/>
          </p:cNvSpPr>
          <p:nvPr/>
        </p:nvSpPr>
        <p:spPr>
          <a:xfrm xmlns:a="http://schemas.openxmlformats.org/drawingml/2006/main">
            <a:off x="8124825" y="4000500"/>
            <a:ext cx="1333500" cy="1066800"/>
          </a:xfrm>
          <a:prstGeom xmlns:a="http://schemas.openxmlformats.org/drawingml/2006/main" prst="rect">
            <a:avLst/>
          </a:prstGeom>
          <a:solidFill xmlns:a="http://schemas.openxmlformats.org/drawingml/2006/main">
            <a:srgbClr val="E6F3F3"/>
          </a:solidFill>
          <a:ln xmlns:a="http://schemas.openxmlformats.org/drawingml/2006/main" w="13335">
            <a:solidFill>
              <a:srgbClr val="CED8E0"/>
            </a:solidFill>
          </a:ln>
        </p:spPr>
        <p:txBody>
          <a:bodyPr xmlns:a="http://schemas.openxmlformats.org/drawingml/2006/main" lIns="85725" tIns="66675" rIns="85725" bIns="66675" anchor="ctr">
            <a:noAutofit/>
          </a:bodyPr>
          <a:lstStyle xmlns:a="http://schemas.openxmlformats.org/drawingml/2006/main"/>
          <a:p xmlns:a="http://schemas.openxmlformats.org/drawingml/2006/main">
            <a:pPr algn="ctr">
              <a:defRPr sz="1725" b="0">
                <a:solidFill>
                  <a:srgbClr val="122536"/>
                </a:solidFill>
                <a:latin typeface="Malgun Gothic"/>
                <a:ea typeface="Malgun Gothic"/>
                <a:cs typeface="Malgun Gothic"/>
              </a:defRPr>
            </a:pPr>
            <a:r>
              <a:rPr sz="1725" b="0">
                <a:solidFill>
                  <a:srgbClr val="122536"/>
                </a:solidFill>
                <a:latin typeface="Malgun Gothic"/>
                <a:ea typeface="Malgun Gothic"/>
                <a:cs typeface="Malgun Gothic"/>
              </a:rPr>
              <a:t>Linear</a:t>
            </a:r>
          </a:p>
          <a:p xmlns:a="http://schemas.openxmlformats.org/drawingml/2006/main">
            <a:pPr algn="ctr">
              <a:defRPr sz="1725" b="0">
                <a:solidFill>
                  <a:srgbClr val="122536"/>
                </a:solidFill>
                <a:latin typeface="Malgun Gothic"/>
                <a:ea typeface="Malgun Gothic"/>
                <a:cs typeface="Malgun Gothic"/>
              </a:defRPr>
            </a:pPr>
            <a:r>
              <a:rPr sz="1725" b="0">
                <a:solidFill>
                  <a:srgbClr val="122536"/>
                </a:solidFill>
                <a:latin typeface="Malgun Gothic"/>
                <a:ea typeface="Malgun Gothic"/>
                <a:cs typeface="Malgun Gothic"/>
              </a:rPr>
              <a:t>Softplus</a:t>
            </a:r>
          </a:p>
        </p:txBody>
      </p:sp>
      <p:cxnSp>
        <p:nvCxnSpPr>
          <p:cNvPr id="41" name=""/>
          <p:cNvCxnSpPr>
            <a:stCxn xmlns:a="http://schemas.openxmlformats.org/drawingml/2006/main" id="5" idx="3"/>
            <a:endCxn xmlns:a="http://schemas.openxmlformats.org/drawingml/2006/main" id="13" idx="1"/>
          </p:cNvCxnSpPr>
          <p:nvPr/>
        </p:nvCxnSpPr>
        <p:spPr>
          <a:xfrm xmlns:a="http://schemas.openxmlformats.org/drawingml/2006/main">
            <a:off x="2266950" y="3362325"/>
            <a:ext cx="714375" cy="1171575"/>
          </a:xfrm>
          <a:prstGeom xmlns:a="http://schemas.openxmlformats.org/drawingml/2006/main" prst="bentConnector3">
            <a:avLst>
              <a:gd name="adj1" fmla="val 68000"/>
            </a:avLst>
          </a:prstGeom>
          <a:ln xmlns:a="http://schemas.openxmlformats.org/drawingml/2006/main" w="19050">
            <a:solidFill>
              <a:srgbClr val="234B67"/>
            </a:solidFill>
            <a:tailEnd type="triangle" w="sm" len="sm"/>
          </a:ln>
        </p:spPr>
      </p:cxnSp>
      <p:cxnSp>
        <p:nvCxnSpPr>
          <p:cNvPr id="42" name=""/>
          <p:cNvCxnSpPr>
            <a:stCxn xmlns:a="http://schemas.openxmlformats.org/drawingml/2006/main" id="13" idx="3"/>
            <a:endCxn xmlns:a="http://schemas.openxmlformats.org/drawingml/2006/main" id="14" idx="1"/>
          </p:cNvCxnSpPr>
          <p:nvPr/>
        </p:nvCxnSpPr>
        <p:spPr>
          <a:xfrm xmlns:a="http://schemas.openxmlformats.org/drawingml/2006/main">
            <a:off x="4314825" y="4533900"/>
            <a:ext cx="381000" cy="0"/>
          </a:xfrm>
          <a:prstGeom xmlns:a="http://schemas.openxmlformats.org/drawingml/2006/main" prst="straightConnector1">
            <a:avLst/>
          </a:prstGeom>
          <a:ln xmlns:a="http://schemas.openxmlformats.org/drawingml/2006/main" w="19050">
            <a:solidFill>
              <a:srgbClr val="234B67"/>
            </a:solidFill>
            <a:tailEnd type="triangle" w="sm" len="sm"/>
          </a:ln>
        </p:spPr>
      </p:cxnSp>
      <p:cxnSp>
        <p:nvCxnSpPr>
          <p:cNvPr id="43" name=""/>
          <p:cNvCxnSpPr>
            <a:stCxn xmlns:a="http://schemas.openxmlformats.org/drawingml/2006/main" id="14" idx="3"/>
            <a:endCxn xmlns:a="http://schemas.openxmlformats.org/drawingml/2006/main" id="15" idx="1"/>
          </p:cNvCxnSpPr>
          <p:nvPr/>
        </p:nvCxnSpPr>
        <p:spPr>
          <a:xfrm xmlns:a="http://schemas.openxmlformats.org/drawingml/2006/main">
            <a:off x="6029325" y="4533900"/>
            <a:ext cx="381000" cy="0"/>
          </a:xfrm>
          <a:prstGeom xmlns:a="http://schemas.openxmlformats.org/drawingml/2006/main" prst="straightConnector1">
            <a:avLst/>
          </a:prstGeom>
          <a:ln xmlns:a="http://schemas.openxmlformats.org/drawingml/2006/main" w="19050">
            <a:solidFill>
              <a:srgbClr val="234B67"/>
            </a:solidFill>
            <a:tailEnd type="triangle" w="sm" len="sm"/>
          </a:ln>
        </p:spPr>
      </p:cxnSp>
      <p:cxnSp>
        <p:nvCxnSpPr>
          <p:cNvPr id="44" name=""/>
          <p:cNvCxnSpPr>
            <a:stCxn xmlns:a="http://schemas.openxmlformats.org/drawingml/2006/main" id="15" idx="3"/>
            <a:endCxn xmlns:a="http://schemas.openxmlformats.org/drawingml/2006/main" id="16" idx="1"/>
          </p:cNvCxnSpPr>
          <p:nvPr/>
        </p:nvCxnSpPr>
        <p:spPr>
          <a:xfrm xmlns:a="http://schemas.openxmlformats.org/drawingml/2006/main">
            <a:off x="7743825" y="4533900"/>
            <a:ext cx="381000" cy="0"/>
          </a:xfrm>
          <a:prstGeom xmlns:a="http://schemas.openxmlformats.org/drawingml/2006/main" prst="straightConnector1">
            <a:avLst/>
          </a:prstGeom>
          <a:ln xmlns:a="http://schemas.openxmlformats.org/drawingml/2006/main" w="19050">
            <a:solidFill>
              <a:srgbClr val="234B67"/>
            </a:solidFill>
            <a:tailEnd type="triangle" w="sm" len="sm"/>
          </a:ln>
        </p:spPr>
      </p:cxnSp>
      <p:cxnSp>
        <p:nvCxnSpPr>
          <p:cNvPr id="45" name=""/>
          <p:cNvCxnSpPr>
            <a:stCxn xmlns:a="http://schemas.openxmlformats.org/drawingml/2006/main" id="16" idx="3"/>
            <a:endCxn xmlns:a="http://schemas.openxmlformats.org/drawingml/2006/main" id="8" idx="2"/>
          </p:cNvCxnSpPr>
          <p:nvPr/>
        </p:nvCxnSpPr>
        <p:spPr>
          <a:xfrm xmlns:a="http://schemas.openxmlformats.org/drawingml/2006/main" flipV="1">
            <a:off x="9458325" y="3905250"/>
            <a:ext cx="1304925" cy="628650"/>
          </a:xfrm>
          <a:prstGeom xmlns:a="http://schemas.openxmlformats.org/drawingml/2006/main" prst="bentConnector2">
            <a:avLst/>
          </a:prstGeom>
          <a:ln xmlns:a="http://schemas.openxmlformats.org/drawingml/2006/main" w="19050">
            <a:solidFill>
              <a:srgbClr val="234B67"/>
            </a:solidFill>
            <a:tailEnd type="triangle" w="sm" len="sm"/>
          </a:ln>
        </p:spPr>
      </p:cxnSp>
      <p:sp>
        <p:nvSpPr>
          <p:cNvPr id="22" name="">
            <a:extLst xmlns:a="http://schemas.openxmlformats.org/drawingml/2006/main">
              <a:ext uri="{FF2B5EF4-FFF2-40B4-BE49-F238E27FC236}">
                <a16:creationId xmlns:a16="http://schemas.microsoft.com/office/drawing/2014/main" id="{4508C309-0FFC-46F1-B651-0B160DED70D1}"/>
              </a:ext>
            </a:extLst>
          </p:cNvPr>
          <p:cNvSpPr>
            <a:spLocks xmlns:a="http://schemas.openxmlformats.org/drawingml/2006/main" noGrp="1"/>
          </p:cNvSpPr>
          <p:nvPr/>
        </p:nvSpPr>
        <p:spPr>
          <a:xfrm xmlns:a="http://schemas.openxmlformats.org/drawingml/2006/main">
            <a:off x="723900" y="4086225"/>
            <a:ext cx="180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171"/>
                </a:solidFill>
                <a:latin typeface="Malgun Gothic"/>
                <a:ea typeface="Malgun Gothic"/>
                <a:cs typeface="Malgun Gothic"/>
              </a:defRPr>
            </a:pPr>
            <a:r>
              <a:rPr sz="1650" b="0">
                <a:solidFill>
                  <a:srgbClr val="536171"/>
                </a:solidFill>
                <a:latin typeface="Malgun Gothic"/>
                <a:ea typeface="Malgun Gothic"/>
                <a:cs typeface="Malgun Gothic"/>
              </a:rPr>
              <a:t>60-sample</a:t>
            </a:r>
          </a:p>
          <a:p xmlns:a="http://schemas.openxmlformats.org/drawingml/2006/main">
            <a:pPr>
              <a:defRPr sz="1650" b="0">
                <a:solidFill>
                  <a:srgbClr val="536171"/>
                </a:solidFill>
                <a:latin typeface="Malgun Gothic"/>
                <a:ea typeface="Malgun Gothic"/>
                <a:cs typeface="Malgun Gothic"/>
              </a:defRPr>
            </a:pPr>
            <a:r>
              <a:rPr sz="1650" b="0">
                <a:solidFill>
                  <a:srgbClr val="536171"/>
                </a:solidFill>
                <a:latin typeface="Malgun Gothic"/>
                <a:ea typeface="Malgun Gothic"/>
                <a:cs typeface="Malgun Gothic"/>
              </a:rPr>
              <a:t>window</a:t>
            </a:r>
          </a:p>
        </p:txBody>
      </p:sp>
      <p:sp>
        <p:nvSpPr>
          <p:cNvPr id="23" name="">
            <a:extLst xmlns:a="http://schemas.openxmlformats.org/drawingml/2006/main">
              <a:ext uri="{FF2B5EF4-FFF2-40B4-BE49-F238E27FC236}">
                <a16:creationId xmlns:a16="http://schemas.microsoft.com/office/drawing/2014/main" id="{D2F62985-EAF3-4F04-871F-3BE33CD842C5}"/>
              </a:ext>
            </a:extLst>
          </p:cNvPr>
          <p:cNvSpPr>
            <a:spLocks xmlns:a="http://schemas.openxmlformats.org/drawingml/2006/main" noGrp="1"/>
          </p:cNvSpPr>
          <p:nvPr/>
        </p:nvSpPr>
        <p:spPr>
          <a:xfrm xmlns:a="http://schemas.openxmlformats.org/drawingml/2006/main">
            <a:off x="714375" y="5305425"/>
            <a:ext cx="10810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C"/>
                </a:solidFill>
                <a:latin typeface="Malgun Gothic"/>
                <a:ea typeface="Malgun Gothic"/>
                <a:cs typeface="Malgun Gothic"/>
              </a:defRPr>
            </a:pPr>
            <a:r>
              <a:rPr sz="1950" b="1">
                <a:solidFill>
                  <a:srgbClr val="087F8C"/>
                </a:solidFill>
                <a:latin typeface="Malgun Gothic"/>
                <a:ea typeface="Malgun Gothic"/>
                <a:cs typeface="Malgun Gothic"/>
              </a:rPr>
              <a:t>CNN: 4,081 parameters, 12 epochs on RTX 4070 Ti SUPER</a:t>
            </a:r>
          </a:p>
        </p:txBody>
      </p:sp>
      <p:sp>
        <p:nvSpPr>
          <p:cNvPr id="24" name="">
            <a:extLst xmlns:a="http://schemas.openxmlformats.org/drawingml/2006/main">
              <a:ext uri="{FF2B5EF4-FFF2-40B4-BE49-F238E27FC236}">
                <a16:creationId xmlns:a16="http://schemas.microsoft.com/office/drawing/2014/main" id="{DDC31D3B-783F-433A-A000-99BFB64F191C}"/>
              </a:ext>
            </a:extLst>
          </p:cNvPr>
          <p:cNvSpPr>
            <a:spLocks xmlns:a="http://schemas.openxmlformats.org/drawingml/2006/main" noGrp="1"/>
          </p:cNvSpPr>
          <p:nvPr/>
        </p:nvSpPr>
        <p:spPr>
          <a:xfrm xmlns:a="http://schemas.openxmlformats.org/drawingml/2006/main">
            <a:off x="714375" y="5867400"/>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171"/>
                </a:solidFill>
                <a:latin typeface="Malgun Gothic"/>
                <a:ea typeface="Malgun Gothic"/>
                <a:cs typeface="Malgun Gothic"/>
              </a:defRPr>
            </a:pPr>
            <a:r>
              <a:rPr sz="1725" b="0">
                <a:solidFill>
                  <a:srgbClr val="536171"/>
                </a:solidFill>
                <a:latin typeface="Malgun Gothic"/>
                <a:ea typeface="Malgun Gothic"/>
                <a:cs typeface="Malgun Gothic"/>
              </a:rPr>
              <a:t>Sensitivity: six window settings × two models × two policies = 24 candidates</a:t>
            </a:r>
          </a:p>
        </p:txBody>
      </p:sp>
    </p:spTree>
    <p:extLst>
      <p:ext uri="{BB962C8B-B14F-4D97-AF65-F5344CB8AC3E}">
        <p14:creationId xmlns:p14="http://schemas.microsoft.com/office/powerpoint/2010/main" val="148700221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8BA2E48-3A67-4F1E-813C-5B3866C2BB3A}"/>
              </a:ext>
            </a:extLst>
          </p:cNvPr>
          <p:cNvSpPr>
            <a:spLocks xmlns:a="http://schemas.openxmlformats.org/drawingml/2006/main" noGrp="1"/>
          </p:cNvSpPr>
          <p:nvPr/>
        </p:nvSpPr>
        <p:spPr>
          <a:xfrm xmlns:a="http://schemas.openxmlformats.org/drawingml/2006/main">
            <a:off x="685800" y="428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536"/>
                </a:solidFill>
                <a:latin typeface="Malgun Gothic"/>
                <a:ea typeface="Malgun Gothic"/>
                <a:cs typeface="Malgun Gothic"/>
              </a:defRPr>
            </a:pPr>
            <a:r>
              <a:rPr sz="3300" b="1">
                <a:solidFill>
                  <a:srgbClr val="122536"/>
                </a:solidFill>
                <a:latin typeface="Malgun Gothic"/>
                <a:ea typeface="Malgun Gothic"/>
                <a:cs typeface="Malgun Gothic"/>
              </a:rPr>
              <a:t>The CNN has the lowest development error</a:t>
            </a:r>
          </a:p>
        </p:txBody>
      </p:sp>
      <p:sp>
        <p:nvSpPr>
          <p:cNvPr id="2" name="">
            <a:extLst xmlns:a="http://schemas.openxmlformats.org/drawingml/2006/main">
              <a:ext uri="{FF2B5EF4-FFF2-40B4-BE49-F238E27FC236}">
                <a16:creationId xmlns:a16="http://schemas.microsoft.com/office/drawing/2014/main" id="{B889070A-F39A-49CA-9E6A-909771E34B66}"/>
              </a:ext>
            </a:extLst>
          </p:cNvPr>
          <p:cNvSpPr>
            <a:spLocks xmlns:a="http://schemas.openxmlformats.org/drawingml/2006/main" noGrp="1"/>
          </p:cNvSpPr>
          <p:nvPr/>
        </p:nvSpPr>
        <p:spPr>
          <a:xfrm xmlns:a="http://schemas.openxmlformats.org/drawingml/2006/main">
            <a:off x="685800" y="6391275"/>
            <a:ext cx="952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171"/>
                </a:solidFill>
                <a:latin typeface="Malgun Gothic"/>
                <a:ea typeface="Malgun Gothic"/>
                <a:cs typeface="Malgun Gothic"/>
              </a:defRPr>
            </a:pPr>
            <a:r>
              <a:rPr sz="1200" b="0">
                <a:solidFill>
                  <a:srgbClr val="536171"/>
                </a:solidFill>
                <a:latin typeface="Malgun Gothic"/>
                <a:ea typeface="Malgun Gothic"/>
                <a:cs typeface="Malgun Gothic"/>
              </a:rPr>
              <a:t>DCCS 410  김성현  2021271250</a:t>
            </a:r>
          </a:p>
        </p:txBody>
      </p:sp>
      <p:sp>
        <p:nvSpPr>
          <p:cNvPr id="3" name="">
            <a:extLst xmlns:a="http://schemas.openxmlformats.org/drawingml/2006/main">
              <a:ext uri="{FF2B5EF4-FFF2-40B4-BE49-F238E27FC236}">
                <a16:creationId xmlns:a16="http://schemas.microsoft.com/office/drawing/2014/main" id="{BF27A669-6ECA-44FA-B3B3-304F18CEDA34}"/>
              </a:ext>
            </a:extLst>
          </p:cNvPr>
          <p:cNvSpPr>
            <a:spLocks xmlns:a="http://schemas.openxmlformats.org/drawingml/2006/main" noGrp="1"/>
          </p:cNvSpPr>
          <p:nvPr/>
        </p:nvSpPr>
        <p:spPr>
          <a:xfrm xmlns:a="http://schemas.openxmlformats.org/drawingml/2006/main">
            <a:off x="11049000" y="63912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171"/>
                </a:solidFill>
                <a:latin typeface="Malgun Gothic"/>
                <a:ea typeface="Malgun Gothic"/>
                <a:cs typeface="Malgun Gothic"/>
              </a:defRPr>
            </a:pPr>
            <a:r>
              <a:rPr sz="1200" b="0">
                <a:solidFill>
                  <a:srgbClr val="536171"/>
                </a:solidFill>
                <a:latin typeface="Malgun Gothic"/>
                <a:ea typeface="Malgun Gothic"/>
                <a:cs typeface="Malgun Gothic"/>
              </a:rPr>
              <a:t>04</a:t>
            </a:r>
          </a:p>
        </p:txBody>
      </p:sp>
      <p:graphicFrame>
        <p:nvGraphicFramePr>
          <p:cNvPr id="13" name="Chart"/>
          <p:cNvGraphicFramePr/>
          <p:nvPr/>
        </p:nvGraphicFramePr>
        <p:xfrm>
          <a:off xmlns:a="http://schemas.openxmlformats.org/drawingml/2006/main" x="523875" y="1752600"/>
          <a:ext xmlns:a="http://schemas.openxmlformats.org/drawingml/2006/main" cx="8096250" cy="3943350"/>
        </p:xfrm>
        <a:graphic xmlns:a="http://schemas.openxmlformats.org/drawingml/2006/main">
          <a:graphicData uri="http://schemas.openxmlformats.org/drawingml/2006/chart">
            <c:chart xmlns:r="http://schemas.openxmlformats.org/officeDocument/2006/relationships" xmlns:c="http://schemas.openxmlformats.org/drawingml/2006/chart" r:id="Re06bd78ebf994739"/>
          </a:graphicData>
        </a:graphic>
      </p:graphicFrame>
      <p:sp>
        <p:nvSpPr>
          <p:cNvPr id="5" name="">
            <a:extLst xmlns:a="http://schemas.openxmlformats.org/drawingml/2006/main">
              <a:ext uri="{FF2B5EF4-FFF2-40B4-BE49-F238E27FC236}">
                <a16:creationId xmlns:a16="http://schemas.microsoft.com/office/drawing/2014/main" id="{941C825D-B2DE-4381-BAF2-BCD47850F51F}"/>
              </a:ext>
            </a:extLst>
          </p:cNvPr>
          <p:cNvSpPr>
            <a:spLocks xmlns:a="http://schemas.openxmlformats.org/drawingml/2006/main" noGrp="1"/>
          </p:cNvSpPr>
          <p:nvPr/>
        </p:nvSpPr>
        <p:spPr>
          <a:xfrm xmlns:a="http://schemas.openxmlformats.org/drawingml/2006/main">
            <a:off x="9010650" y="190500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75" b="1">
                <a:solidFill>
                  <a:srgbClr val="087F8C"/>
                </a:solidFill>
                <a:latin typeface="Malgun Gothic"/>
                <a:ea typeface="Malgun Gothic"/>
                <a:cs typeface="Malgun Gothic"/>
              </a:defRPr>
            </a:pPr>
            <a:r>
              <a:rPr sz="5775" b="1">
                <a:solidFill>
                  <a:srgbClr val="087F8C"/>
                </a:solidFill>
                <a:latin typeface="Malgun Gothic"/>
                <a:ea typeface="Malgun Gothic"/>
                <a:cs typeface="Malgun Gothic"/>
              </a:rPr>
              <a:t>5.70</a:t>
            </a:r>
          </a:p>
        </p:txBody>
      </p:sp>
      <p:sp>
        <p:nvSpPr>
          <p:cNvPr id="6" name="">
            <a:extLst xmlns:a="http://schemas.openxmlformats.org/drawingml/2006/main">
              <a:ext uri="{FF2B5EF4-FFF2-40B4-BE49-F238E27FC236}">
                <a16:creationId xmlns:a16="http://schemas.microsoft.com/office/drawing/2014/main" id="{678FDEAC-78D7-4FD2-A5B0-8C3F13422BD7}"/>
              </a:ext>
            </a:extLst>
          </p:cNvPr>
          <p:cNvSpPr>
            <a:spLocks xmlns:a="http://schemas.openxmlformats.org/drawingml/2006/main" noGrp="1"/>
          </p:cNvSpPr>
          <p:nvPr/>
        </p:nvSpPr>
        <p:spPr>
          <a:xfrm xmlns:a="http://schemas.openxmlformats.org/drawingml/2006/main">
            <a:off x="9029700" y="2933700"/>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22536"/>
                </a:solidFill>
                <a:latin typeface="Malgun Gothic"/>
                <a:ea typeface="Malgun Gothic"/>
                <a:cs typeface="Malgun Gothic"/>
              </a:defRPr>
            </a:pPr>
            <a:r>
              <a:rPr sz="1800" b="0">
                <a:solidFill>
                  <a:srgbClr val="122536"/>
                </a:solidFill>
                <a:latin typeface="Malgun Gothic"/>
                <a:ea typeface="Malgun Gothic"/>
                <a:cs typeface="Malgun Gothic"/>
              </a:rPr>
              <a:t>CNN test RMSE</a:t>
            </a:r>
          </a:p>
        </p:txBody>
      </p:sp>
      <p:sp>
        <p:nvSpPr>
          <p:cNvPr id="7" name="">
            <a:extLst xmlns:a="http://schemas.openxmlformats.org/drawingml/2006/main">
              <a:ext uri="{FF2B5EF4-FFF2-40B4-BE49-F238E27FC236}">
                <a16:creationId xmlns:a16="http://schemas.microsoft.com/office/drawing/2014/main" id="{E4E6B624-4F35-4C48-9461-BE38DC723482}"/>
              </a:ext>
            </a:extLst>
          </p:cNvPr>
          <p:cNvSpPr>
            <a:spLocks xmlns:a="http://schemas.openxmlformats.org/drawingml/2006/main" noGrp="1"/>
          </p:cNvSpPr>
          <p:nvPr/>
        </p:nvSpPr>
        <p:spPr>
          <a:xfrm xmlns:a="http://schemas.openxmlformats.org/drawingml/2006/main">
            <a:off x="9010650" y="3905250"/>
            <a:ext cx="257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75" b="1">
                <a:solidFill>
                  <a:srgbClr val="D77938"/>
                </a:solidFill>
                <a:latin typeface="Malgun Gothic"/>
                <a:ea typeface="Malgun Gothic"/>
                <a:cs typeface="Malgun Gothic"/>
              </a:defRPr>
            </a:pPr>
            <a:r>
              <a:rPr sz="4575" b="1">
                <a:solidFill>
                  <a:srgbClr val="D77938"/>
                </a:solidFill>
                <a:latin typeface="Malgun Gothic"/>
                <a:ea typeface="Malgun Gothic"/>
                <a:cs typeface="Malgun Gothic"/>
              </a:rPr>
              <a:t>4.52</a:t>
            </a:r>
          </a:p>
        </p:txBody>
      </p:sp>
      <p:sp>
        <p:nvSpPr>
          <p:cNvPr id="8" name="">
            <a:extLst xmlns:a="http://schemas.openxmlformats.org/drawingml/2006/main">
              <a:ext uri="{FF2B5EF4-FFF2-40B4-BE49-F238E27FC236}">
                <a16:creationId xmlns:a16="http://schemas.microsoft.com/office/drawing/2014/main" id="{98857101-AB40-4E8C-B773-7485948168BF}"/>
              </a:ext>
            </a:extLst>
          </p:cNvPr>
          <p:cNvSpPr>
            <a:spLocks xmlns:a="http://schemas.openxmlformats.org/drawingml/2006/main" noGrp="1"/>
          </p:cNvSpPr>
          <p:nvPr/>
        </p:nvSpPr>
        <p:spPr>
          <a:xfrm xmlns:a="http://schemas.openxmlformats.org/drawingml/2006/main">
            <a:off x="9029700" y="477202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22536"/>
                </a:solidFill>
                <a:latin typeface="Malgun Gothic"/>
                <a:ea typeface="Malgun Gothic"/>
                <a:cs typeface="Malgun Gothic"/>
              </a:defRPr>
            </a:pPr>
            <a:r>
              <a:rPr sz="1800" b="0">
                <a:solidFill>
                  <a:srgbClr val="122536"/>
                </a:solidFill>
                <a:latin typeface="Malgun Gothic"/>
                <a:ea typeface="Malgun Gothic"/>
                <a:cs typeface="Malgun Gothic"/>
              </a:rPr>
              <a:t>CNN test MAE</a:t>
            </a:r>
          </a:p>
        </p:txBody>
      </p:sp>
      <p:sp>
        <p:nvSpPr>
          <p:cNvPr id="9" name="">
            <a:extLst xmlns:a="http://schemas.openxmlformats.org/drawingml/2006/main">
              <a:ext uri="{FF2B5EF4-FFF2-40B4-BE49-F238E27FC236}">
                <a16:creationId xmlns:a16="http://schemas.microsoft.com/office/drawing/2014/main" id="{F7DC1F11-B569-4771-A83B-034DB216084F}"/>
              </a:ext>
            </a:extLst>
          </p:cNvPr>
          <p:cNvSpPr>
            <a:spLocks xmlns:a="http://schemas.openxmlformats.org/drawingml/2006/main" noGrp="1"/>
          </p:cNvSpPr>
          <p:nvPr/>
        </p:nvSpPr>
        <p:spPr>
          <a:xfrm xmlns:a="http://schemas.openxmlformats.org/drawingml/2006/main">
            <a:off x="723900" y="59055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171"/>
                </a:solidFill>
                <a:latin typeface="Malgun Gothic"/>
                <a:ea typeface="Malgun Gothic"/>
                <a:cs typeface="Malgun Gothic"/>
              </a:defRPr>
            </a:pPr>
            <a:r>
              <a:rPr sz="1800" b="0">
                <a:solidFill>
                  <a:srgbClr val="536171"/>
                </a:solidFill>
                <a:latin typeface="Malgun Gothic"/>
                <a:ea typeface="Malgun Gothic"/>
                <a:cs typeface="Malgun Gothic"/>
              </a:rPr>
              <a:t>Model selection uses development CV only. Test scores reuse the test set</a:t>
            </a:r>
          </a:p>
        </p:txBody>
      </p:sp>
    </p:spTree>
    <p:extLst>
      <p:ext uri="{BB962C8B-B14F-4D97-AF65-F5344CB8AC3E}">
        <p14:creationId xmlns:p14="http://schemas.microsoft.com/office/powerpoint/2010/main" val="113579105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80D2CBE-D3E2-4BFD-BD8F-40152D4B9E2B}"/>
              </a:ext>
            </a:extLst>
          </p:cNvPr>
          <p:cNvSpPr>
            <a:spLocks xmlns:a="http://schemas.openxmlformats.org/drawingml/2006/main" noGrp="1"/>
          </p:cNvSpPr>
          <p:nvPr/>
        </p:nvSpPr>
        <p:spPr>
          <a:xfrm xmlns:a="http://schemas.openxmlformats.org/drawingml/2006/main">
            <a:off x="685800" y="428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536"/>
                </a:solidFill>
                <a:latin typeface="Malgun Gothic"/>
                <a:ea typeface="Malgun Gothic"/>
                <a:cs typeface="Malgun Gothic"/>
              </a:defRPr>
            </a:pPr>
            <a:r>
              <a:rPr sz="3300" b="1">
                <a:solidFill>
                  <a:srgbClr val="122536"/>
                </a:solidFill>
                <a:latin typeface="Malgun Gothic"/>
                <a:ea typeface="Malgun Gothic"/>
                <a:cs typeface="Malgun Gothic"/>
              </a:rPr>
              <a:t>Reference RUL and CNN predictions</a:t>
            </a:r>
          </a:p>
        </p:txBody>
      </p:sp>
      <p:sp>
        <p:nvSpPr>
          <p:cNvPr id="2" name="">
            <a:extLst xmlns:a="http://schemas.openxmlformats.org/drawingml/2006/main">
              <a:ext uri="{FF2B5EF4-FFF2-40B4-BE49-F238E27FC236}">
                <a16:creationId xmlns:a16="http://schemas.microsoft.com/office/drawing/2014/main" id="{29E3C126-8174-4DF8-808E-A1FC3FF4F9F7}"/>
              </a:ext>
            </a:extLst>
          </p:cNvPr>
          <p:cNvSpPr>
            <a:spLocks xmlns:a="http://schemas.openxmlformats.org/drawingml/2006/main" noGrp="1"/>
          </p:cNvSpPr>
          <p:nvPr/>
        </p:nvSpPr>
        <p:spPr>
          <a:xfrm xmlns:a="http://schemas.openxmlformats.org/drawingml/2006/main">
            <a:off x="685800" y="6391275"/>
            <a:ext cx="952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171"/>
                </a:solidFill>
                <a:latin typeface="Malgun Gothic"/>
                <a:ea typeface="Malgun Gothic"/>
                <a:cs typeface="Malgun Gothic"/>
              </a:defRPr>
            </a:pPr>
            <a:r>
              <a:rPr sz="1200" b="0">
                <a:solidFill>
                  <a:srgbClr val="536171"/>
                </a:solidFill>
                <a:latin typeface="Malgun Gothic"/>
                <a:ea typeface="Malgun Gothic"/>
                <a:cs typeface="Malgun Gothic"/>
              </a:rPr>
              <a:t>DCCS 410  김성현  2021271250</a:t>
            </a:r>
          </a:p>
        </p:txBody>
      </p:sp>
      <p:sp>
        <p:nvSpPr>
          <p:cNvPr id="3" name="">
            <a:extLst xmlns:a="http://schemas.openxmlformats.org/drawingml/2006/main">
              <a:ext uri="{FF2B5EF4-FFF2-40B4-BE49-F238E27FC236}">
                <a16:creationId xmlns:a16="http://schemas.microsoft.com/office/drawing/2014/main" id="{9FA9E36C-EBFC-4A99-AF43-DEEE86CD93D5}"/>
              </a:ext>
            </a:extLst>
          </p:cNvPr>
          <p:cNvSpPr>
            <a:spLocks xmlns:a="http://schemas.openxmlformats.org/drawingml/2006/main" noGrp="1"/>
          </p:cNvSpPr>
          <p:nvPr/>
        </p:nvSpPr>
        <p:spPr>
          <a:xfrm xmlns:a="http://schemas.openxmlformats.org/drawingml/2006/main">
            <a:off x="11049000" y="63912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171"/>
                </a:solidFill>
                <a:latin typeface="Malgun Gothic"/>
                <a:ea typeface="Malgun Gothic"/>
                <a:cs typeface="Malgun Gothic"/>
              </a:defRPr>
            </a:pPr>
            <a:r>
              <a:rPr sz="1200" b="0">
                <a:solidFill>
                  <a:srgbClr val="536171"/>
                </a:solidFill>
                <a:latin typeface="Malgun Gothic"/>
                <a:ea typeface="Malgun Gothic"/>
                <a:cs typeface="Malgun Gothic"/>
              </a:rPr>
              <a:t>05</a:t>
            </a:r>
          </a:p>
        </p:txBody>
      </p:sp>
      <p:sp>
        <p:nvSpPr>
          <p:cNvPr id="4" name="">
            <a:extLst xmlns:a="http://schemas.openxmlformats.org/drawingml/2006/main">
              <a:ext uri="{FF2B5EF4-FFF2-40B4-BE49-F238E27FC236}">
                <a16:creationId xmlns:a16="http://schemas.microsoft.com/office/drawing/2014/main" id="{3AE32FDC-1980-45AE-B720-8FA4A4829681}"/>
              </a:ext>
            </a:extLst>
          </p:cNvPr>
          <p:cNvSpPr>
            <a:spLocks xmlns:a="http://schemas.openxmlformats.org/drawingml/2006/main" noGrp="1"/>
          </p:cNvSpPr>
          <p:nvPr/>
        </p:nvSpPr>
        <p:spPr>
          <a:xfrm xmlns:a="http://schemas.openxmlformats.org/drawingml/2006/main">
            <a:off x="762000" y="1381125"/>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4B67"/>
                </a:solidFill>
                <a:latin typeface="Malgun Gothic"/>
                <a:ea typeface="Malgun Gothic"/>
                <a:cs typeface="Malgun Gothic"/>
              </a:defRPr>
            </a:pPr>
            <a:r>
              <a:rPr sz="2175" b="1">
                <a:solidFill>
                  <a:srgbClr val="234B67"/>
                </a:solidFill>
                <a:latin typeface="Malgun Gothic"/>
                <a:ea typeface="Malgun Gothic"/>
                <a:cs typeface="Malgun Gothic"/>
              </a:rPr>
              <a:t>Engine 11</a:t>
            </a:r>
          </a:p>
        </p:txBody>
      </p:sp>
      <p:sp>
        <p:nvSpPr>
          <p:cNvPr id="5" name="">
            <a:extLst xmlns:a="http://schemas.openxmlformats.org/drawingml/2006/main">
              <a:ext uri="{FF2B5EF4-FFF2-40B4-BE49-F238E27FC236}">
                <a16:creationId xmlns:a16="http://schemas.microsoft.com/office/drawing/2014/main" id="{C3D69724-F63D-4309-B96D-78FD531E7C29}"/>
              </a:ext>
            </a:extLst>
          </p:cNvPr>
          <p:cNvSpPr>
            <a:spLocks xmlns:a="http://schemas.openxmlformats.org/drawingml/2006/main" noGrp="1"/>
          </p:cNvSpPr>
          <p:nvPr/>
        </p:nvSpPr>
        <p:spPr>
          <a:xfrm xmlns:a="http://schemas.openxmlformats.org/drawingml/2006/main">
            <a:off x="762000" y="1838325"/>
            <a:ext cx="3381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171"/>
                </a:solidFill>
                <a:latin typeface="Malgun Gothic"/>
                <a:ea typeface="Malgun Gothic"/>
                <a:cs typeface="Malgun Gothic"/>
              </a:defRPr>
            </a:pPr>
            <a:r>
              <a:rPr sz="1650" b="0">
                <a:solidFill>
                  <a:srgbClr val="536171"/>
                </a:solidFill>
                <a:latin typeface="Malgun Gothic"/>
                <a:ea typeface="Malgun Gothic"/>
                <a:cs typeface="Malgun Gothic"/>
              </a:rPr>
              <a:t>RMSE 7.48</a:t>
            </a:r>
          </a:p>
        </p:txBody>
      </p:sp>
      <p:graphicFrame>
        <p:nvGraphicFramePr>
          <p:cNvPr id="20" name="Chart"/>
          <p:cNvGraphicFramePr/>
          <p:nvPr/>
        </p:nvGraphicFramePr>
        <p:xfrm>
          <a:off xmlns:a="http://schemas.openxmlformats.org/drawingml/2006/main" x="619125" y="2381250"/>
          <a:ext xmlns:a="http://schemas.openxmlformats.org/drawingml/2006/main" cx="3638550" cy="3162300"/>
        </p:xfrm>
        <a:graphic xmlns:a="http://schemas.openxmlformats.org/drawingml/2006/main">
          <a:graphicData uri="http://schemas.openxmlformats.org/drawingml/2006/chart">
            <c:chart xmlns:r="http://schemas.openxmlformats.org/officeDocument/2006/relationships" xmlns:c="http://schemas.openxmlformats.org/drawingml/2006/chart" r:id="R8c40cffa032d4d38"/>
          </a:graphicData>
        </a:graphic>
      </p:graphicFrame>
      <p:sp>
        <p:nvSpPr>
          <p:cNvPr id="7" name="">
            <a:extLst xmlns:a="http://schemas.openxmlformats.org/drawingml/2006/main">
              <a:ext uri="{FF2B5EF4-FFF2-40B4-BE49-F238E27FC236}">
                <a16:creationId xmlns:a16="http://schemas.microsoft.com/office/drawing/2014/main" id="{35F340EB-091B-44C1-B44F-5E3845E951E0}"/>
              </a:ext>
            </a:extLst>
          </p:cNvPr>
          <p:cNvSpPr>
            <a:spLocks xmlns:a="http://schemas.openxmlformats.org/drawingml/2006/main" noGrp="1"/>
          </p:cNvSpPr>
          <p:nvPr/>
        </p:nvSpPr>
        <p:spPr>
          <a:xfrm xmlns:a="http://schemas.openxmlformats.org/drawingml/2006/main">
            <a:off x="4552950" y="1381125"/>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4B67"/>
                </a:solidFill>
                <a:latin typeface="Malgun Gothic"/>
                <a:ea typeface="Malgun Gothic"/>
                <a:cs typeface="Malgun Gothic"/>
              </a:defRPr>
            </a:pPr>
            <a:r>
              <a:rPr sz="2175" b="1">
                <a:solidFill>
                  <a:srgbClr val="234B67"/>
                </a:solidFill>
                <a:latin typeface="Malgun Gothic"/>
                <a:ea typeface="Malgun Gothic"/>
                <a:cs typeface="Malgun Gothic"/>
              </a:rPr>
              <a:t>Engine 14</a:t>
            </a:r>
          </a:p>
        </p:txBody>
      </p:sp>
      <p:sp>
        <p:nvSpPr>
          <p:cNvPr id="8" name="">
            <a:extLst xmlns:a="http://schemas.openxmlformats.org/drawingml/2006/main">
              <a:ext uri="{FF2B5EF4-FFF2-40B4-BE49-F238E27FC236}">
                <a16:creationId xmlns:a16="http://schemas.microsoft.com/office/drawing/2014/main" id="{CAE96480-7244-4777-870C-3D216B6159F1}"/>
              </a:ext>
            </a:extLst>
          </p:cNvPr>
          <p:cNvSpPr>
            <a:spLocks xmlns:a="http://schemas.openxmlformats.org/drawingml/2006/main" noGrp="1"/>
          </p:cNvSpPr>
          <p:nvPr/>
        </p:nvSpPr>
        <p:spPr>
          <a:xfrm xmlns:a="http://schemas.openxmlformats.org/drawingml/2006/main">
            <a:off x="4552950" y="1838325"/>
            <a:ext cx="3381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171"/>
                </a:solidFill>
                <a:latin typeface="Malgun Gothic"/>
                <a:ea typeface="Malgun Gothic"/>
                <a:cs typeface="Malgun Gothic"/>
              </a:defRPr>
            </a:pPr>
            <a:r>
              <a:rPr sz="1650" b="0">
                <a:solidFill>
                  <a:srgbClr val="536171"/>
                </a:solidFill>
                <a:latin typeface="Malgun Gothic"/>
                <a:ea typeface="Malgun Gothic"/>
                <a:cs typeface="Malgun Gothic"/>
              </a:rPr>
              <a:t>RMSE 6.15</a:t>
            </a:r>
          </a:p>
        </p:txBody>
      </p:sp>
      <p:graphicFrame>
        <p:nvGraphicFramePr>
          <p:cNvPr id="23" name="Chart"/>
          <p:cNvGraphicFramePr/>
          <p:nvPr/>
        </p:nvGraphicFramePr>
        <p:xfrm>
          <a:off xmlns:a="http://schemas.openxmlformats.org/drawingml/2006/main" x="4410075" y="2381250"/>
          <a:ext xmlns:a="http://schemas.openxmlformats.org/drawingml/2006/main" cx="3638550" cy="3162300"/>
        </p:xfrm>
        <a:graphic xmlns:a="http://schemas.openxmlformats.org/drawingml/2006/main">
          <a:graphicData uri="http://schemas.openxmlformats.org/drawingml/2006/chart">
            <c:chart xmlns:r="http://schemas.openxmlformats.org/officeDocument/2006/relationships" xmlns:c="http://schemas.openxmlformats.org/drawingml/2006/chart" r:id="R8af67b8b5d1d4761"/>
          </a:graphicData>
        </a:graphic>
      </p:graphicFrame>
      <p:sp>
        <p:nvSpPr>
          <p:cNvPr id="10" name="">
            <a:extLst xmlns:a="http://schemas.openxmlformats.org/drawingml/2006/main">
              <a:ext uri="{FF2B5EF4-FFF2-40B4-BE49-F238E27FC236}">
                <a16:creationId xmlns:a16="http://schemas.microsoft.com/office/drawing/2014/main" id="{D277427D-C564-4F87-B1AC-B9A5857A44FC}"/>
              </a:ext>
            </a:extLst>
          </p:cNvPr>
          <p:cNvSpPr>
            <a:spLocks xmlns:a="http://schemas.openxmlformats.org/drawingml/2006/main" noGrp="1"/>
          </p:cNvSpPr>
          <p:nvPr/>
        </p:nvSpPr>
        <p:spPr>
          <a:xfrm xmlns:a="http://schemas.openxmlformats.org/drawingml/2006/main">
            <a:off x="8343900" y="1381125"/>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4B67"/>
                </a:solidFill>
                <a:latin typeface="Malgun Gothic"/>
                <a:ea typeface="Malgun Gothic"/>
                <a:cs typeface="Malgun Gothic"/>
              </a:defRPr>
            </a:pPr>
            <a:r>
              <a:rPr sz="2175" b="1">
                <a:solidFill>
                  <a:srgbClr val="234B67"/>
                </a:solidFill>
                <a:latin typeface="Malgun Gothic"/>
                <a:ea typeface="Malgun Gothic"/>
                <a:cs typeface="Malgun Gothic"/>
              </a:rPr>
              <a:t>Engine 15</a:t>
            </a:r>
          </a:p>
        </p:txBody>
      </p:sp>
      <p:sp>
        <p:nvSpPr>
          <p:cNvPr id="11" name="">
            <a:extLst xmlns:a="http://schemas.openxmlformats.org/drawingml/2006/main">
              <a:ext uri="{FF2B5EF4-FFF2-40B4-BE49-F238E27FC236}">
                <a16:creationId xmlns:a16="http://schemas.microsoft.com/office/drawing/2014/main" id="{F31EFB97-B236-4137-BC79-3B367657F335}"/>
              </a:ext>
            </a:extLst>
          </p:cNvPr>
          <p:cNvSpPr>
            <a:spLocks xmlns:a="http://schemas.openxmlformats.org/drawingml/2006/main" noGrp="1"/>
          </p:cNvSpPr>
          <p:nvPr/>
        </p:nvSpPr>
        <p:spPr>
          <a:xfrm xmlns:a="http://schemas.openxmlformats.org/drawingml/2006/main">
            <a:off x="8343900" y="1838325"/>
            <a:ext cx="3381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171"/>
                </a:solidFill>
                <a:latin typeface="Malgun Gothic"/>
                <a:ea typeface="Malgun Gothic"/>
                <a:cs typeface="Malgun Gothic"/>
              </a:defRPr>
            </a:pPr>
            <a:r>
              <a:rPr sz="1650" b="0">
                <a:solidFill>
                  <a:srgbClr val="536171"/>
                </a:solidFill>
                <a:latin typeface="Malgun Gothic"/>
                <a:ea typeface="Malgun Gothic"/>
                <a:cs typeface="Malgun Gothic"/>
              </a:rPr>
              <a:t>RMSE 3.46</a:t>
            </a:r>
          </a:p>
        </p:txBody>
      </p:sp>
      <p:graphicFrame>
        <p:nvGraphicFramePr>
          <p:cNvPr id="26" name="Chart"/>
          <p:cNvGraphicFramePr/>
          <p:nvPr/>
        </p:nvGraphicFramePr>
        <p:xfrm>
          <a:off xmlns:a="http://schemas.openxmlformats.org/drawingml/2006/main" x="8201025" y="2381250"/>
          <a:ext xmlns:a="http://schemas.openxmlformats.org/drawingml/2006/main" cx="3638550" cy="3162300"/>
        </p:xfrm>
        <a:graphic xmlns:a="http://schemas.openxmlformats.org/drawingml/2006/main">
          <a:graphicData uri="http://schemas.openxmlformats.org/drawingml/2006/chart">
            <c:chart xmlns:r="http://schemas.openxmlformats.org/officeDocument/2006/relationships" xmlns:c="http://schemas.openxmlformats.org/drawingml/2006/chart" r:id="R6075639cf4dc4488"/>
          </a:graphicData>
        </a:graphic>
      </p:graphicFrame>
      <p:sp>
        <p:nvSpPr>
          <p:cNvPr id="13" name="">
            <a:extLst xmlns:a="http://schemas.openxmlformats.org/drawingml/2006/main">
              <a:ext uri="{FF2B5EF4-FFF2-40B4-BE49-F238E27FC236}">
                <a16:creationId xmlns:a16="http://schemas.microsoft.com/office/drawing/2014/main" id="{7A60BAD0-C797-449E-91A3-F31583147CFC}"/>
              </a:ext>
            </a:extLst>
          </p:cNvPr>
          <p:cNvSpPr>
            <a:spLocks xmlns:a="http://schemas.openxmlformats.org/drawingml/2006/main" noGrp="1"/>
          </p:cNvSpPr>
          <p:nvPr/>
        </p:nvSpPr>
        <p:spPr>
          <a:xfrm xmlns:a="http://schemas.openxmlformats.org/drawingml/2006/main">
            <a:off x="723900" y="56388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C"/>
                </a:solidFill>
                <a:latin typeface="Malgun Gothic"/>
                <a:ea typeface="Malgun Gothic"/>
                <a:cs typeface="Malgun Gothic"/>
              </a:defRPr>
            </a:pPr>
            <a:r>
              <a:rPr sz="2025" b="1">
                <a:solidFill>
                  <a:srgbClr val="087F8C"/>
                </a:solidFill>
                <a:latin typeface="Malgun Gothic"/>
                <a:ea typeface="Malgun Gothic"/>
                <a:cs typeface="Malgun Gothic"/>
              </a:rPr>
              <a:t>The prediction path also produces results for 202 flights without reading Y</a:t>
            </a:r>
          </a:p>
        </p:txBody>
      </p:sp>
      <p:sp>
        <p:nvSpPr>
          <p:cNvPr id="14" name="">
            <a:extLst xmlns:a="http://schemas.openxmlformats.org/drawingml/2006/main">
              <a:ext uri="{FF2B5EF4-FFF2-40B4-BE49-F238E27FC236}">
                <a16:creationId xmlns:a16="http://schemas.microsoft.com/office/drawing/2014/main" id="{138443CE-2574-41FC-A39D-5727DA255603}"/>
              </a:ext>
            </a:extLst>
          </p:cNvPr>
          <p:cNvSpPr>
            <a:spLocks xmlns:a="http://schemas.openxmlformats.org/drawingml/2006/main" noGrp="1"/>
          </p:cNvSpPr>
          <p:nvPr/>
        </p:nvSpPr>
        <p:spPr>
          <a:xfrm xmlns:a="http://schemas.openxmlformats.org/drawingml/2006/main">
            <a:off x="723900" y="6057900"/>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171"/>
                </a:solidFill>
                <a:latin typeface="Malgun Gothic"/>
                <a:ea typeface="Malgun Gothic"/>
                <a:cs typeface="Malgun Gothic"/>
              </a:defRPr>
            </a:pPr>
            <a:r>
              <a:rPr sz="1425" b="0">
                <a:solidFill>
                  <a:srgbClr val="536171"/>
                </a:solidFill>
                <a:latin typeface="Malgun Gothic"/>
                <a:ea typeface="Malgun Gothic"/>
                <a:cs typeface="Malgun Gothic"/>
              </a:rPr>
              <a:t>Reference curves support evaluation. Predictions average windows at flight end</a:t>
            </a:r>
          </a:p>
        </p:txBody>
      </p:sp>
    </p:spTree>
    <p:extLst>
      <p:ext uri="{BB962C8B-B14F-4D97-AF65-F5344CB8AC3E}">
        <p14:creationId xmlns:p14="http://schemas.microsoft.com/office/powerpoint/2010/main" val="34862108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0D1DC72-8368-4120-9519-0ED737EFAF28}"/>
              </a:ext>
            </a:extLst>
          </p:cNvPr>
          <p:cNvSpPr>
            <a:spLocks xmlns:a="http://schemas.openxmlformats.org/drawingml/2006/main" noGrp="1"/>
          </p:cNvSpPr>
          <p:nvPr/>
        </p:nvSpPr>
        <p:spPr>
          <a:xfrm xmlns:a="http://schemas.openxmlformats.org/drawingml/2006/main">
            <a:off x="685800" y="428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536"/>
                </a:solidFill>
                <a:latin typeface="Malgun Gothic"/>
                <a:ea typeface="Malgun Gothic"/>
                <a:cs typeface="Malgun Gothic"/>
              </a:defRPr>
            </a:pPr>
            <a:r>
              <a:rPr sz="3300" b="1">
                <a:solidFill>
                  <a:srgbClr val="122536"/>
                </a:solidFill>
                <a:latin typeface="Malgun Gothic"/>
                <a:ea typeface="Malgun Gothic"/>
                <a:cs typeface="Malgun Gothic"/>
              </a:rPr>
              <a:t>Four workers give the shortest median time</a:t>
            </a:r>
          </a:p>
        </p:txBody>
      </p:sp>
      <p:sp>
        <p:nvSpPr>
          <p:cNvPr id="2" name="">
            <a:extLst xmlns:a="http://schemas.openxmlformats.org/drawingml/2006/main">
              <a:ext uri="{FF2B5EF4-FFF2-40B4-BE49-F238E27FC236}">
                <a16:creationId xmlns:a16="http://schemas.microsoft.com/office/drawing/2014/main" id="{49EDAC17-037D-4BA4-8B39-12CDF9E767C3}"/>
              </a:ext>
            </a:extLst>
          </p:cNvPr>
          <p:cNvSpPr>
            <a:spLocks xmlns:a="http://schemas.openxmlformats.org/drawingml/2006/main" noGrp="1"/>
          </p:cNvSpPr>
          <p:nvPr/>
        </p:nvSpPr>
        <p:spPr>
          <a:xfrm xmlns:a="http://schemas.openxmlformats.org/drawingml/2006/main">
            <a:off x="685800" y="6391275"/>
            <a:ext cx="952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171"/>
                </a:solidFill>
                <a:latin typeface="Malgun Gothic"/>
                <a:ea typeface="Malgun Gothic"/>
                <a:cs typeface="Malgun Gothic"/>
              </a:defRPr>
            </a:pPr>
            <a:r>
              <a:rPr sz="1200" b="0">
                <a:solidFill>
                  <a:srgbClr val="536171"/>
                </a:solidFill>
                <a:latin typeface="Malgun Gothic"/>
                <a:ea typeface="Malgun Gothic"/>
                <a:cs typeface="Malgun Gothic"/>
              </a:rPr>
              <a:t>DCCS 410  김성현  2021271250</a:t>
            </a:r>
          </a:p>
        </p:txBody>
      </p:sp>
      <p:sp>
        <p:nvSpPr>
          <p:cNvPr id="3" name="">
            <a:extLst xmlns:a="http://schemas.openxmlformats.org/drawingml/2006/main">
              <a:ext uri="{FF2B5EF4-FFF2-40B4-BE49-F238E27FC236}">
                <a16:creationId xmlns:a16="http://schemas.microsoft.com/office/drawing/2014/main" id="{F2246307-4810-49FA-999A-D4F690F6723F}"/>
              </a:ext>
            </a:extLst>
          </p:cNvPr>
          <p:cNvSpPr>
            <a:spLocks xmlns:a="http://schemas.openxmlformats.org/drawingml/2006/main" noGrp="1"/>
          </p:cNvSpPr>
          <p:nvPr/>
        </p:nvSpPr>
        <p:spPr>
          <a:xfrm xmlns:a="http://schemas.openxmlformats.org/drawingml/2006/main">
            <a:off x="11049000" y="63912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171"/>
                </a:solidFill>
                <a:latin typeface="Malgun Gothic"/>
                <a:ea typeface="Malgun Gothic"/>
                <a:cs typeface="Malgun Gothic"/>
              </a:defRPr>
            </a:pPr>
            <a:r>
              <a:rPr sz="1200" b="0">
                <a:solidFill>
                  <a:srgbClr val="536171"/>
                </a:solidFill>
                <a:latin typeface="Malgun Gothic"/>
                <a:ea typeface="Malgun Gothic"/>
                <a:cs typeface="Malgun Gothic"/>
              </a:rPr>
              <a:t>06</a:t>
            </a:r>
          </a:p>
        </p:txBody>
      </p:sp>
      <p:graphicFrame>
        <p:nvGraphicFramePr>
          <p:cNvPr id="13" name="Chart"/>
          <p:cNvGraphicFramePr/>
          <p:nvPr/>
        </p:nvGraphicFramePr>
        <p:xfrm>
          <a:off xmlns:a="http://schemas.openxmlformats.org/drawingml/2006/main" x="523875" y="1771650"/>
          <a:ext xmlns:a="http://schemas.openxmlformats.org/drawingml/2006/main" cx="7953375" cy="3657600"/>
        </p:xfrm>
        <a:graphic xmlns:a="http://schemas.openxmlformats.org/drawingml/2006/main">
          <a:graphicData uri="http://schemas.openxmlformats.org/drawingml/2006/chart">
            <c:chart xmlns:r="http://schemas.openxmlformats.org/officeDocument/2006/relationships" xmlns:c="http://schemas.openxmlformats.org/drawingml/2006/chart" r:id="Rdfac4c2f9c7f42f8"/>
          </a:graphicData>
        </a:graphic>
      </p:graphicFrame>
      <p:sp>
        <p:nvSpPr>
          <p:cNvPr id="5" name="">
            <a:extLst xmlns:a="http://schemas.openxmlformats.org/drawingml/2006/main">
              <a:ext uri="{FF2B5EF4-FFF2-40B4-BE49-F238E27FC236}">
                <a16:creationId xmlns:a16="http://schemas.microsoft.com/office/drawing/2014/main" id="{FB97096C-03F9-4CF1-8894-075222EBBDDE}"/>
              </a:ext>
            </a:extLst>
          </p:cNvPr>
          <p:cNvSpPr>
            <a:spLocks xmlns:a="http://schemas.openxmlformats.org/drawingml/2006/main" noGrp="1"/>
          </p:cNvSpPr>
          <p:nvPr/>
        </p:nvSpPr>
        <p:spPr>
          <a:xfrm xmlns:a="http://schemas.openxmlformats.org/drawingml/2006/main">
            <a:off x="8953500" y="1914525"/>
            <a:ext cx="2619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75" b="1">
                <a:solidFill>
                  <a:srgbClr val="087F8C"/>
                </a:solidFill>
                <a:latin typeface="Malgun Gothic"/>
                <a:ea typeface="Malgun Gothic"/>
                <a:cs typeface="Malgun Gothic"/>
              </a:defRPr>
            </a:pPr>
            <a:r>
              <a:rPr sz="5475" b="1">
                <a:solidFill>
                  <a:srgbClr val="087F8C"/>
                </a:solidFill>
                <a:latin typeface="Malgun Gothic"/>
                <a:ea typeface="Malgun Gothic"/>
                <a:cs typeface="Malgun Gothic"/>
              </a:rPr>
              <a:t>1.46×</a:t>
            </a:r>
          </a:p>
        </p:txBody>
      </p:sp>
      <p:sp>
        <p:nvSpPr>
          <p:cNvPr id="6" name="">
            <a:extLst xmlns:a="http://schemas.openxmlformats.org/drawingml/2006/main">
              <a:ext uri="{FF2B5EF4-FFF2-40B4-BE49-F238E27FC236}">
                <a16:creationId xmlns:a16="http://schemas.microsoft.com/office/drawing/2014/main" id="{93489D18-2A9A-4BBF-ADAD-ACE931310D7D}"/>
              </a:ext>
            </a:extLst>
          </p:cNvPr>
          <p:cNvSpPr>
            <a:spLocks xmlns:a="http://schemas.openxmlformats.org/drawingml/2006/main" noGrp="1"/>
          </p:cNvSpPr>
          <p:nvPr/>
        </p:nvSpPr>
        <p:spPr>
          <a:xfrm xmlns:a="http://schemas.openxmlformats.org/drawingml/2006/main">
            <a:off x="8982075" y="2933700"/>
            <a:ext cx="2571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2536"/>
                </a:solidFill>
                <a:latin typeface="Malgun Gothic"/>
                <a:ea typeface="Malgun Gothic"/>
                <a:cs typeface="Malgun Gothic"/>
              </a:defRPr>
            </a:pPr>
            <a:r>
              <a:rPr sz="2025" b="0">
                <a:solidFill>
                  <a:srgbClr val="122536"/>
                </a:solidFill>
                <a:latin typeface="Malgun Gothic"/>
                <a:ea typeface="Malgun Gothic"/>
                <a:cs typeface="Malgun Gothic"/>
              </a:rPr>
              <a:t>Four workers</a:t>
            </a:r>
          </a:p>
          <a:p xmlns:a="http://schemas.openxmlformats.org/drawingml/2006/main">
            <a:pPr>
              <a:defRPr sz="2025" b="0">
                <a:solidFill>
                  <a:srgbClr val="122536"/>
                </a:solidFill>
                <a:latin typeface="Malgun Gothic"/>
                <a:ea typeface="Malgun Gothic"/>
                <a:cs typeface="Malgun Gothic"/>
              </a:defRPr>
            </a:pPr>
            <a:r>
              <a:rPr sz="2025" b="0">
                <a:solidFill>
                  <a:srgbClr val="122536"/>
                </a:solidFill>
                <a:latin typeface="Malgun Gothic"/>
                <a:ea typeface="Malgun Gothic"/>
                <a:cs typeface="Malgun Gothic"/>
              </a:rPr>
              <a:t>Median speedup</a:t>
            </a:r>
          </a:p>
        </p:txBody>
      </p:sp>
      <p:sp>
        <p:nvSpPr>
          <p:cNvPr id="7" name="">
            <a:extLst xmlns:a="http://schemas.openxmlformats.org/drawingml/2006/main">
              <a:ext uri="{FF2B5EF4-FFF2-40B4-BE49-F238E27FC236}">
                <a16:creationId xmlns:a16="http://schemas.microsoft.com/office/drawing/2014/main" id="{8AEE9632-9010-4982-B2BC-C32BCB739CB1}"/>
              </a:ext>
            </a:extLst>
          </p:cNvPr>
          <p:cNvSpPr>
            <a:spLocks xmlns:a="http://schemas.openxmlformats.org/drawingml/2006/main" noGrp="1"/>
          </p:cNvSpPr>
          <p:nvPr/>
        </p:nvSpPr>
        <p:spPr>
          <a:xfrm xmlns:a="http://schemas.openxmlformats.org/drawingml/2006/main">
            <a:off x="8982075" y="4191000"/>
            <a:ext cx="2590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D77938"/>
                </a:solidFill>
                <a:latin typeface="Malgun Gothic"/>
                <a:ea typeface="Malgun Gothic"/>
                <a:cs typeface="Malgun Gothic"/>
              </a:defRPr>
            </a:pPr>
            <a:r>
              <a:rPr sz="1875" b="0">
                <a:solidFill>
                  <a:srgbClr val="D77938"/>
                </a:solidFill>
                <a:latin typeface="Malgun Gothic"/>
                <a:ea typeface="Malgun Gothic"/>
                <a:cs typeface="Malgun Gothic"/>
              </a:rPr>
              <a:t>Maximum 2.29 s</a:t>
            </a:r>
          </a:p>
          <a:p xmlns:a="http://schemas.openxmlformats.org/drawingml/2006/main">
            <a:pPr>
              <a:defRPr sz="1875" b="0">
                <a:solidFill>
                  <a:srgbClr val="D77938"/>
                </a:solidFill>
                <a:latin typeface="Malgun Gothic"/>
                <a:ea typeface="Malgun Gothic"/>
                <a:cs typeface="Malgun Gothic"/>
              </a:defRPr>
            </a:pPr>
            <a:r>
              <a:rPr sz="1875" b="0">
                <a:solidFill>
                  <a:srgbClr val="D77938"/>
                </a:solidFill>
                <a:latin typeface="Malgun Gothic"/>
                <a:ea typeface="Malgun Gothic"/>
                <a:cs typeface="Malgun Gothic"/>
              </a:rPr>
              <a:t>Runs vary</a:t>
            </a:r>
          </a:p>
        </p:txBody>
      </p:sp>
      <p:sp>
        <p:nvSpPr>
          <p:cNvPr id="8" name="">
            <a:extLst xmlns:a="http://schemas.openxmlformats.org/drawingml/2006/main">
              <a:ext uri="{FF2B5EF4-FFF2-40B4-BE49-F238E27FC236}">
                <a16:creationId xmlns:a16="http://schemas.microsoft.com/office/drawing/2014/main" id="{CF7BD419-E07C-4436-BBEC-2E215BB6CF7B}"/>
              </a:ext>
            </a:extLst>
          </p:cNvPr>
          <p:cNvSpPr>
            <a:spLocks xmlns:a="http://schemas.openxmlformats.org/drawingml/2006/main" noGrp="1"/>
          </p:cNvSpPr>
          <p:nvPr/>
        </p:nvSpPr>
        <p:spPr>
          <a:xfrm xmlns:a="http://schemas.openxmlformats.org/drawingml/2006/main">
            <a:off x="723900" y="56007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171"/>
                </a:solidFill>
                <a:latin typeface="Malgun Gothic"/>
                <a:ea typeface="Malgun Gothic"/>
                <a:cs typeface="Malgun Gothic"/>
              </a:defRPr>
            </a:pPr>
            <a:r>
              <a:rPr sz="1725" b="0">
                <a:solidFill>
                  <a:srgbClr val="536171"/>
                </a:solidFill>
                <a:latin typeface="Malgun Gothic"/>
                <a:ea typeface="Malgun Gothic"/>
                <a:cs typeface="Malgun Gothic"/>
              </a:rPr>
              <a:t>Three repeats, warm OS cache, 120,000-row chunks, window/stride 60/60</a:t>
            </a:r>
          </a:p>
        </p:txBody>
      </p:sp>
      <p:sp>
        <p:nvSpPr>
          <p:cNvPr id="9" name="">
            <a:extLst xmlns:a="http://schemas.openxmlformats.org/drawingml/2006/main">
              <a:ext uri="{FF2B5EF4-FFF2-40B4-BE49-F238E27FC236}">
                <a16:creationId xmlns:a16="http://schemas.microsoft.com/office/drawing/2014/main" id="{241CE7B8-28BA-4BEA-B3A3-7AE2BC37419B}"/>
              </a:ext>
            </a:extLst>
          </p:cNvPr>
          <p:cNvSpPr>
            <a:spLocks xmlns:a="http://schemas.openxmlformats.org/drawingml/2006/main" noGrp="1"/>
          </p:cNvSpPr>
          <p:nvPr/>
        </p:nvSpPr>
        <p:spPr>
          <a:xfrm xmlns:a="http://schemas.openxmlformats.org/drawingml/2006/main">
            <a:off x="723900" y="60674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22536"/>
                </a:solidFill>
                <a:latin typeface="Malgun Gothic"/>
                <a:ea typeface="Malgun Gothic"/>
                <a:cs typeface="Malgun Gothic"/>
              </a:defRPr>
            </a:pPr>
            <a:r>
              <a:rPr sz="1650" b="0">
                <a:solidFill>
                  <a:srgbClr val="122536"/>
                </a:solidFill>
                <a:latin typeface="Malgun Gothic"/>
                <a:ea typeface="Malgun Gothic"/>
                <a:cs typeface="Malgun Gothic"/>
              </a:rPr>
              <a:t>Scope: nine simulated engines, reused tests, no external or real-aircraft validation</a:t>
            </a:r>
          </a:p>
        </p:txBody>
      </p:sp>
    </p:spTree>
    <p:extLst>
      <p:ext uri="{BB962C8B-B14F-4D97-AF65-F5344CB8AC3E}">
        <p14:creationId xmlns:p14="http://schemas.microsoft.com/office/powerpoint/2010/main" val="13782543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2026-10-02T12:47:51.3870000Z</dcterms:created>
  <dcterms:modified xsi:type="dcterms:W3CDTF">2026-10-02T12:47:51.3870000Z</dcterms:modified>
</coreProperties>
</file>