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6.xml" ContentType="application/vnd.openxmlformats-officedocument.drawingml.chart+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b064bab87cf4db8" /><Relationship Type="http://schemas.openxmlformats.org/officeDocument/2006/relationships/extended-properties" Target="/docProps/app.xml" Id="R334b4a8694ac4606" /><Relationship Type="http://schemas.openxmlformats.org/officeDocument/2006/relationships/officeDocument" Target="/ppt/presentation.xml" Id="R98451e67db434a35" /></Relationships>
</file>

<file path=ppt/presentation.xml><?xml version="1.0" encoding="utf-8"?>
<p:presentation xmlns:p="http://schemas.openxmlformats.org/presentationml/2006/main">
  <p:sldMasterIdLst>
    <p:sldMasterId xmlns:r="http://schemas.openxmlformats.org/officeDocument/2006/relationships" id="2147483648" r:id="Rd30236693ce746a7"/>
  </p:sldMasterIdLst>
  <p:notesMasterIdLst>
    <p:notesMasterId xmlns:r="http://schemas.openxmlformats.org/officeDocument/2006/relationships" r:id="R14c998700244492f"/>
  </p:notesMasterIdLst>
  <p:sldIdLst>
    <p:sldId xmlns:r="http://schemas.openxmlformats.org/officeDocument/2006/relationships" id="256" r:id="R84d2c921f27b4f75"/>
    <p:sldId xmlns:r="http://schemas.openxmlformats.org/officeDocument/2006/relationships" id="257" r:id="R0ffd15b11fcb4479"/>
    <p:sldId xmlns:r="http://schemas.openxmlformats.org/officeDocument/2006/relationships" id="258" r:id="R730617010bc94377"/>
    <p:sldId xmlns:r="http://schemas.openxmlformats.org/officeDocument/2006/relationships" id="259" r:id="Rea5c304b5a684e7c"/>
    <p:sldId xmlns:r="http://schemas.openxmlformats.org/officeDocument/2006/relationships" id="260" r:id="R176d1bb82c2e48b8"/>
    <p:sldId xmlns:r="http://schemas.openxmlformats.org/officeDocument/2006/relationships" id="261" r:id="Rb4c1742d703d4c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376b5dd3cf4953" /><Relationship Type="http://schemas.openxmlformats.org/officeDocument/2006/relationships/slideMaster" Target="/ppt/slideMasters/slideMaster1.xml" Id="Rd30236693ce746a7" /><Relationship Type="http://schemas.openxmlformats.org/officeDocument/2006/relationships/notesMaster" Target="/ppt/notesMasters/notesMaster1.xml" Id="R14c998700244492f" /><Relationship Type="http://schemas.openxmlformats.org/officeDocument/2006/relationships/presProps" Target="/ppt/presProps.xml" Id="Re5d9e6bd432544ed" /><Relationship Type="http://schemas.openxmlformats.org/officeDocument/2006/relationships/tableStyles" Target="/ppt/tableStyles.xml" Id="R878d2a4594d142ab" /><Relationship Type="http://schemas.openxmlformats.org/officeDocument/2006/relationships/slide" Target="/ppt/slides/slide1.xml" Id="R84d2c921f27b4f75" /><Relationship Type="http://schemas.openxmlformats.org/officeDocument/2006/relationships/slide" Target="/ppt/slides/slide2.xml" Id="R0ffd15b11fcb4479" /><Relationship Type="http://schemas.openxmlformats.org/officeDocument/2006/relationships/slide" Target="/ppt/slides/slide3.xml" Id="R730617010bc94377" /><Relationship Type="http://schemas.openxmlformats.org/officeDocument/2006/relationships/slide" Target="/ppt/slides/slide4.xml" Id="Rea5c304b5a684e7c" /><Relationship Type="http://schemas.openxmlformats.org/officeDocument/2006/relationships/slide" Target="/ppt/slides/slide5.xml" Id="R176d1bb82c2e48b8" /><Relationship Type="http://schemas.openxmlformats.org/officeDocument/2006/relationships/slide" Target="/ppt/slides/slide6.xml" Id="Rb4c1742d703d4c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3472e4752547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89f50b90874cf8" /><Relationship Type="http://schemas.openxmlformats.org/officeDocument/2006/relationships/notesMaster" Target="/ppt/notesMasters/notesMaster1.xml" Id="Rc945ebf72e204f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64945fb5a34beb" /><Relationship Type="http://schemas.openxmlformats.org/officeDocument/2006/relationships/notesMaster" Target="/ppt/notesMasters/notesMaster1.xml" Id="Rd7251aaa369648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d2f083909e4d45" /><Relationship Type="http://schemas.openxmlformats.org/officeDocument/2006/relationships/notesMaster" Target="/ppt/notesMasters/notesMaster1.xml" Id="R73c286c2131749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2c33c495c44cea" /><Relationship Type="http://schemas.openxmlformats.org/officeDocument/2006/relationships/notesMaster" Target="/ppt/notesMasters/notesMaster1.xml" Id="R16d42521916148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0f41e88ba240a8" /><Relationship Type="http://schemas.openxmlformats.org/officeDocument/2006/relationships/notesMaster" Target="/ppt/notesMasters/notesMaster1.xml" Id="Rd9b05b841cc54e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12e2b3e04b411a" /><Relationship Type="http://schemas.openxmlformats.org/officeDocument/2006/relationships/notesMaster" Target="/ppt/notesMasters/notesMaster1.xml" Id="R703041d438d84c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0:00-0:35. 안녕하세요. 김성현입니다. 이 프로젝트는 관측 센서로 항공기 엔진의 남은 비행 사이클을 예측합니다. 오른쪽 흐름처럼 대용량 HDF5를 구간으로 나누고, 개발 엔진 검증으로 선택한 모델을 저장해 비행별 RUL을 생성합니다. 약 육백오십만 시점의 데이터를 처리했고, 최종 모델은 작은 일차원 CNN입니다. 화면의 오차는 이미 살펴본 시험 세트를 재사용한 평가입니다. 데이터 처리와 예측 성능을 함께 확인한 실제 완료 결과를 보여드리겠습니다.</a:t>
            </a:r>
          </a:p>
          <a:p xmlns:a="http://schemas.openxmlformats.org/drawingml/2006/main">
            <a:r>
              <a:t/>
            </a:r>
          </a:p>
          <a:p xmlns:a="http://schemas.openxmlformats.org/drawingml/2006/main">
            <a:r>
              <a:t>Sources</a:t>
            </a:r>
          </a:p>
          <a:p xmlns:a="http://schemas.openxmlformats.org/drawingml/2006/main">
            <a:r>
              <a:t>Arias Chao et al. (2021), Data 6(1), 5. https://doi.org/10.3390/data6010005</a:t>
            </a:r>
          </a:p>
          <a:p xmlns:a="http://schemas.openxmlformats.org/drawingml/2006/main">
            <a:r>
              <a:t>Completed CNN: output/extended/cnn/protocol.json, metrics.json and verification.json. Final choice: output/final/model_card.json. Extension test results reuse previously inspected test engines.</a:t>
            </a:r>
          </a:p>
          <a:p xmlns:a="http://schemas.openxmlformats.org/drawingml/2006/main">
            <a:r>
              <a:t>Target-free prediction: output/predictions/prediction_manifest.json; src/ncmapss_rul/inference.py. Prediction does not require or read 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0:35-1:30. 왼쪽은 개발 엔진의 실제 T24 센서 기록 백팔십 개 표본입니다. 구간이 어디서 나뉘는지 보이도록 색을 달리했고, 모양을 읽기 위해 이 그림에서만 표준화했습니다. 모델의 표준화 방식과는 별개입니다. 최종 CNN은 같은 엔진의 같은 비행 안에서 육십 개 표본씩 사용하며 경계를 넘지 않습니다. 오른쪽 표에서 T는 학습, V는 검증 엔진입니다. 엔진 전체를 분리한 같은 세 구간을 모든 모델에 적용했습니다. 공식 개발 엔진은 여섯 개, 시험 엔진은 세 개입니다. 데이터는 실제 비행 조건을 반영한 열화 시뮬레이션입니다. 개발 비행 클래스는 모두 삼이며 시험은 일, 이, 삼을 포함합니다. 처음에 시험 결과를 이미 보았으므로 확장 시험은 탐색적 재사용 평가입니다.</a:t>
            </a:r>
          </a:p>
          <a:p xmlns:a="http://schemas.openxmlformats.org/drawingml/2006/main">
            <a:r>
              <a:t/>
            </a:r>
          </a:p>
          <a:p xmlns:a="http://schemas.openxmlformats.org/drawingml/2006/main">
            <a:r>
              <a:t>Sources</a:t>
            </a:r>
          </a:p>
          <a:p xmlns:a="http://schemas.openxmlformats.org/drawingml/2006/main">
            <a:r>
              <a:t>Arias Chao et al. (2021), Data 6(1), 5. https://doi.org/10.3390/data6010005</a:t>
            </a:r>
          </a:p>
          <a:p xmlns:a="http://schemas.openxmlformats.org/drawingml/2006/main">
            <a:r>
              <a:t>Completed exploratory sensitivity: output/extended/sensitivity/protocol.json, summary.csv and metrics.json. 24 candidates, 36 CV estimator fits, fixed development engine folds. Clipping applies per window before cycle averaging.</a:t>
            </a:r>
          </a:p>
          <a:p xmlns:a="http://schemas.openxmlformats.org/drawingml/2006/main">
            <a:r>
              <a:t>Completed CNN: output/extended/cnn/protocol.json, metrics.json and verification.json. Final choice: output/final/model_card.json. Extension test results reuse previously inspected test engines.</a:t>
            </a:r>
          </a:p>
          <a:p xmlns:a="http://schemas.openxmlformats.org/drawingml/2006/main">
            <a:r>
              <a:t>Sensor chart: first 180 rows of X_s_dev, channel T24, engine 2, cycle 1. Z-score uses only the displayed 180 values for presentation. No model experiment was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1:30-2:25. 입력은 운항 조건 네 개와 관측 센서 열네 개입니다. 내부 열화 변수 T, 건강 상태 hs, 가상 센서 X_v와 식별자는 예측 변수에서 제외했습니다. 위 경로는 각 변수의 평균, 표준편차, 최소, 최대와 기울기를 계산해 아흔 개 특징을 만듭니다. Ridge와 Gradient boosting을 여섯 구간 설정과 두 출력 정책으로 비교했습니다. 스물네 후보지만 같은 모델의 원래 예측과 영 하한 예측은 학습 결과를 공유해 교차 검증 학습은 서른여섯 번입니다. 아래 CNN은 열여덟 채널의 육십 개 표본을 직접 받습니다. 합성곱 두 층 이후 시간 평균과 선형층을 통과하고 Softplus로 양수 RUL을 출력합니다. 사천팔십일 개 파라미터를 열두 에포크 동안 GPU로 학습했습니다.</a:t>
            </a:r>
          </a:p>
          <a:p xmlns:a="http://schemas.openxmlformats.org/drawingml/2006/main">
            <a:r>
              <a:t/>
            </a:r>
          </a:p>
          <a:p xmlns:a="http://schemas.openxmlformats.org/drawingml/2006/main">
            <a:r>
              <a:t>Sources</a:t>
            </a:r>
          </a:p>
          <a:p xmlns:a="http://schemas.openxmlformats.org/drawingml/2006/main">
            <a:r>
              <a:t>Completed exploratory sensitivity: output/extended/sensitivity/protocol.json, summary.csv and metrics.json. 24 candidates, 36 CV estimator fits, fixed development engine folds. Clipping applies per window before cycle averaging.</a:t>
            </a:r>
          </a:p>
          <a:p xmlns:a="http://schemas.openxmlformats.org/drawingml/2006/main">
            <a:r>
              <a:t>Completed CNN: output/extended/cnn/protocol.json, metrics.json and verification.json. Final choice: output/final/model_card.json. Extension test results reuse previously inspected test engines.</a:t>
            </a:r>
          </a:p>
          <a:p xmlns:a="http://schemas.openxmlformats.org/drawingml/2006/main">
            <a:r>
              <a:t>CNN architecture diagram follows the saved metrics.json architecture exactly. ReLU follows both convolutions.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2:25-3:20. 막대의 남색은 개발 교차 검증, 주황색은 시험 오차입니다. 모델 선택은 남색 막대만 사용했습니다. 초기 Ridge의 개발 RMSE는 11.38, 민감도 실험의 최선 Ridge는 10.78였으며, CNN은 6.58로 가장 낮았습니다. 민감도 실험의 최선은 삼십 표본 구간과 십오 표본 간격, 영 하한 정책입니다. 다만 이 구간 설정의 이점은 여섯 엔진에서 비교한 작은 차이입니다. 최종 CNN의 재사용 시험 RMSE는 5.70, MAE는 4.52 사이클입니다. 동일 비행의 구간 예측을 평균하고 엔진별 오차를 같은 비중으로 평균했습니다. 초기 Ridge의 음수 예측과 결과 파일은 보존했습니다. 이 점수들은 실제 항공기 정비 성능을 증명하지 않습니다.</a:t>
            </a:r>
          </a:p>
          <a:p xmlns:a="http://schemas.openxmlformats.org/drawingml/2006/main">
            <a:r>
              <a:t/>
            </a:r>
          </a:p>
          <a:p xmlns:a="http://schemas.openxmlformats.org/drawingml/2006/main">
            <a:r>
              <a:t>Sources</a:t>
            </a:r>
          </a:p>
          <a:p xmlns:a="http://schemas.openxmlformats.org/drawingml/2006/main">
            <a:r>
              <a:t>Preserved initial baseline: output/results/metrics.json and output/results/cv_results.csv. Experiments completed 2026-10-02.</a:t>
            </a:r>
          </a:p>
          <a:p xmlns:a="http://schemas.openxmlformats.org/drawingml/2006/main">
            <a:r>
              <a:t>Completed exploratory sensitivity: output/extended/sensitivity/protocol.json, summary.csv and metrics.json. 24 candidates, 36 CV estimator fits, fixed development engine folds. Clipping applies per window before cycle averaging.</a:t>
            </a:r>
          </a:p>
          <a:p xmlns:a="http://schemas.openxmlformats.org/drawingml/2006/main">
            <a:r>
              <a:t>Completed CNN: output/extended/cnn/protocol.json, metrics.json and verification.json. Final choice: output/final/model_card.json. Extension test results reuse previously inspected test engines.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3:20-4:10. 세 그래프는 시험 엔진 전체를 보여줍니다. 남색은 정답 RUL, 주황색은 저장한 CNN의 비행별 예측입니다. 축 범위를 동일하게 두어 엔진 사이의 차이를 비교할 수 있습니다. 엔진 십일에서 오차가 가장 크고, 십오에서 가장 작습니다. 예측은 수명 감소를 따라가지만 일부 구간에서 정답과 상당히 차이 납니다. 이 그래프는 실제 저장된 예측 파일을 사용했습니다. 별도의 추론 경로는 정답 배열 Y를 읽지 않고 이만 칠백구십육 개 구간과 이백이 개 비행의 예측을 생성했습니다. 그래프의 정답은 성능 평가를 위해 표시했으며 예측 입력이 아닙니다. 비행 안의 모든 구간 예측을 평균하므로 비행이 끝난 시점의 추정입니다.</a:t>
            </a:r>
          </a:p>
          <a:p xmlns:a="http://schemas.openxmlformats.org/drawingml/2006/main">
            <a:r>
              <a:t/>
            </a:r>
          </a:p>
          <a:p xmlns:a="http://schemas.openxmlformats.org/drawingml/2006/main">
            <a:r>
              <a:t>Sources</a:t>
            </a:r>
          </a:p>
          <a:p xmlns:a="http://schemas.openxmlformats.org/drawingml/2006/main">
            <a:r>
              <a:t>Completed CNN: output/extended/cnn/protocol.json, metrics.json and verification.json. Final choice: output/final/model_card.json. Extension test results reuse previously inspected test engines.</a:t>
            </a:r>
          </a:p>
          <a:p xmlns:a="http://schemas.openxmlformats.org/drawingml/2006/main">
            <a:r>
              <a:t>Target-free prediction: output/predictions/prediction_manifest.json; src/ncmapss_rul/inference.py. Prediction does not require or read Y.</a:t>
            </a:r>
          </a:p>
          <a:p xmlns:a="http://schemas.openxmlformats.org/drawingml/2006/main">
            <a:r>
              <a:t>Curves: output/extended/cnn/test_cycle_predictions.csv. All official test engines are shown, using common 0–80 axes.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4:10-5:00. 마지막은 CPU 통계 특징 추출의 반복 측정입니다. 최소와 중앙, 최대를 함께 표시했습니다. 여덟 코어 CPU와 삼십이 기가바이트 메모리에서 OS 캐시를 워밍업한 후 세 번씩 실행했습니다. 네 작업자의 중앙값은 1.47초로 한 작업자보다 1.46배 빨랐지만, 최대는 2.285초였습니다. 이 변동도 결과에 포함했습니다. 파일 읽기와 프로세스 비용을 포함하며 GPU 학습과는 별도로 측정했습니다. 저장장치 경합과 메모리 대역폭, Windows 시작 비용은 가능한 설명이지만 원인별 시간을 분리 측정하지는 않았습니다. 결과적으로 정답 없는 예측까지 연결된 구현을 완료했습니다. 다만 엔진 아홉 개의 시뮬레이션과 재사용 시험 결과이므로, 외부 자료와 실제 항공기에서 검증된 정비 모델이라고 주장하지 않습니다. 감사합니다.</a:t>
            </a:r>
          </a:p>
          <a:p xmlns:a="http://schemas.openxmlformats.org/drawingml/2006/main">
            <a:r>
              <a:t/>
            </a:r>
          </a:p>
          <a:p xmlns:a="http://schemas.openxmlformats.org/drawingml/2006/main">
            <a:r>
              <a:t>Sources</a:t>
            </a:r>
          </a:p>
          <a:p xmlns:a="http://schemas.openxmlformats.org/drawingml/2006/main">
            <a:r>
              <a:t>Project experiment: output/benchmark/benchmark_summary.csv and benchmark_manifest.json. One full warmup; OS cache is not flushed. Runtime includes feature extraction and process overhead. Windows local multiprocessing.</a:t>
            </a:r>
          </a:p>
          <a:p xmlns:a="http://schemas.openxmlformats.org/drawingml/2006/main">
            <a:r>
              <a:t>Arias Chao et al. (2021), Data 6(1), 5. https://doi.org/10.3390/data6010005</a:t>
            </a:r>
          </a:p>
          <a:p xmlns:a="http://schemas.openxmlformats.org/drawingml/2006/main">
            <a:r>
              <a:t>Completed CNN: output/extended/cnn/protocol.json, metrics.json and verification.json. Final choice: output/final/model_card.json. Extension test results reuse previously inspected test engines.</a:t>
            </a:r>
          </a:p>
          <a:p xmlns:a="http://schemas.openxmlformats.org/drawingml/2006/main">
            <a:r>
              <a:t>Four-worker measured times: minimum 1.4719171000033384 s, median 1.473291500005871 s, maximum 2.2850628000014694 s. Three measured repeats, warm OS cache.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26f2cf88774e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2884dbb5a54780" /><Relationship Type="http://schemas.openxmlformats.org/officeDocument/2006/relationships/slideLayout" Target="/ppt/slideLayouts/slideLayout1.xml" Id="R9d4b281b92024b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4b281b92024b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4b427f73a14080" /><Relationship Type="http://schemas.openxmlformats.org/officeDocument/2006/relationships/notesSlide" Target="/ppt/notesSlides/notesSlide1.xml" Id="R5da2e14bed5747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d687da3377407e" /><Relationship Type="http://schemas.openxmlformats.org/officeDocument/2006/relationships/chart" Target="/ppt/slides/charts/chart1.xml" Id="Ra70f251de8764998" /><Relationship Type="http://schemas.openxmlformats.org/officeDocument/2006/relationships/notesSlide" Target="/ppt/notesSlides/notesSlide2.xml" Id="R0d63b9f2e3604d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7d6948205241d8" /><Relationship Type="http://schemas.openxmlformats.org/officeDocument/2006/relationships/notesSlide" Target="/ppt/notesSlides/notesSlide3.xml" Id="R344fe03eabe342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ee1c31682a48a8" /><Relationship Type="http://schemas.openxmlformats.org/officeDocument/2006/relationships/chart" Target="/ppt/slides/charts/chart2.xml" Id="Rf694f37b3e034a9d" /><Relationship Type="http://schemas.openxmlformats.org/officeDocument/2006/relationships/notesSlide" Target="/ppt/notesSlides/notesSlide4.xml" Id="R8860ff606e3144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88edd56b2d42a4" /><Relationship Type="http://schemas.openxmlformats.org/officeDocument/2006/relationships/chart" Target="/ppt/slides/charts/chart3.xml" Id="R8642bccf685e458d" /><Relationship Type="http://schemas.openxmlformats.org/officeDocument/2006/relationships/chart" Target="/ppt/slides/charts/chart4.xml" Id="R24d9199efd6c4f85" /><Relationship Type="http://schemas.openxmlformats.org/officeDocument/2006/relationships/chart" Target="/ppt/slides/charts/chart5.xml" Id="R000d4bf679ff4e89" /><Relationship Type="http://schemas.openxmlformats.org/officeDocument/2006/relationships/notesSlide" Target="/ppt/notesSlides/notesSlide5.xml" Id="R142035f93e2648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d26d35f9e64f10" /><Relationship Type="http://schemas.openxmlformats.org/officeDocument/2006/relationships/chart" Target="/ppt/slides/charts/chart6.xml" Id="Rb43a0d16ca594298" /><Relationship Type="http://schemas.openxmlformats.org/officeDocument/2006/relationships/notesSlide" Target="/ppt/notesSlides/notesSlide6.xml" Id="R5b32f4f99bb3482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구간 1</c:v>
          </c:tx>
          <c:spPr>
            <a:ln xmlns:a="http://schemas.openxmlformats.org/drawingml/2006/main" w="28575">
              <a:solidFill>
                <a:srgbClr val="234B67"/>
              </a:solidFill>
            </a:ln>
          </c:spPr>
          <c:marker>
            <c:symbol val="none"/>
          </c:marker>
          <c:xVal>
            <c:numRef>
              <c:f>'Chart Data'!$A$2:$A$61</c:f>
              <c:numCache>
                <c:formatCode>0</c:formatCode>
                <c:ptCount val="6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numCache>
            </c:numRef>
          </c:xVal>
          <c:yVal>
            <c:numRef>
              <c:f>'Chart Data'!$B$2:$B$61</c:f>
              <c:numCache>
                <c:formatCode>0.00</c:formatCode>
                <c:ptCount val="60"/>
                <c:pt idx="0">
                  <c:v>-0.276794</c:v>
                </c:pt>
                <c:pt idx="1">
                  <c:v>-0.419517</c:v>
                </c:pt>
                <c:pt idx="2">
                  <c:v>-0.179638</c:v>
                </c:pt>
                <c:pt idx="3">
                  <c:v>0.066588</c:v>
                </c:pt>
                <c:pt idx="4">
                  <c:v>-0.044148</c:v>
                </c:pt>
                <c:pt idx="5">
                  <c:v>-0.301258</c:v>
                </c:pt>
                <c:pt idx="6">
                  <c:v>-0.269068</c:v>
                </c:pt>
                <c:pt idx="7">
                  <c:v>-0.132136</c:v>
                </c:pt>
                <c:pt idx="8">
                  <c:v>-0.276318</c:v>
                </c:pt>
                <c:pt idx="9">
                  <c:v>-0.333762</c:v>
                </c:pt>
                <c:pt idx="10">
                  <c:v>-0.188249</c:v>
                </c:pt>
                <c:pt idx="11">
                  <c:v>-0.218944</c:v>
                </c:pt>
                <c:pt idx="12">
                  <c:v>-0.285573</c:v>
                </c:pt>
                <c:pt idx="13">
                  <c:v>-0.321064</c:v>
                </c:pt>
                <c:pt idx="14">
                  <c:v>-0.333415</c:v>
                </c:pt>
                <c:pt idx="15">
                  <c:v>-0.37883</c:v>
                </c:pt>
                <c:pt idx="16">
                  <c:v>-0.304005</c:v>
                </c:pt>
                <c:pt idx="17">
                  <c:v>-0.346413</c:v>
                </c:pt>
                <c:pt idx="18">
                  <c:v>-0.521407</c:v>
                </c:pt>
                <c:pt idx="19">
                  <c:v>-0.5609</c:v>
                </c:pt>
                <c:pt idx="20">
                  <c:v>-0.498414</c:v>
                </c:pt>
                <c:pt idx="21">
                  <c:v>-0.470788</c:v>
                </c:pt>
                <c:pt idx="22">
                  <c:v>-0.52947</c:v>
                </c:pt>
                <c:pt idx="23">
                  <c:v>-0.613505</c:v>
                </c:pt>
                <c:pt idx="24">
                  <c:v>-0.657142</c:v>
                </c:pt>
                <c:pt idx="25">
                  <c:v>-0.522218</c:v>
                </c:pt>
                <c:pt idx="26">
                  <c:v>-0.56943</c:v>
                </c:pt>
                <c:pt idx="27">
                  <c:v>-0.643141</c:v>
                </c:pt>
                <c:pt idx="28">
                  <c:v>-0.638158</c:v>
                </c:pt>
                <c:pt idx="29">
                  <c:v>-0.584905</c:v>
                </c:pt>
                <c:pt idx="30">
                  <c:v>-0.780048</c:v>
                </c:pt>
                <c:pt idx="31">
                  <c:v>-0.771438</c:v>
                </c:pt>
                <c:pt idx="32">
                  <c:v>-0.858358</c:v>
                </c:pt>
                <c:pt idx="33">
                  <c:v>-0.91485</c:v>
                </c:pt>
                <c:pt idx="34">
                  <c:v>-0.97953</c:v>
                </c:pt>
                <c:pt idx="35">
                  <c:v>-0.986581</c:v>
                </c:pt>
                <c:pt idx="36">
                  <c:v>-1.032883</c:v>
                </c:pt>
                <c:pt idx="37">
                  <c:v>-0.966316</c:v>
                </c:pt>
                <c:pt idx="38">
                  <c:v>-0.993263</c:v>
                </c:pt>
                <c:pt idx="39">
                  <c:v>-0.9909</c:v>
                </c:pt>
                <c:pt idx="40">
                  <c:v>-1.04107</c:v>
                </c:pt>
                <c:pt idx="41">
                  <c:v>-1.240004</c:v>
                </c:pt>
                <c:pt idx="42">
                  <c:v>-1.411268</c:v>
                </c:pt>
                <c:pt idx="43">
                  <c:v>-1.491844</c:v>
                </c:pt>
                <c:pt idx="44">
                  <c:v>-1.603692</c:v>
                </c:pt>
                <c:pt idx="45">
                  <c:v>-1.58594</c:v>
                </c:pt>
                <c:pt idx="46">
                  <c:v>-1.598403</c:v>
                </c:pt>
                <c:pt idx="47">
                  <c:v>-1.648208</c:v>
                </c:pt>
                <c:pt idx="48">
                  <c:v>-1.484303</c:v>
                </c:pt>
                <c:pt idx="49">
                  <c:v>-1.375952</c:v>
                </c:pt>
                <c:pt idx="50">
                  <c:v>-1.46939</c:v>
                </c:pt>
                <c:pt idx="51">
                  <c:v>-1.455247</c:v>
                </c:pt>
                <c:pt idx="52">
                  <c:v>-1.480147</c:v>
                </c:pt>
                <c:pt idx="53">
                  <c:v>-1.371906</c:v>
                </c:pt>
                <c:pt idx="54">
                  <c:v>-1.477183</c:v>
                </c:pt>
                <c:pt idx="55">
                  <c:v>-1.242048</c:v>
                </c:pt>
                <c:pt idx="56">
                  <c:v>-1.192491</c:v>
                </c:pt>
                <c:pt idx="57">
                  <c:v>-0.962991</c:v>
                </c:pt>
                <c:pt idx="58">
                  <c:v>-0.838314</c:v>
                </c:pt>
                <c:pt idx="59">
                  <c:v>-1.014387</c:v>
                </c:pt>
              </c:numCache>
            </c:numRef>
          </c:yVal>
        </c:ser>
        <c:ser>
          <c:idx val="1"/>
          <c:order val="1"/>
          <c:tx>
            <c:v>구간 2</c:v>
          </c:tx>
          <c:spPr>
            <a:ln xmlns:a="http://schemas.openxmlformats.org/drawingml/2006/main" w="28575">
              <a:solidFill>
                <a:srgbClr val="087F8C"/>
              </a:solidFill>
            </a:ln>
          </c:spPr>
          <c:marker>
            <c:symbol val="none"/>
          </c:marker>
          <c:xVal>
            <c:numRef>
              <c:f>'Chart Data'!$C$2:$C$61</c:f>
              <c:numCache>
                <c:formatCode>0</c:formatCode>
                <c:ptCount val="60"/>
                <c:pt idx="0">
                  <c:v>61</c:v>
                </c:pt>
                <c:pt idx="1">
                  <c:v>62</c:v>
                </c:pt>
                <c:pt idx="2">
                  <c:v>63</c:v>
                </c:pt>
                <c:pt idx="3">
                  <c:v>64</c:v>
                </c:pt>
                <c:pt idx="4">
                  <c:v>65</c:v>
                </c:pt>
                <c:pt idx="5">
                  <c:v>66</c:v>
                </c:pt>
                <c:pt idx="6">
                  <c:v>67</c:v>
                </c:pt>
                <c:pt idx="7">
                  <c:v>68</c:v>
                </c:pt>
                <c:pt idx="8">
                  <c:v>69</c:v>
                </c:pt>
                <c:pt idx="9">
                  <c:v>70</c:v>
                </c:pt>
                <c:pt idx="10">
                  <c:v>71</c:v>
                </c:pt>
                <c:pt idx="11">
                  <c:v>72</c:v>
                </c:pt>
                <c:pt idx="12">
                  <c:v>73</c:v>
                </c:pt>
                <c:pt idx="13">
                  <c:v>74</c:v>
                </c:pt>
                <c:pt idx="14">
                  <c:v>75</c:v>
                </c:pt>
                <c:pt idx="15">
                  <c:v>76</c:v>
                </c:pt>
                <c:pt idx="16">
                  <c:v>77</c:v>
                </c:pt>
                <c:pt idx="17">
                  <c:v>78</c:v>
                </c:pt>
                <c:pt idx="18">
                  <c:v>79</c:v>
                </c:pt>
                <c:pt idx="19">
                  <c:v>80</c:v>
                </c:pt>
                <c:pt idx="20">
                  <c:v>81</c:v>
                </c:pt>
                <c:pt idx="21">
                  <c:v>82</c:v>
                </c:pt>
                <c:pt idx="22">
                  <c:v>83</c:v>
                </c:pt>
                <c:pt idx="23">
                  <c:v>84</c:v>
                </c:pt>
                <c:pt idx="24">
                  <c:v>85</c:v>
                </c:pt>
                <c:pt idx="25">
                  <c:v>86</c:v>
                </c:pt>
                <c:pt idx="26">
                  <c:v>87</c:v>
                </c:pt>
                <c:pt idx="27">
                  <c:v>88</c:v>
                </c:pt>
                <c:pt idx="28">
                  <c:v>89</c:v>
                </c:pt>
                <c:pt idx="29">
                  <c:v>90</c:v>
                </c:pt>
                <c:pt idx="30">
                  <c:v>91</c:v>
                </c:pt>
                <c:pt idx="31">
                  <c:v>92</c:v>
                </c:pt>
                <c:pt idx="32">
                  <c:v>93</c:v>
                </c:pt>
                <c:pt idx="33">
                  <c:v>94</c:v>
                </c:pt>
                <c:pt idx="34">
                  <c:v>95</c:v>
                </c:pt>
                <c:pt idx="35">
                  <c:v>96</c:v>
                </c:pt>
                <c:pt idx="36">
                  <c:v>97</c:v>
                </c:pt>
                <c:pt idx="37">
                  <c:v>98</c:v>
                </c:pt>
                <c:pt idx="38">
                  <c:v>99</c:v>
                </c:pt>
                <c:pt idx="39">
                  <c:v>100</c:v>
                </c:pt>
                <c:pt idx="40">
                  <c:v>101</c:v>
                </c:pt>
                <c:pt idx="41">
                  <c:v>102</c:v>
                </c:pt>
                <c:pt idx="42">
                  <c:v>103</c:v>
                </c:pt>
                <c:pt idx="43">
                  <c:v>104</c:v>
                </c:pt>
                <c:pt idx="44">
                  <c:v>105</c:v>
                </c:pt>
                <c:pt idx="45">
                  <c:v>106</c:v>
                </c:pt>
                <c:pt idx="46">
                  <c:v>107</c:v>
                </c:pt>
                <c:pt idx="47">
                  <c:v>108</c:v>
                </c:pt>
                <c:pt idx="48">
                  <c:v>109</c:v>
                </c:pt>
                <c:pt idx="49">
                  <c:v>110</c:v>
                </c:pt>
                <c:pt idx="50">
                  <c:v>111</c:v>
                </c:pt>
                <c:pt idx="51">
                  <c:v>112</c:v>
                </c:pt>
                <c:pt idx="52">
                  <c:v>113</c:v>
                </c:pt>
                <c:pt idx="53">
                  <c:v>114</c:v>
                </c:pt>
                <c:pt idx="54">
                  <c:v>115</c:v>
                </c:pt>
                <c:pt idx="55">
                  <c:v>116</c:v>
                </c:pt>
                <c:pt idx="56">
                  <c:v>117</c:v>
                </c:pt>
                <c:pt idx="57">
                  <c:v>118</c:v>
                </c:pt>
                <c:pt idx="58">
                  <c:v>119</c:v>
                </c:pt>
                <c:pt idx="59">
                  <c:v>120</c:v>
                </c:pt>
              </c:numCache>
            </c:numRef>
          </c:xVal>
          <c:yVal>
            <c:numRef>
              <c:f>'Chart Data'!$D$2:$D$61</c:f>
              <c:numCache>
                <c:formatCode>0.00</c:formatCode>
                <c:ptCount val="60"/>
                <c:pt idx="0">
                  <c:v>-1.441353</c:v>
                </c:pt>
                <c:pt idx="1">
                  <c:v>-1.352313</c:v>
                </c:pt>
                <c:pt idx="2">
                  <c:v>-1.42512</c:v>
                </c:pt>
                <c:pt idx="3">
                  <c:v>-1.376281</c:v>
                </c:pt>
                <c:pt idx="4">
                  <c:v>-1.107299</c:v>
                </c:pt>
                <c:pt idx="5">
                  <c:v>-0.980199</c:v>
                </c:pt>
                <c:pt idx="6">
                  <c:v>-1.056175</c:v>
                </c:pt>
                <c:pt idx="7">
                  <c:v>-1.075166</c:v>
                </c:pt>
                <c:pt idx="8">
                  <c:v>-0.874742</c:v>
                </c:pt>
                <c:pt idx="9">
                  <c:v>-0.776998</c:v>
                </c:pt>
                <c:pt idx="10">
                  <c:v>-0.751947</c:v>
                </c:pt>
                <c:pt idx="11">
                  <c:v>-0.611776</c:v>
                </c:pt>
                <c:pt idx="12">
                  <c:v>-0.560097</c:v>
                </c:pt>
                <c:pt idx="13">
                  <c:v>-0.674674</c:v>
                </c:pt>
                <c:pt idx="14">
                  <c:v>-0.763439</c:v>
                </c:pt>
                <c:pt idx="15">
                  <c:v>-0.860771</c:v>
                </c:pt>
                <c:pt idx="16">
                  <c:v>-1.080438</c:v>
                </c:pt>
                <c:pt idx="17">
                  <c:v>-1.082482</c:v>
                </c:pt>
                <c:pt idx="18">
                  <c:v>-0.955032</c:v>
                </c:pt>
                <c:pt idx="19">
                  <c:v>-0.954853</c:v>
                </c:pt>
                <c:pt idx="20">
                  <c:v>-0.916818</c:v>
                </c:pt>
                <c:pt idx="21">
                  <c:v>-0.887313</c:v>
                </c:pt>
                <c:pt idx="22">
                  <c:v>-0.898582</c:v>
                </c:pt>
                <c:pt idx="23">
                  <c:v>-0.931371</c:v>
                </c:pt>
                <c:pt idx="24">
                  <c:v>-0.526667</c:v>
                </c:pt>
                <c:pt idx="25">
                  <c:v>-0.621857</c:v>
                </c:pt>
                <c:pt idx="26">
                  <c:v>-0.76973</c:v>
                </c:pt>
                <c:pt idx="27">
                  <c:v>-0.700211</c:v>
                </c:pt>
                <c:pt idx="28">
                  <c:v>-0.689124</c:v>
                </c:pt>
                <c:pt idx="29">
                  <c:v>-0.659091</c:v>
                </c:pt>
                <c:pt idx="30">
                  <c:v>-0.56135</c:v>
                </c:pt>
                <c:pt idx="31">
                  <c:v>-0.82245</c:v>
                </c:pt>
                <c:pt idx="32">
                  <c:v>-0.833864</c:v>
                </c:pt>
                <c:pt idx="33">
                  <c:v>-0.508027</c:v>
                </c:pt>
                <c:pt idx="34">
                  <c:v>-0.300749</c:v>
                </c:pt>
                <c:pt idx="35">
                  <c:v>-0.274889</c:v>
                </c:pt>
                <c:pt idx="36">
                  <c:v>-0.356031</c:v>
                </c:pt>
                <c:pt idx="37">
                  <c:v>-0.396269</c:v>
                </c:pt>
                <c:pt idx="38">
                  <c:v>-0.122022</c:v>
                </c:pt>
                <c:pt idx="39">
                  <c:v>-0.154638</c:v>
                </c:pt>
                <c:pt idx="40">
                  <c:v>-0.105738</c:v>
                </c:pt>
                <c:pt idx="41">
                  <c:v>-0.318252</c:v>
                </c:pt>
                <c:pt idx="42">
                  <c:v>-0.362673</c:v>
                </c:pt>
                <c:pt idx="43">
                  <c:v>-0.11904</c:v>
                </c:pt>
                <c:pt idx="44">
                  <c:v>-0.340752</c:v>
                </c:pt>
                <c:pt idx="45">
                  <c:v>0.172854</c:v>
                </c:pt>
                <c:pt idx="46">
                  <c:v>0.355475</c:v>
                </c:pt>
                <c:pt idx="47">
                  <c:v>0.539763</c:v>
                </c:pt>
                <c:pt idx="48">
                  <c:v>0.26647</c:v>
                </c:pt>
                <c:pt idx="49">
                  <c:v>0.042094</c:v>
                </c:pt>
                <c:pt idx="50">
                  <c:v>0.159843</c:v>
                </c:pt>
                <c:pt idx="51">
                  <c:v>0.438678</c:v>
                </c:pt>
                <c:pt idx="52">
                  <c:v>0.582166</c:v>
                </c:pt>
                <c:pt idx="53">
                  <c:v>0.597187</c:v>
                </c:pt>
                <c:pt idx="54">
                  <c:v>0.221135</c:v>
                </c:pt>
                <c:pt idx="55">
                  <c:v>0.856896</c:v>
                </c:pt>
                <c:pt idx="56">
                  <c:v>1.02548</c:v>
                </c:pt>
                <c:pt idx="57">
                  <c:v>0.765691</c:v>
                </c:pt>
                <c:pt idx="58">
                  <c:v>1.005167</c:v>
                </c:pt>
                <c:pt idx="59">
                  <c:v>1.271292</c:v>
                </c:pt>
              </c:numCache>
            </c:numRef>
          </c:yVal>
        </c:ser>
        <c:ser>
          <c:idx val="2"/>
          <c:order val="2"/>
          <c:tx>
            <c:v>구간 3</c:v>
          </c:tx>
          <c:spPr>
            <a:ln xmlns:a="http://schemas.openxmlformats.org/drawingml/2006/main" w="28575">
              <a:solidFill>
                <a:srgbClr val="D77938"/>
              </a:solidFill>
            </a:ln>
          </c:spPr>
          <c:marker>
            <c:symbol val="none"/>
          </c:marker>
          <c:xVal>
            <c:numRef>
              <c:f>'Chart Data'!$E$2:$E$61</c:f>
              <c:numCache>
                <c:formatCode>0</c:formatCode>
                <c:ptCount val="60"/>
                <c:pt idx="0">
                  <c:v>121</c:v>
                </c:pt>
                <c:pt idx="1">
                  <c:v>122</c:v>
                </c:pt>
                <c:pt idx="2">
                  <c:v>123</c:v>
                </c:pt>
                <c:pt idx="3">
                  <c:v>124</c:v>
                </c:pt>
                <c:pt idx="4">
                  <c:v>125</c:v>
                </c:pt>
                <c:pt idx="5">
                  <c:v>126</c:v>
                </c:pt>
                <c:pt idx="6">
                  <c:v>127</c:v>
                </c:pt>
                <c:pt idx="7">
                  <c:v>128</c:v>
                </c:pt>
                <c:pt idx="8">
                  <c:v>129</c:v>
                </c:pt>
                <c:pt idx="9">
                  <c:v>130</c:v>
                </c:pt>
                <c:pt idx="10">
                  <c:v>131</c:v>
                </c:pt>
                <c:pt idx="11">
                  <c:v>132</c:v>
                </c:pt>
                <c:pt idx="12">
                  <c:v>133</c:v>
                </c:pt>
                <c:pt idx="13">
                  <c:v>134</c:v>
                </c:pt>
                <c:pt idx="14">
                  <c:v>135</c:v>
                </c:pt>
                <c:pt idx="15">
                  <c:v>136</c:v>
                </c:pt>
                <c:pt idx="16">
                  <c:v>137</c:v>
                </c:pt>
                <c:pt idx="17">
                  <c:v>138</c:v>
                </c:pt>
                <c:pt idx="18">
                  <c:v>139</c:v>
                </c:pt>
                <c:pt idx="19">
                  <c:v>140</c:v>
                </c:pt>
                <c:pt idx="20">
                  <c:v>141</c:v>
                </c:pt>
                <c:pt idx="21">
                  <c:v>142</c:v>
                </c:pt>
                <c:pt idx="22">
                  <c:v>143</c:v>
                </c:pt>
                <c:pt idx="23">
                  <c:v>144</c:v>
                </c:pt>
                <c:pt idx="24">
                  <c:v>145</c:v>
                </c:pt>
                <c:pt idx="25">
                  <c:v>146</c:v>
                </c:pt>
                <c:pt idx="26">
                  <c:v>147</c:v>
                </c:pt>
                <c:pt idx="27">
                  <c:v>148</c:v>
                </c:pt>
                <c:pt idx="28">
                  <c:v>149</c:v>
                </c:pt>
                <c:pt idx="29">
                  <c:v>150</c:v>
                </c:pt>
                <c:pt idx="30">
                  <c:v>151</c:v>
                </c:pt>
                <c:pt idx="31">
                  <c:v>152</c:v>
                </c:pt>
                <c:pt idx="32">
                  <c:v>153</c:v>
                </c:pt>
                <c:pt idx="33">
                  <c:v>154</c:v>
                </c:pt>
                <c:pt idx="34">
                  <c:v>155</c:v>
                </c:pt>
                <c:pt idx="35">
                  <c:v>156</c:v>
                </c:pt>
                <c:pt idx="36">
                  <c:v>157</c:v>
                </c:pt>
                <c:pt idx="37">
                  <c:v>158</c:v>
                </c:pt>
                <c:pt idx="38">
                  <c:v>159</c:v>
                </c:pt>
                <c:pt idx="39">
                  <c:v>160</c:v>
                </c:pt>
                <c:pt idx="40">
                  <c:v>161</c:v>
                </c:pt>
                <c:pt idx="41">
                  <c:v>162</c:v>
                </c:pt>
                <c:pt idx="42">
                  <c:v>163</c:v>
                </c:pt>
                <c:pt idx="43">
                  <c:v>164</c:v>
                </c:pt>
                <c:pt idx="44">
                  <c:v>165</c:v>
                </c:pt>
                <c:pt idx="45">
                  <c:v>166</c:v>
                </c:pt>
                <c:pt idx="46">
                  <c:v>167</c:v>
                </c:pt>
                <c:pt idx="47">
                  <c:v>168</c:v>
                </c:pt>
                <c:pt idx="48">
                  <c:v>169</c:v>
                </c:pt>
                <c:pt idx="49">
                  <c:v>170</c:v>
                </c:pt>
                <c:pt idx="50">
                  <c:v>171</c:v>
                </c:pt>
                <c:pt idx="51">
                  <c:v>172</c:v>
                </c:pt>
                <c:pt idx="52">
                  <c:v>173</c:v>
                </c:pt>
                <c:pt idx="53">
                  <c:v>174</c:v>
                </c:pt>
                <c:pt idx="54">
                  <c:v>175</c:v>
                </c:pt>
                <c:pt idx="55">
                  <c:v>176</c:v>
                </c:pt>
                <c:pt idx="56">
                  <c:v>177</c:v>
                </c:pt>
                <c:pt idx="57">
                  <c:v>178</c:v>
                </c:pt>
                <c:pt idx="58">
                  <c:v>179</c:v>
                </c:pt>
                <c:pt idx="59">
                  <c:v>180</c:v>
                </c:pt>
              </c:numCache>
            </c:numRef>
          </c:xVal>
          <c:yVal>
            <c:numRef>
              <c:f>'Chart Data'!$F$2:$F$61</c:f>
              <c:numCache>
                <c:formatCode>0.00</c:formatCode>
                <c:ptCount val="60"/>
                <c:pt idx="0">
                  <c:v>1.293932</c:v>
                </c:pt>
                <c:pt idx="1">
                  <c:v>1.070722</c:v>
                </c:pt>
                <c:pt idx="2">
                  <c:v>1.460754</c:v>
                </c:pt>
                <c:pt idx="3">
                  <c:v>1.874253</c:v>
                </c:pt>
                <c:pt idx="4">
                  <c:v>1.364989</c:v>
                </c:pt>
                <c:pt idx="5">
                  <c:v>0.795784</c:v>
                </c:pt>
                <c:pt idx="6">
                  <c:v>1.060424</c:v>
                </c:pt>
                <c:pt idx="7">
                  <c:v>1.009283</c:v>
                </c:pt>
                <c:pt idx="8">
                  <c:v>0.937154</c:v>
                </c:pt>
                <c:pt idx="9">
                  <c:v>1.128883</c:v>
                </c:pt>
                <c:pt idx="10">
                  <c:v>0.873873</c:v>
                </c:pt>
                <c:pt idx="11">
                  <c:v>1.07609</c:v>
                </c:pt>
                <c:pt idx="12">
                  <c:v>0.966846</c:v>
                </c:pt>
                <c:pt idx="13">
                  <c:v>1.000238</c:v>
                </c:pt>
                <c:pt idx="14">
                  <c:v>0.962949</c:v>
                </c:pt>
                <c:pt idx="15">
                  <c:v>0.771808</c:v>
                </c:pt>
                <c:pt idx="16">
                  <c:v>0.782731</c:v>
                </c:pt>
                <c:pt idx="17">
                  <c:v>0.831686</c:v>
                </c:pt>
                <c:pt idx="18">
                  <c:v>0.92758</c:v>
                </c:pt>
                <c:pt idx="19">
                  <c:v>0.884684</c:v>
                </c:pt>
                <c:pt idx="20">
                  <c:v>0.809222</c:v>
                </c:pt>
                <c:pt idx="21">
                  <c:v>0.755657</c:v>
                </c:pt>
                <c:pt idx="22">
                  <c:v>0.757041</c:v>
                </c:pt>
                <c:pt idx="23">
                  <c:v>0.711017</c:v>
                </c:pt>
                <c:pt idx="24">
                  <c:v>0.722195</c:v>
                </c:pt>
                <c:pt idx="25">
                  <c:v>0.857541</c:v>
                </c:pt>
                <c:pt idx="26">
                  <c:v>0.824978</c:v>
                </c:pt>
                <c:pt idx="27">
                  <c:v>0.802862</c:v>
                </c:pt>
                <c:pt idx="28">
                  <c:v>1.07104</c:v>
                </c:pt>
                <c:pt idx="29">
                  <c:v>1.132522</c:v>
                </c:pt>
                <c:pt idx="30">
                  <c:v>1.251121</c:v>
                </c:pt>
                <c:pt idx="31">
                  <c:v>1.30124</c:v>
                </c:pt>
                <c:pt idx="32">
                  <c:v>1.024345</c:v>
                </c:pt>
                <c:pt idx="33">
                  <c:v>1.098546</c:v>
                </c:pt>
                <c:pt idx="34">
                  <c:v>1.111753</c:v>
                </c:pt>
                <c:pt idx="35">
                  <c:v>1.317203</c:v>
                </c:pt>
                <c:pt idx="36">
                  <c:v>1.635224</c:v>
                </c:pt>
                <c:pt idx="37">
                  <c:v>1.566023</c:v>
                </c:pt>
                <c:pt idx="38">
                  <c:v>1.320383</c:v>
                </c:pt>
                <c:pt idx="39">
                  <c:v>1.445727</c:v>
                </c:pt>
                <c:pt idx="40">
                  <c:v>1.402667</c:v>
                </c:pt>
                <c:pt idx="41">
                  <c:v>1.483804</c:v>
                </c:pt>
                <c:pt idx="42">
                  <c:v>1.355884</c:v>
                </c:pt>
                <c:pt idx="43">
                  <c:v>1.40529</c:v>
                </c:pt>
                <c:pt idx="44">
                  <c:v>1.386024</c:v>
                </c:pt>
                <c:pt idx="45">
                  <c:v>1.478905</c:v>
                </c:pt>
                <c:pt idx="46">
                  <c:v>1.372434</c:v>
                </c:pt>
                <c:pt idx="47">
                  <c:v>1.501741</c:v>
                </c:pt>
                <c:pt idx="48">
                  <c:v>1.463667</c:v>
                </c:pt>
                <c:pt idx="49">
                  <c:v>1.561477</c:v>
                </c:pt>
                <c:pt idx="50">
                  <c:v>1.57042</c:v>
                </c:pt>
                <c:pt idx="51">
                  <c:v>1.457371</c:v>
                </c:pt>
                <c:pt idx="52">
                  <c:v>1.593491</c:v>
                </c:pt>
                <c:pt idx="53">
                  <c:v>1.41508</c:v>
                </c:pt>
                <c:pt idx="54">
                  <c:v>1.446943</c:v>
                </c:pt>
                <c:pt idx="55">
                  <c:v>1.517527</c:v>
                </c:pt>
                <c:pt idx="56">
                  <c:v>1.477466</c:v>
                </c:pt>
                <c:pt idx="57">
                  <c:v>1.509219</c:v>
                </c:pt>
                <c:pt idx="58">
                  <c:v>1.563717</c:v>
                </c:pt>
                <c:pt idx="59">
                  <c:v>1.696014</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T24 (z)</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crossAx val="48650112"/>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표본 순서</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crossAx val="48672768"/>
        <c:majorUnit val="60"/>
      </c:valAx>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536171"/>
              </a:solidFill>
              <a:latin typeface="Malgun Gothic"/>
              <a:ea typeface="Malgun Gothic"/>
              <a:cs typeface="Malgun Gothic"/>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개발 CV</c:v>
          </c:tx>
          <c:spPr>
            <a:solidFill xmlns:a="http://schemas.openxmlformats.org/drawingml/2006/main">
              <a:srgbClr val="234B67"/>
            </a:solidFill>
          </c:spPr>
          <c:cat>
            <c:strRef>
              <c:f>'Chart Data'!$A$2:$A$5</c:f>
              <c:strCache>
                <c:ptCount val="4"/>
                <c:pt idx="0">
                  <c:v>평균 기준선</c:v>
                </c:pt>
                <c:pt idx="1">
                  <c:v>Ridge
60/60</c:v>
                </c:pt>
                <c:pt idx="2">
                  <c:v>Ridge
30/15 + clip</c:v>
                </c:pt>
                <c:pt idx="3">
                  <c:v>CNN
60/60</c:v>
                </c:pt>
              </c:strCache>
            </c:strRef>
          </c:cat>
          <c:val>
            <c:numRef>
              <c:f>'Chart Data'!$B$2:$B$5</c:f>
              <c:numCache>
                <c:formatCode>0.00</c:formatCode>
                <c:ptCount val="4"/>
                <c:pt idx="0">
                  <c:v>21.914067</c:v>
                </c:pt>
                <c:pt idx="1">
                  <c:v>11.383443</c:v>
                </c:pt>
                <c:pt idx="2">
                  <c:v>10.778887</c:v>
                </c:pt>
                <c:pt idx="3">
                  <c:v>6.575258</c:v>
                </c:pt>
              </c:numCache>
            </c:numRef>
          </c:val>
        </c:ser>
        <c:ser>
          <c:idx val="1"/>
          <c:order val="1"/>
          <c:tx>
            <c:v>시험 평가</c:v>
          </c:tx>
          <c:spPr>
            <a:solidFill xmlns:a="http://schemas.openxmlformats.org/drawingml/2006/main">
              <a:srgbClr val="D77938"/>
            </a:solidFill>
          </c:spPr>
          <c:cat>
            <c:strRef>
              <c:f>'Chart Data'!$C$2:$C$5</c:f>
              <c:strCache>
                <c:ptCount val="4"/>
                <c:pt idx="0">
                  <c:v>평균 기준선</c:v>
                </c:pt>
                <c:pt idx="1">
                  <c:v>Ridge
60/60</c:v>
                </c:pt>
                <c:pt idx="2">
                  <c:v>Ridge
30/15 + clip</c:v>
                </c:pt>
                <c:pt idx="3">
                  <c:v>CNN
60/60</c:v>
                </c:pt>
              </c:strCache>
            </c:strRef>
          </c:cat>
          <c:val>
            <c:numRef>
              <c:f>'Chart Data'!$D$2:$D$5</c:f>
              <c:numCache>
                <c:formatCode>0.00</c:formatCode>
                <c:ptCount val="4"/>
                <c:pt idx="0">
                  <c:v>20.104145</c:v>
                </c:pt>
                <c:pt idx="1">
                  <c:v>11.276224</c:v>
                </c:pt>
                <c:pt idx="2">
                  <c:v>10.591274</c:v>
                </c:pt>
                <c:pt idx="3">
                  <c:v>5.695466</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22536"/>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171"/>
                </a:solidFill>
                <a:latin typeface="Malgun Gothic"/>
                <a:ea typeface="Malgun Gothic"/>
                <a:cs typeface="Malgun Gothic"/>
              </a:defRPr>
            </a:pPr>
          </a:p>
        </c:txPr>
        <c:crossAx val="48672768"/>
      </c:catAx>
      <c:valAx>
        <c:axId val="48672768"/>
        <c:scaling>
          <c:orientation val="minMax"/>
          <c:max val="25"/>
          <c:min val="0"/>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RMSE (사이클)</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crossAx val="48650112"/>
        <c:crossBetween val="between"/>
        <c:majorUnit val="5"/>
      </c:valAx>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정답 RUL</c:v>
          </c:tx>
          <c:spPr>
            <a:ln xmlns:a="http://schemas.openxmlformats.org/drawingml/2006/main" w="28575">
              <a:solidFill>
                <a:srgbClr val="234B67"/>
              </a:solidFill>
            </a:ln>
          </c:spPr>
          <c:marker>
            <c:symbol val="none"/>
          </c:marker>
          <c:xVal>
            <c:numRef>
              <c:f>'Chart Data'!$A$2:$A$60</c:f>
              <c:numCache>
                <c:formatCode>0</c:formatCod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numCache>
            </c:numRef>
          </c:xVal>
          <c:yVal>
            <c:numRef>
              <c:f>'Chart Data'!$B$2:$B$60</c:f>
              <c:numCache>
                <c:formatCode>0.00</c:formatCode>
                <c:ptCount val="59"/>
                <c:pt idx="0">
                  <c:v>58</c:v>
                </c:pt>
                <c:pt idx="1">
                  <c:v>57</c:v>
                </c:pt>
                <c:pt idx="2">
                  <c:v>56</c:v>
                </c:pt>
                <c:pt idx="3">
                  <c:v>55</c:v>
                </c:pt>
                <c:pt idx="4">
                  <c:v>54</c:v>
                </c:pt>
                <c:pt idx="5">
                  <c:v>53</c:v>
                </c:pt>
                <c:pt idx="6">
                  <c:v>52</c:v>
                </c:pt>
                <c:pt idx="7">
                  <c:v>51</c:v>
                </c:pt>
                <c:pt idx="8">
                  <c:v>50</c:v>
                </c:pt>
                <c:pt idx="9">
                  <c:v>49</c:v>
                </c:pt>
                <c:pt idx="10">
                  <c:v>48</c:v>
                </c:pt>
                <c:pt idx="11">
                  <c:v>47</c:v>
                </c:pt>
                <c:pt idx="12">
                  <c:v>46</c:v>
                </c:pt>
                <c:pt idx="13">
                  <c:v>45</c:v>
                </c:pt>
                <c:pt idx="14">
                  <c:v>44</c:v>
                </c:pt>
                <c:pt idx="15">
                  <c:v>43</c:v>
                </c:pt>
                <c:pt idx="16">
                  <c:v>42</c:v>
                </c:pt>
                <c:pt idx="17">
                  <c:v>41</c:v>
                </c:pt>
                <c:pt idx="18">
                  <c:v>40</c:v>
                </c:pt>
                <c:pt idx="19">
                  <c:v>39</c:v>
                </c:pt>
                <c:pt idx="20">
                  <c:v>38</c:v>
                </c:pt>
                <c:pt idx="21">
                  <c:v>37</c:v>
                </c:pt>
                <c:pt idx="22">
                  <c:v>36</c:v>
                </c:pt>
                <c:pt idx="23">
                  <c:v>35</c:v>
                </c:pt>
                <c:pt idx="24">
                  <c:v>34</c:v>
                </c:pt>
                <c:pt idx="25">
                  <c:v>33</c:v>
                </c:pt>
                <c:pt idx="26">
                  <c:v>32</c:v>
                </c:pt>
                <c:pt idx="27">
                  <c:v>31</c:v>
                </c:pt>
                <c:pt idx="28">
                  <c:v>30</c:v>
                </c:pt>
                <c:pt idx="29">
                  <c:v>29</c:v>
                </c:pt>
                <c:pt idx="30">
                  <c:v>28</c:v>
                </c:pt>
                <c:pt idx="31">
                  <c:v>27</c:v>
                </c:pt>
                <c:pt idx="32">
                  <c:v>26</c:v>
                </c:pt>
                <c:pt idx="33">
                  <c:v>25</c:v>
                </c:pt>
                <c:pt idx="34">
                  <c:v>24</c:v>
                </c:pt>
                <c:pt idx="35">
                  <c:v>23</c:v>
                </c:pt>
                <c:pt idx="36">
                  <c:v>22</c:v>
                </c:pt>
                <c:pt idx="37">
                  <c:v>21</c:v>
                </c:pt>
                <c:pt idx="38">
                  <c:v>20</c:v>
                </c:pt>
                <c:pt idx="39">
                  <c:v>19</c:v>
                </c:pt>
                <c:pt idx="40">
                  <c:v>18</c:v>
                </c:pt>
                <c:pt idx="41">
                  <c:v>17</c:v>
                </c:pt>
                <c:pt idx="42">
                  <c:v>16</c:v>
                </c:pt>
                <c:pt idx="43">
                  <c:v>15</c:v>
                </c:pt>
                <c:pt idx="44">
                  <c:v>14</c:v>
                </c:pt>
                <c:pt idx="45">
                  <c:v>13</c:v>
                </c:pt>
                <c:pt idx="46">
                  <c:v>12</c:v>
                </c:pt>
                <c:pt idx="47">
                  <c:v>11</c:v>
                </c:pt>
                <c:pt idx="48">
                  <c:v>10</c:v>
                </c:pt>
                <c:pt idx="49">
                  <c:v>9</c:v>
                </c:pt>
                <c:pt idx="50">
                  <c:v>8</c:v>
                </c:pt>
                <c:pt idx="51">
                  <c:v>7</c:v>
                </c:pt>
                <c:pt idx="52">
                  <c:v>6</c:v>
                </c:pt>
                <c:pt idx="53">
                  <c:v>5</c:v>
                </c:pt>
                <c:pt idx="54">
                  <c:v>4</c:v>
                </c:pt>
                <c:pt idx="55">
                  <c:v>3</c:v>
                </c:pt>
                <c:pt idx="56">
                  <c:v>2</c:v>
                </c:pt>
                <c:pt idx="57">
                  <c:v>1</c:v>
                </c:pt>
                <c:pt idx="58">
                  <c:v>0</c:v>
                </c:pt>
              </c:numCache>
            </c:numRef>
          </c:yVal>
        </c:ser>
        <c:ser>
          <c:idx val="1"/>
          <c:order val="1"/>
          <c:tx>
            <c:v>CNN 예측</c:v>
          </c:tx>
          <c:spPr>
            <a:ln xmlns:a="http://schemas.openxmlformats.org/drawingml/2006/main" w="23813">
              <a:solidFill>
                <a:srgbClr val="D77938"/>
              </a:solidFill>
            </a:ln>
          </c:spPr>
          <c:marker>
            <c:symbol val="none"/>
          </c:marker>
          <c:xVal>
            <c:numRef>
              <c:f>'Chart Data'!$C$2:$C$60</c:f>
              <c:numCache>
                <c:formatCode>0</c:formatCode>
                <c:ptCount val="5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numCache>
            </c:numRef>
          </c:xVal>
          <c:yVal>
            <c:numRef>
              <c:f>'Chart Data'!$D$2:$D$60</c:f>
              <c:numCache>
                <c:formatCode>0.00</c:formatCode>
                <c:ptCount val="59"/>
                <c:pt idx="0">
                  <c:v>59.4186</c:v>
                </c:pt>
                <c:pt idx="1">
                  <c:v>63.857162</c:v>
                </c:pt>
                <c:pt idx="2">
                  <c:v>56.7926</c:v>
                </c:pt>
                <c:pt idx="3">
                  <c:v>59.948715</c:v>
                </c:pt>
                <c:pt idx="4">
                  <c:v>59.207394</c:v>
                </c:pt>
                <c:pt idx="5">
                  <c:v>60.4578</c:v>
                </c:pt>
                <c:pt idx="6">
                  <c:v>53.533474</c:v>
                </c:pt>
                <c:pt idx="7">
                  <c:v>56.690178</c:v>
                </c:pt>
                <c:pt idx="8">
                  <c:v>56.004982</c:v>
                </c:pt>
                <c:pt idx="9">
                  <c:v>60.646233</c:v>
                </c:pt>
                <c:pt idx="10">
                  <c:v>54.235752</c:v>
                </c:pt>
                <c:pt idx="11">
                  <c:v>60.189594</c:v>
                </c:pt>
                <c:pt idx="12">
                  <c:v>56.499233</c:v>
                </c:pt>
                <c:pt idx="13">
                  <c:v>58.18542</c:v>
                </c:pt>
                <c:pt idx="14">
                  <c:v>56.62132</c:v>
                </c:pt>
                <c:pt idx="15">
                  <c:v>49.78748</c:v>
                </c:pt>
                <c:pt idx="16">
                  <c:v>57.135006</c:v>
                </c:pt>
                <c:pt idx="17">
                  <c:v>57.008484</c:v>
                </c:pt>
                <c:pt idx="18">
                  <c:v>55.212124</c:v>
                </c:pt>
                <c:pt idx="19">
                  <c:v>49.724163</c:v>
                </c:pt>
                <c:pt idx="20">
                  <c:v>46.260323</c:v>
                </c:pt>
                <c:pt idx="21">
                  <c:v>47.966015</c:v>
                </c:pt>
                <c:pt idx="22">
                  <c:v>46.619617</c:v>
                </c:pt>
                <c:pt idx="23">
                  <c:v>46.371956</c:v>
                </c:pt>
                <c:pt idx="24">
                  <c:v>44.448883</c:v>
                </c:pt>
                <c:pt idx="25">
                  <c:v>40.586876</c:v>
                </c:pt>
                <c:pt idx="26">
                  <c:v>39.19113</c:v>
                </c:pt>
                <c:pt idx="27">
                  <c:v>41.671883</c:v>
                </c:pt>
                <c:pt idx="28">
                  <c:v>39.167774</c:v>
                </c:pt>
                <c:pt idx="29">
                  <c:v>36.775272</c:v>
                </c:pt>
                <c:pt idx="30">
                  <c:v>34.941685</c:v>
                </c:pt>
                <c:pt idx="31">
                  <c:v>32.090473</c:v>
                </c:pt>
                <c:pt idx="32">
                  <c:v>32.780632</c:v>
                </c:pt>
                <c:pt idx="33">
                  <c:v>32.046543</c:v>
                </c:pt>
                <c:pt idx="34">
                  <c:v>31.92923</c:v>
                </c:pt>
                <c:pt idx="35">
                  <c:v>28.376974</c:v>
                </c:pt>
                <c:pt idx="36">
                  <c:v>28.134699</c:v>
                </c:pt>
                <c:pt idx="37">
                  <c:v>26.61503</c:v>
                </c:pt>
                <c:pt idx="38">
                  <c:v>24.338188</c:v>
                </c:pt>
                <c:pt idx="39">
                  <c:v>24.367687</c:v>
                </c:pt>
                <c:pt idx="40">
                  <c:v>23.058365</c:v>
                </c:pt>
                <c:pt idx="41">
                  <c:v>21.917326</c:v>
                </c:pt>
                <c:pt idx="42">
                  <c:v>18.701977</c:v>
                </c:pt>
                <c:pt idx="43">
                  <c:v>18.932281</c:v>
                </c:pt>
                <c:pt idx="44">
                  <c:v>17.203577</c:v>
                </c:pt>
                <c:pt idx="45">
                  <c:v>15.923306</c:v>
                </c:pt>
                <c:pt idx="46">
                  <c:v>14.386462</c:v>
                </c:pt>
                <c:pt idx="47">
                  <c:v>13.130472</c:v>
                </c:pt>
                <c:pt idx="48">
                  <c:v>11.225087</c:v>
                </c:pt>
                <c:pt idx="49">
                  <c:v>9.948125</c:v>
                </c:pt>
                <c:pt idx="50">
                  <c:v>8.944178</c:v>
                </c:pt>
                <c:pt idx="51">
                  <c:v>8.014389</c:v>
                </c:pt>
                <c:pt idx="52">
                  <c:v>6.789593</c:v>
                </c:pt>
                <c:pt idx="53">
                  <c:v>5.608849</c:v>
                </c:pt>
                <c:pt idx="54">
                  <c:v>4.721531</c:v>
                </c:pt>
                <c:pt idx="55">
                  <c:v>4.057972</c:v>
                </c:pt>
                <c:pt idx="56">
                  <c:v>2.952924</c:v>
                </c:pt>
                <c:pt idx="57">
                  <c:v>2.595394</c:v>
                </c:pt>
                <c:pt idx="58">
                  <c:v>2.029408</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RUL</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50112"/>
        <c:majorUnit val="2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비행 사이클</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72768"/>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36171"/>
              </a:solidFill>
              <a:latin typeface="Malgun Gothic"/>
              <a:ea typeface="Malgun Gothic"/>
              <a:cs typeface="Malgun Gothic"/>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정답 RUL</c:v>
          </c:tx>
          <c:spPr>
            <a:ln xmlns:a="http://schemas.openxmlformats.org/drawingml/2006/main" w="28575">
              <a:solidFill>
                <a:srgbClr val="234B67"/>
              </a:solidFill>
            </a:ln>
          </c:spPr>
          <c:marker>
            <c:symbol val="none"/>
          </c:marker>
          <c:xVal>
            <c:numRef>
              <c:f>'Chart Data'!$A$2:$A$77</c:f>
              <c:numCache>
                <c:formatCode>0</c:formatCode>
                <c:ptCount val="7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numCache>
            </c:numRef>
          </c:xVal>
          <c:yVal>
            <c:numRef>
              <c:f>'Chart Data'!$B$2:$B$77</c:f>
              <c:numCache>
                <c:formatCode>0.00</c:formatCode>
                <c:ptCount val="76"/>
                <c:pt idx="0">
                  <c:v>75</c:v>
                </c:pt>
                <c:pt idx="1">
                  <c:v>74</c:v>
                </c:pt>
                <c:pt idx="2">
                  <c:v>73</c:v>
                </c:pt>
                <c:pt idx="3">
                  <c:v>72</c:v>
                </c:pt>
                <c:pt idx="4">
                  <c:v>71</c:v>
                </c:pt>
                <c:pt idx="5">
                  <c:v>70</c:v>
                </c:pt>
                <c:pt idx="6">
                  <c:v>69</c:v>
                </c:pt>
                <c:pt idx="7">
                  <c:v>68</c:v>
                </c:pt>
                <c:pt idx="8">
                  <c:v>67</c:v>
                </c:pt>
                <c:pt idx="9">
                  <c:v>66</c:v>
                </c:pt>
                <c:pt idx="10">
                  <c:v>65</c:v>
                </c:pt>
                <c:pt idx="11">
                  <c:v>64</c:v>
                </c:pt>
                <c:pt idx="12">
                  <c:v>63</c:v>
                </c:pt>
                <c:pt idx="13">
                  <c:v>62</c:v>
                </c:pt>
                <c:pt idx="14">
                  <c:v>61</c:v>
                </c:pt>
                <c:pt idx="15">
                  <c:v>60</c:v>
                </c:pt>
                <c:pt idx="16">
                  <c:v>59</c:v>
                </c:pt>
                <c:pt idx="17">
                  <c:v>58</c:v>
                </c:pt>
                <c:pt idx="18">
                  <c:v>57</c:v>
                </c:pt>
                <c:pt idx="19">
                  <c:v>56</c:v>
                </c:pt>
                <c:pt idx="20">
                  <c:v>55</c:v>
                </c:pt>
                <c:pt idx="21">
                  <c:v>54</c:v>
                </c:pt>
                <c:pt idx="22">
                  <c:v>53</c:v>
                </c:pt>
                <c:pt idx="23">
                  <c:v>52</c:v>
                </c:pt>
                <c:pt idx="24">
                  <c:v>51</c:v>
                </c:pt>
                <c:pt idx="25">
                  <c:v>50</c:v>
                </c:pt>
                <c:pt idx="26">
                  <c:v>49</c:v>
                </c:pt>
                <c:pt idx="27">
                  <c:v>48</c:v>
                </c:pt>
                <c:pt idx="28">
                  <c:v>47</c:v>
                </c:pt>
                <c:pt idx="29">
                  <c:v>46</c:v>
                </c:pt>
                <c:pt idx="30">
                  <c:v>45</c:v>
                </c:pt>
                <c:pt idx="31">
                  <c:v>44</c:v>
                </c:pt>
                <c:pt idx="32">
                  <c:v>43</c:v>
                </c:pt>
                <c:pt idx="33">
                  <c:v>42</c:v>
                </c:pt>
                <c:pt idx="34">
                  <c:v>41</c:v>
                </c:pt>
                <c:pt idx="35">
                  <c:v>40</c:v>
                </c:pt>
                <c:pt idx="36">
                  <c:v>39</c:v>
                </c:pt>
                <c:pt idx="37">
                  <c:v>38</c:v>
                </c:pt>
                <c:pt idx="38">
                  <c:v>37</c:v>
                </c:pt>
                <c:pt idx="39">
                  <c:v>36</c:v>
                </c:pt>
                <c:pt idx="40">
                  <c:v>35</c:v>
                </c:pt>
                <c:pt idx="41">
                  <c:v>34</c:v>
                </c:pt>
                <c:pt idx="42">
                  <c:v>33</c:v>
                </c:pt>
                <c:pt idx="43">
                  <c:v>32</c:v>
                </c:pt>
                <c:pt idx="44">
                  <c:v>31</c:v>
                </c:pt>
                <c:pt idx="45">
                  <c:v>30</c:v>
                </c:pt>
                <c:pt idx="46">
                  <c:v>29</c:v>
                </c:pt>
                <c:pt idx="47">
                  <c:v>28</c:v>
                </c:pt>
                <c:pt idx="48">
                  <c:v>27</c:v>
                </c:pt>
                <c:pt idx="49">
                  <c:v>26</c:v>
                </c:pt>
                <c:pt idx="50">
                  <c:v>25</c:v>
                </c:pt>
                <c:pt idx="51">
                  <c:v>24</c:v>
                </c:pt>
                <c:pt idx="52">
                  <c:v>23</c:v>
                </c:pt>
                <c:pt idx="53">
                  <c:v>22</c:v>
                </c:pt>
                <c:pt idx="54">
                  <c:v>21</c:v>
                </c:pt>
                <c:pt idx="55">
                  <c:v>20</c:v>
                </c:pt>
                <c:pt idx="56">
                  <c:v>19</c:v>
                </c:pt>
                <c:pt idx="57">
                  <c:v>18</c:v>
                </c:pt>
                <c:pt idx="58">
                  <c:v>17</c:v>
                </c:pt>
                <c:pt idx="59">
                  <c:v>16</c:v>
                </c:pt>
                <c:pt idx="60">
                  <c:v>15</c:v>
                </c:pt>
                <c:pt idx="61">
                  <c:v>14</c:v>
                </c:pt>
                <c:pt idx="62">
                  <c:v>13</c:v>
                </c:pt>
                <c:pt idx="63">
                  <c:v>12</c:v>
                </c:pt>
                <c:pt idx="64">
                  <c:v>11</c:v>
                </c:pt>
                <c:pt idx="65">
                  <c:v>10</c:v>
                </c:pt>
                <c:pt idx="66">
                  <c:v>9</c:v>
                </c:pt>
                <c:pt idx="67">
                  <c:v>8</c:v>
                </c:pt>
                <c:pt idx="68">
                  <c:v>7</c:v>
                </c:pt>
                <c:pt idx="69">
                  <c:v>6</c:v>
                </c:pt>
                <c:pt idx="70">
                  <c:v>5</c:v>
                </c:pt>
                <c:pt idx="71">
                  <c:v>4</c:v>
                </c:pt>
                <c:pt idx="72">
                  <c:v>3</c:v>
                </c:pt>
                <c:pt idx="73">
                  <c:v>2</c:v>
                </c:pt>
                <c:pt idx="74">
                  <c:v>1</c:v>
                </c:pt>
                <c:pt idx="75">
                  <c:v>0</c:v>
                </c:pt>
              </c:numCache>
            </c:numRef>
          </c:yVal>
        </c:ser>
        <c:ser>
          <c:idx val="1"/>
          <c:order val="1"/>
          <c:tx>
            <c:v>CNN 예측</c:v>
          </c:tx>
          <c:spPr>
            <a:ln xmlns:a="http://schemas.openxmlformats.org/drawingml/2006/main" w="23813">
              <a:solidFill>
                <a:srgbClr val="D77938"/>
              </a:solidFill>
            </a:ln>
          </c:spPr>
          <c:marker>
            <c:symbol val="none"/>
          </c:marker>
          <c:xVal>
            <c:numRef>
              <c:f>'Chart Data'!$C$2:$C$77</c:f>
              <c:numCache>
                <c:formatCode>0</c:formatCode>
                <c:ptCount val="7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numCache>
            </c:numRef>
          </c:xVal>
          <c:yVal>
            <c:numRef>
              <c:f>'Chart Data'!$D$2:$D$77</c:f>
              <c:numCache>
                <c:formatCode>0.00</c:formatCode>
                <c:ptCount val="76"/>
                <c:pt idx="0">
                  <c:v>60.896263</c:v>
                </c:pt>
                <c:pt idx="1">
                  <c:v>58.693325</c:v>
                </c:pt>
                <c:pt idx="2">
                  <c:v>59.359474</c:v>
                </c:pt>
                <c:pt idx="3">
                  <c:v>58.095726</c:v>
                </c:pt>
                <c:pt idx="4">
                  <c:v>60.393543</c:v>
                </c:pt>
                <c:pt idx="5">
                  <c:v>56.493526</c:v>
                </c:pt>
                <c:pt idx="6">
                  <c:v>58.003296</c:v>
                </c:pt>
                <c:pt idx="7">
                  <c:v>61.805233</c:v>
                </c:pt>
                <c:pt idx="8">
                  <c:v>60.51522</c:v>
                </c:pt>
                <c:pt idx="9">
                  <c:v>59.01284</c:v>
                </c:pt>
                <c:pt idx="10">
                  <c:v>56.58088</c:v>
                </c:pt>
                <c:pt idx="11">
                  <c:v>57.619446</c:v>
                </c:pt>
                <c:pt idx="12">
                  <c:v>51.908314</c:v>
                </c:pt>
                <c:pt idx="13">
                  <c:v>51.369022</c:v>
                </c:pt>
                <c:pt idx="14">
                  <c:v>51.103924</c:v>
                </c:pt>
                <c:pt idx="15">
                  <c:v>55.79288</c:v>
                </c:pt>
                <c:pt idx="16">
                  <c:v>54.918697</c:v>
                </c:pt>
                <c:pt idx="17">
                  <c:v>50.623592</c:v>
                </c:pt>
                <c:pt idx="18">
                  <c:v>56.457767</c:v>
                </c:pt>
                <c:pt idx="19">
                  <c:v>49.687984</c:v>
                </c:pt>
                <c:pt idx="20">
                  <c:v>55.385822</c:v>
                </c:pt>
                <c:pt idx="21">
                  <c:v>50.161674</c:v>
                </c:pt>
                <c:pt idx="22">
                  <c:v>52.852016</c:v>
                </c:pt>
                <c:pt idx="23">
                  <c:v>50.909473</c:v>
                </c:pt>
                <c:pt idx="24">
                  <c:v>50.898605</c:v>
                </c:pt>
                <c:pt idx="25">
                  <c:v>51.44012</c:v>
                </c:pt>
                <c:pt idx="26">
                  <c:v>49.90273</c:v>
                </c:pt>
                <c:pt idx="27">
                  <c:v>45.62241</c:v>
                </c:pt>
                <c:pt idx="28">
                  <c:v>46.25574</c:v>
                </c:pt>
                <c:pt idx="29">
                  <c:v>48.499874</c:v>
                </c:pt>
                <c:pt idx="30">
                  <c:v>44.95467</c:v>
                </c:pt>
                <c:pt idx="31">
                  <c:v>44.776413</c:v>
                </c:pt>
                <c:pt idx="32">
                  <c:v>45.62404</c:v>
                </c:pt>
                <c:pt idx="33">
                  <c:v>44.343864</c:v>
                </c:pt>
                <c:pt idx="34">
                  <c:v>51.090313</c:v>
                </c:pt>
                <c:pt idx="35">
                  <c:v>50.35079</c:v>
                </c:pt>
                <c:pt idx="36">
                  <c:v>45.59904</c:v>
                </c:pt>
                <c:pt idx="37">
                  <c:v>47.885323</c:v>
                </c:pt>
                <c:pt idx="38">
                  <c:v>42.62108</c:v>
                </c:pt>
                <c:pt idx="39">
                  <c:v>41.488766</c:v>
                </c:pt>
                <c:pt idx="40">
                  <c:v>41.38865</c:v>
                </c:pt>
                <c:pt idx="41">
                  <c:v>40.29456</c:v>
                </c:pt>
                <c:pt idx="42">
                  <c:v>41.0152</c:v>
                </c:pt>
                <c:pt idx="43">
                  <c:v>39.548725</c:v>
                </c:pt>
                <c:pt idx="44">
                  <c:v>37.867718</c:v>
                </c:pt>
                <c:pt idx="45">
                  <c:v>33.763813</c:v>
                </c:pt>
                <c:pt idx="46">
                  <c:v>32.54909</c:v>
                </c:pt>
                <c:pt idx="47">
                  <c:v>32.159187</c:v>
                </c:pt>
                <c:pt idx="48">
                  <c:v>30.306608</c:v>
                </c:pt>
                <c:pt idx="49">
                  <c:v>30.457872</c:v>
                </c:pt>
                <c:pt idx="50">
                  <c:v>27.885998</c:v>
                </c:pt>
                <c:pt idx="51">
                  <c:v>28.020327</c:v>
                </c:pt>
                <c:pt idx="52">
                  <c:v>26.825052</c:v>
                </c:pt>
                <c:pt idx="53">
                  <c:v>26.373964</c:v>
                </c:pt>
                <c:pt idx="54">
                  <c:v>24.17016</c:v>
                </c:pt>
                <c:pt idx="55">
                  <c:v>25.141064</c:v>
                </c:pt>
                <c:pt idx="56">
                  <c:v>21.929153</c:v>
                </c:pt>
                <c:pt idx="57">
                  <c:v>21.122765</c:v>
                </c:pt>
                <c:pt idx="58">
                  <c:v>21.213432</c:v>
                </c:pt>
                <c:pt idx="59">
                  <c:v>19.535442</c:v>
                </c:pt>
                <c:pt idx="60">
                  <c:v>16.517197</c:v>
                </c:pt>
                <c:pt idx="61">
                  <c:v>15.258219</c:v>
                </c:pt>
                <c:pt idx="62">
                  <c:v>14.64315</c:v>
                </c:pt>
                <c:pt idx="63">
                  <c:v>13.721954</c:v>
                </c:pt>
                <c:pt idx="64">
                  <c:v>12.193748</c:v>
                </c:pt>
                <c:pt idx="65">
                  <c:v>10.379427</c:v>
                </c:pt>
                <c:pt idx="66">
                  <c:v>9.73965</c:v>
                </c:pt>
                <c:pt idx="67">
                  <c:v>8.408361</c:v>
                </c:pt>
                <c:pt idx="68">
                  <c:v>7.316959</c:v>
                </c:pt>
                <c:pt idx="69">
                  <c:v>6.185515</c:v>
                </c:pt>
                <c:pt idx="70">
                  <c:v>5.51084</c:v>
                </c:pt>
                <c:pt idx="71">
                  <c:v>4.651156</c:v>
                </c:pt>
                <c:pt idx="72">
                  <c:v>3.653526</c:v>
                </c:pt>
                <c:pt idx="73">
                  <c:v>2.89973</c:v>
                </c:pt>
                <c:pt idx="74">
                  <c:v>2.510128</c:v>
                </c:pt>
                <c:pt idx="75">
                  <c:v>1.818224</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RUL</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50112"/>
        <c:majorUnit val="2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비행 사이클</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72768"/>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36171"/>
              </a:solidFill>
              <a:latin typeface="Malgun Gothic"/>
              <a:ea typeface="Malgun Gothic"/>
              <a:cs typeface="Malgun Gothic"/>
            </a:defRPr>
          </a:pPr>
        </a:p>
      </c:txPr>
    </c:legend>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정답 RUL</c:v>
          </c:tx>
          <c:spPr>
            <a:ln xmlns:a="http://schemas.openxmlformats.org/drawingml/2006/main" w="28575">
              <a:solidFill>
                <a:srgbClr val="234B67"/>
              </a:solidFill>
            </a:ln>
          </c:spPr>
          <c:marker>
            <c:symbol val="none"/>
          </c:marker>
          <c:xVal>
            <c:numRef>
              <c:f>'Chart Data'!$A$2:$A$68</c:f>
              <c:numCache>
                <c:formatCode>0</c:formatCode>
                <c:ptCount val="67"/>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numCache>
            </c:numRef>
          </c:xVal>
          <c:yVal>
            <c:numRef>
              <c:f>'Chart Data'!$B$2:$B$68</c:f>
              <c:numCache>
                <c:formatCode>0.00</c:formatCode>
                <c:ptCount val="67"/>
                <c:pt idx="0">
                  <c:v>66</c:v>
                </c:pt>
                <c:pt idx="1">
                  <c:v>65</c:v>
                </c:pt>
                <c:pt idx="2">
                  <c:v>64</c:v>
                </c:pt>
                <c:pt idx="3">
                  <c:v>63</c:v>
                </c:pt>
                <c:pt idx="4">
                  <c:v>62</c:v>
                </c:pt>
                <c:pt idx="5">
                  <c:v>61</c:v>
                </c:pt>
                <c:pt idx="6">
                  <c:v>60</c:v>
                </c:pt>
                <c:pt idx="7">
                  <c:v>59</c:v>
                </c:pt>
                <c:pt idx="8">
                  <c:v>58</c:v>
                </c:pt>
                <c:pt idx="9">
                  <c:v>57</c:v>
                </c:pt>
                <c:pt idx="10">
                  <c:v>56</c:v>
                </c:pt>
                <c:pt idx="11">
                  <c:v>55</c:v>
                </c:pt>
                <c:pt idx="12">
                  <c:v>54</c:v>
                </c:pt>
                <c:pt idx="13">
                  <c:v>53</c:v>
                </c:pt>
                <c:pt idx="14">
                  <c:v>52</c:v>
                </c:pt>
                <c:pt idx="15">
                  <c:v>51</c:v>
                </c:pt>
                <c:pt idx="16">
                  <c:v>50</c:v>
                </c:pt>
                <c:pt idx="17">
                  <c:v>49</c:v>
                </c:pt>
                <c:pt idx="18">
                  <c:v>48</c:v>
                </c:pt>
                <c:pt idx="19">
                  <c:v>47</c:v>
                </c:pt>
                <c:pt idx="20">
                  <c:v>46</c:v>
                </c:pt>
                <c:pt idx="21">
                  <c:v>45</c:v>
                </c:pt>
                <c:pt idx="22">
                  <c:v>44</c:v>
                </c:pt>
                <c:pt idx="23">
                  <c:v>43</c:v>
                </c:pt>
                <c:pt idx="24">
                  <c:v>42</c:v>
                </c:pt>
                <c:pt idx="25">
                  <c:v>41</c:v>
                </c:pt>
                <c:pt idx="26">
                  <c:v>40</c:v>
                </c:pt>
                <c:pt idx="27">
                  <c:v>39</c:v>
                </c:pt>
                <c:pt idx="28">
                  <c:v>38</c:v>
                </c:pt>
                <c:pt idx="29">
                  <c:v>37</c:v>
                </c:pt>
                <c:pt idx="30">
                  <c:v>36</c:v>
                </c:pt>
                <c:pt idx="31">
                  <c:v>35</c:v>
                </c:pt>
                <c:pt idx="32">
                  <c:v>34</c:v>
                </c:pt>
                <c:pt idx="33">
                  <c:v>33</c:v>
                </c:pt>
                <c:pt idx="34">
                  <c:v>32</c:v>
                </c:pt>
                <c:pt idx="35">
                  <c:v>31</c:v>
                </c:pt>
                <c:pt idx="36">
                  <c:v>30</c:v>
                </c:pt>
                <c:pt idx="37">
                  <c:v>29</c:v>
                </c:pt>
                <c:pt idx="38">
                  <c:v>28</c:v>
                </c:pt>
                <c:pt idx="39">
                  <c:v>27</c:v>
                </c:pt>
                <c:pt idx="40">
                  <c:v>26</c:v>
                </c:pt>
                <c:pt idx="41">
                  <c:v>25</c:v>
                </c:pt>
                <c:pt idx="42">
                  <c:v>24</c:v>
                </c:pt>
                <c:pt idx="43">
                  <c:v>23</c:v>
                </c:pt>
                <c:pt idx="44">
                  <c:v>22</c:v>
                </c:pt>
                <c:pt idx="45">
                  <c:v>21</c:v>
                </c:pt>
                <c:pt idx="46">
                  <c:v>20</c:v>
                </c:pt>
                <c:pt idx="47">
                  <c:v>19</c:v>
                </c:pt>
                <c:pt idx="48">
                  <c:v>18</c:v>
                </c:pt>
                <c:pt idx="49">
                  <c:v>17</c:v>
                </c:pt>
                <c:pt idx="50">
                  <c:v>16</c:v>
                </c:pt>
                <c:pt idx="51">
                  <c:v>15</c:v>
                </c:pt>
                <c:pt idx="52">
                  <c:v>14</c:v>
                </c:pt>
                <c:pt idx="53">
                  <c:v>13</c:v>
                </c:pt>
                <c:pt idx="54">
                  <c:v>12</c:v>
                </c:pt>
                <c:pt idx="55">
                  <c:v>11</c:v>
                </c:pt>
                <c:pt idx="56">
                  <c:v>10</c:v>
                </c:pt>
                <c:pt idx="57">
                  <c:v>9</c:v>
                </c:pt>
                <c:pt idx="58">
                  <c:v>8</c:v>
                </c:pt>
                <c:pt idx="59">
                  <c:v>7</c:v>
                </c:pt>
                <c:pt idx="60">
                  <c:v>6</c:v>
                </c:pt>
                <c:pt idx="61">
                  <c:v>5</c:v>
                </c:pt>
                <c:pt idx="62">
                  <c:v>4</c:v>
                </c:pt>
                <c:pt idx="63">
                  <c:v>3</c:v>
                </c:pt>
                <c:pt idx="64">
                  <c:v>2</c:v>
                </c:pt>
                <c:pt idx="65">
                  <c:v>1</c:v>
                </c:pt>
                <c:pt idx="66">
                  <c:v>0</c:v>
                </c:pt>
              </c:numCache>
            </c:numRef>
          </c:yVal>
        </c:ser>
        <c:ser>
          <c:idx val="1"/>
          <c:order val="1"/>
          <c:tx>
            <c:v>CNN 예측</c:v>
          </c:tx>
          <c:spPr>
            <a:ln xmlns:a="http://schemas.openxmlformats.org/drawingml/2006/main" w="23813">
              <a:solidFill>
                <a:srgbClr val="D77938"/>
              </a:solidFill>
            </a:ln>
          </c:spPr>
          <c:marker>
            <c:symbol val="none"/>
          </c:marker>
          <c:xVal>
            <c:numRef>
              <c:f>'Chart Data'!$C$2:$C$68</c:f>
              <c:numCache>
                <c:formatCode>0</c:formatCode>
                <c:ptCount val="67"/>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numCache>
            </c:numRef>
          </c:xVal>
          <c:yVal>
            <c:numRef>
              <c:f>'Chart Data'!$D$2:$D$68</c:f>
              <c:numCache>
                <c:formatCode>0.00</c:formatCode>
                <c:ptCount val="67"/>
                <c:pt idx="0">
                  <c:v>59.057358</c:v>
                </c:pt>
                <c:pt idx="1">
                  <c:v>60.89379</c:v>
                </c:pt>
                <c:pt idx="2">
                  <c:v>61.45971</c:v>
                </c:pt>
                <c:pt idx="3">
                  <c:v>56.999065</c:v>
                </c:pt>
                <c:pt idx="4">
                  <c:v>56.954483</c:v>
                </c:pt>
                <c:pt idx="5">
                  <c:v>57.538574</c:v>
                </c:pt>
                <c:pt idx="6">
                  <c:v>57.40351</c:v>
                </c:pt>
                <c:pt idx="7">
                  <c:v>56.02975</c:v>
                </c:pt>
                <c:pt idx="8">
                  <c:v>50.854656</c:v>
                </c:pt>
                <c:pt idx="9">
                  <c:v>54.452927</c:v>
                </c:pt>
                <c:pt idx="10">
                  <c:v>54.83481</c:v>
                </c:pt>
                <c:pt idx="11">
                  <c:v>55.625954</c:v>
                </c:pt>
                <c:pt idx="12">
                  <c:v>59.47778</c:v>
                </c:pt>
                <c:pt idx="13">
                  <c:v>56.238117</c:v>
                </c:pt>
                <c:pt idx="14">
                  <c:v>52.358715</c:v>
                </c:pt>
                <c:pt idx="15">
                  <c:v>52.028797</c:v>
                </c:pt>
                <c:pt idx="16">
                  <c:v>53.256226</c:v>
                </c:pt>
                <c:pt idx="17">
                  <c:v>52.057724</c:v>
                </c:pt>
                <c:pt idx="18">
                  <c:v>47.44902</c:v>
                </c:pt>
                <c:pt idx="19">
                  <c:v>50.96258</c:v>
                </c:pt>
                <c:pt idx="20">
                  <c:v>52.33157</c:v>
                </c:pt>
                <c:pt idx="21">
                  <c:v>45.98907</c:v>
                </c:pt>
                <c:pt idx="22">
                  <c:v>52.695763</c:v>
                </c:pt>
                <c:pt idx="23">
                  <c:v>46.87576</c:v>
                </c:pt>
                <c:pt idx="24">
                  <c:v>48.57442</c:v>
                </c:pt>
                <c:pt idx="25">
                  <c:v>38.478546</c:v>
                </c:pt>
                <c:pt idx="26">
                  <c:v>39.88033</c:v>
                </c:pt>
                <c:pt idx="27">
                  <c:v>40.153168</c:v>
                </c:pt>
                <c:pt idx="28">
                  <c:v>37.465553</c:v>
                </c:pt>
                <c:pt idx="29">
                  <c:v>42.368004</c:v>
                </c:pt>
                <c:pt idx="30">
                  <c:v>39.06816</c:v>
                </c:pt>
                <c:pt idx="31">
                  <c:v>36.002357</c:v>
                </c:pt>
                <c:pt idx="32">
                  <c:v>37.592514</c:v>
                </c:pt>
                <c:pt idx="33">
                  <c:v>36.683792</c:v>
                </c:pt>
                <c:pt idx="34">
                  <c:v>36.827694</c:v>
                </c:pt>
                <c:pt idx="35">
                  <c:v>38.238934</c:v>
                </c:pt>
                <c:pt idx="36">
                  <c:v>36.78899</c:v>
                </c:pt>
                <c:pt idx="37">
                  <c:v>33.458374</c:v>
                </c:pt>
                <c:pt idx="38">
                  <c:v>31.31403</c:v>
                </c:pt>
                <c:pt idx="39">
                  <c:v>29.058905</c:v>
                </c:pt>
                <c:pt idx="40">
                  <c:v>29.835861</c:v>
                </c:pt>
                <c:pt idx="41">
                  <c:v>29.578201</c:v>
                </c:pt>
                <c:pt idx="42">
                  <c:v>25.706684</c:v>
                </c:pt>
                <c:pt idx="43">
                  <c:v>25.392181</c:v>
                </c:pt>
                <c:pt idx="44">
                  <c:v>25.00576</c:v>
                </c:pt>
                <c:pt idx="45">
                  <c:v>22.625893</c:v>
                </c:pt>
                <c:pt idx="46">
                  <c:v>23.20976</c:v>
                </c:pt>
                <c:pt idx="47">
                  <c:v>21.550907</c:v>
                </c:pt>
                <c:pt idx="48">
                  <c:v>21.446913</c:v>
                </c:pt>
                <c:pt idx="49">
                  <c:v>18.337452</c:v>
                </c:pt>
                <c:pt idx="50">
                  <c:v>16.897648</c:v>
                </c:pt>
                <c:pt idx="51">
                  <c:v>16.459934</c:v>
                </c:pt>
                <c:pt idx="52">
                  <c:v>14.549883</c:v>
                </c:pt>
                <c:pt idx="53">
                  <c:v>13.259342</c:v>
                </c:pt>
                <c:pt idx="54">
                  <c:v>12.289881</c:v>
                </c:pt>
                <c:pt idx="55">
                  <c:v>10.245477</c:v>
                </c:pt>
                <c:pt idx="56">
                  <c:v>10.6071</c:v>
                </c:pt>
                <c:pt idx="57">
                  <c:v>8.745092</c:v>
                </c:pt>
                <c:pt idx="58">
                  <c:v>7.682296</c:v>
                </c:pt>
                <c:pt idx="59">
                  <c:v>6.833612</c:v>
                </c:pt>
                <c:pt idx="60">
                  <c:v>5.577563</c:v>
                </c:pt>
                <c:pt idx="61">
                  <c:v>5.03298</c:v>
                </c:pt>
                <c:pt idx="62">
                  <c:v>4.31692</c:v>
                </c:pt>
                <c:pt idx="63">
                  <c:v>3.622592</c:v>
                </c:pt>
                <c:pt idx="64">
                  <c:v>3.074336</c:v>
                </c:pt>
                <c:pt idx="65">
                  <c:v>2.324711</c:v>
                </c:pt>
                <c:pt idx="66">
                  <c:v>1.896233</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RUL</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50112"/>
        <c:majorUnit val="2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비행 사이클</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171"/>
                </a:solidFill>
                <a:latin typeface="Malgun Gothic"/>
                <a:ea typeface="Malgun Gothic"/>
                <a:cs typeface="Malgun Gothic"/>
              </a:defRPr>
            </a:pPr>
          </a:p>
        </c:txPr>
        <c:crossAx val="48672768"/>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36171"/>
              </a:solidFill>
              <a:latin typeface="Malgun Gothic"/>
              <a:ea typeface="Malgun Gothic"/>
              <a:cs typeface="Malgun Gothic"/>
            </a:defRPr>
          </a:pPr>
        </a:p>
      </c:txPr>
    </c:legend>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최소</c:v>
          </c:tx>
          <c:spPr>
            <a:solidFill xmlns:a="http://schemas.openxmlformats.org/drawingml/2006/main">
              <a:srgbClr val="C3D2DB"/>
            </a:solidFill>
          </c:spPr>
          <c:cat>
            <c:numRef>
              <c:f>'Chart Data'!$A$2:$A$5</c:f>
              <c:numCache>
                <c:formatCode>General</c:formatCode>
                <c:ptCount val="4"/>
                <c:pt idx="0">
                  <c:v>1</c:v>
                </c:pt>
                <c:pt idx="1">
                  <c:v>2</c:v>
                </c:pt>
                <c:pt idx="2">
                  <c:v>4</c:v>
                </c:pt>
                <c:pt idx="3">
                  <c:v>8</c:v>
                </c:pt>
              </c:numCache>
            </c:numRef>
          </c:cat>
          <c:val>
            <c:numRef>
              <c:f>'Chart Data'!$B$2:$B$5</c:f>
              <c:numCache>
                <c:formatCode>0.00</c:formatCode>
                <c:ptCount val="4"/>
                <c:pt idx="0">
                  <c:v>2.152144</c:v>
                </c:pt>
                <c:pt idx="1">
                  <c:v>1.771851</c:v>
                </c:pt>
                <c:pt idx="2">
                  <c:v>1.471917</c:v>
                </c:pt>
                <c:pt idx="3">
                  <c:v>1.598367</c:v>
                </c:pt>
              </c:numCache>
            </c:numRef>
          </c:val>
        </c:ser>
        <c:ser>
          <c:idx val="1"/>
          <c:order val="1"/>
          <c:tx>
            <c:v>중앙값</c:v>
          </c:tx>
          <c:spPr>
            <a:solidFill xmlns:a="http://schemas.openxmlformats.org/drawingml/2006/main">
              <a:srgbClr val="087F8C"/>
            </a:solidFill>
          </c:spPr>
          <c:dLbls>
            <c:dLbl>
              <c:idx val="0"/>
              <c:txPr>
                <a:bodyPr xmlns:a="http://schemas.openxmlformats.org/drawingml/2006/main" anchorCtr="1"/>
                <a:lstStyle xmlns:a="http://schemas.openxmlformats.org/drawingml/2006/main"/>
                <a:p xmlns:a="http://schemas.openxmlformats.org/drawingml/2006/main">
                  <a:pPr>
                    <a:defRPr sz="1500" b="1">
                      <a:solidFill>
                        <a:srgbClr val="122536"/>
                      </a:solidFill>
                      <a:latin typeface="Malgun Gothic"/>
                      <a:ea typeface="Malgun Gothic"/>
                      <a:cs typeface="Malgun Gothic"/>
                    </a:defRPr>
                  </a:pPr>
                </a:p>
              </c:txPr>
              <c:dLblPos val="outEnd"/>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500" b="1">
                      <a:solidFill>
                        <a:srgbClr val="122536"/>
                      </a:solidFill>
                      <a:latin typeface="Malgun Gothic"/>
                      <a:ea typeface="Malgun Gothic"/>
                      <a:cs typeface="Malgun Gothic"/>
                    </a:defRPr>
                  </a:pPr>
                </a:p>
              </c:txPr>
              <c:dLblPos val="outEnd"/>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500" b="1">
                      <a:solidFill>
                        <a:srgbClr val="122536"/>
                      </a:solidFill>
                      <a:latin typeface="Malgun Gothic"/>
                      <a:ea typeface="Malgun Gothic"/>
                      <a:cs typeface="Malgun Gothic"/>
                    </a:defRPr>
                  </a:pPr>
                </a:p>
              </c:txPr>
              <c:dLblPos val="outEnd"/>
              <c:showLegendKey val="0"/>
              <c:showVal val="1"/>
              <c:showCatName val="0"/>
              <c:showSerName val="0"/>
              <c:showPercent val="0"/>
              <c:showBubbleSize val="0"/>
            </c:dLbl>
            <c:dLbl>
              <c:idx val="3"/>
              <c:txPr>
                <a:bodyPr xmlns:a="http://schemas.openxmlformats.org/drawingml/2006/main" anchorCtr="1"/>
                <a:lstStyle xmlns:a="http://schemas.openxmlformats.org/drawingml/2006/main"/>
                <a:p xmlns:a="http://schemas.openxmlformats.org/drawingml/2006/main">
                  <a:pPr>
                    <a:defRPr sz="1500" b="1">
                      <a:solidFill>
                        <a:srgbClr val="122536"/>
                      </a:solidFill>
                      <a:latin typeface="Malgun Gothic"/>
                      <a:ea typeface="Malgun Gothic"/>
                      <a:cs typeface="Malgun Gothic"/>
                    </a:defRPr>
                  </a:pPr>
                </a:p>
              </c:txPr>
              <c:dLblPos val="outEnd"/>
              <c:showLegendKey val="0"/>
              <c:showVal val="1"/>
              <c:showCatName val="0"/>
              <c:showSerName val="0"/>
              <c:showPercent val="0"/>
              <c:showBubbleSize val="0"/>
            </c:dLbl>
          </c:dLbls>
          <c:cat>
            <c:numRef>
              <c:f>'Chart Data'!$C$2:$C$5</c:f>
              <c:numCache>
                <c:formatCode>General</c:formatCode>
                <c:ptCount val="4"/>
                <c:pt idx="0">
                  <c:v>1</c:v>
                </c:pt>
                <c:pt idx="1">
                  <c:v>2</c:v>
                </c:pt>
                <c:pt idx="2">
                  <c:v>4</c:v>
                </c:pt>
                <c:pt idx="3">
                  <c:v>8</c:v>
                </c:pt>
              </c:numCache>
            </c:numRef>
          </c:cat>
          <c:val>
            <c:numRef>
              <c:f>'Chart Data'!$D$2:$D$5</c:f>
              <c:numCache>
                <c:formatCode>0.00</c:formatCode>
                <c:ptCount val="4"/>
                <c:pt idx="0">
                  <c:v>2.152596</c:v>
                </c:pt>
                <c:pt idx="1">
                  <c:v>1.7775</c:v>
                </c:pt>
                <c:pt idx="2">
                  <c:v>1.473292</c:v>
                </c:pt>
                <c:pt idx="3">
                  <c:v>1.62122</c:v>
                </c:pt>
              </c:numCache>
            </c:numRef>
          </c:val>
        </c:ser>
        <c:ser>
          <c:idx val="2"/>
          <c:order val="2"/>
          <c:tx>
            <c:v>최대</c:v>
          </c:tx>
          <c:spPr>
            <a:solidFill xmlns:a="http://schemas.openxmlformats.org/drawingml/2006/main">
              <a:srgbClr val="D77938"/>
            </a:solidFill>
          </c:spPr>
          <c:dLbls>
            <c:dLbl>
              <c:idx val="2"/>
              <c:txPr>
                <a:bodyPr xmlns:a="http://schemas.openxmlformats.org/drawingml/2006/main" anchorCtr="1"/>
                <a:lstStyle xmlns:a="http://schemas.openxmlformats.org/drawingml/2006/main"/>
                <a:p xmlns:a="http://schemas.openxmlformats.org/drawingml/2006/main">
                  <a:pPr>
                    <a:defRPr sz="1500" b="1">
                      <a:solidFill>
                        <a:srgbClr val="D77938"/>
                      </a:solidFill>
                      <a:latin typeface="Malgun Gothic"/>
                      <a:ea typeface="Malgun Gothic"/>
                      <a:cs typeface="Malgun Gothic"/>
                    </a:defRPr>
                  </a:pPr>
                </a:p>
              </c:txPr>
              <c:dLblPos val="outEnd"/>
              <c:showLegendKey val="0"/>
              <c:showVal val="1"/>
              <c:showCatName val="0"/>
              <c:showSerName val="0"/>
              <c:showPercent val="0"/>
              <c:showBubbleSize val="0"/>
            </c:dLbl>
          </c:dLbls>
          <c:cat>
            <c:numRef>
              <c:f>'Chart Data'!$E$2:$E$5</c:f>
              <c:numCache>
                <c:formatCode>General</c:formatCode>
                <c:ptCount val="4"/>
                <c:pt idx="0">
                  <c:v>1</c:v>
                </c:pt>
                <c:pt idx="1">
                  <c:v>2</c:v>
                </c:pt>
                <c:pt idx="2">
                  <c:v>4</c:v>
                </c:pt>
                <c:pt idx="3">
                  <c:v>8</c:v>
                </c:pt>
              </c:numCache>
            </c:numRef>
          </c:cat>
          <c:val>
            <c:numRef>
              <c:f>'Chart Data'!$F$2:$F$5</c:f>
              <c:numCache>
                <c:formatCode>0.00</c:formatCode>
                <c:ptCount val="4"/>
                <c:pt idx="0">
                  <c:v>2.189645</c:v>
                </c:pt>
                <c:pt idx="1">
                  <c:v>1.807514</c:v>
                </c:pt>
                <c:pt idx="2">
                  <c:v>2.285063</c:v>
                </c:pt>
                <c:pt idx="3">
                  <c:v>1.637242</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작업자 수</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crossAx val="48672768"/>
      </c:catAx>
      <c:valAx>
        <c:axId val="48672768"/>
        <c:scaling>
          <c:orientation val="minMax"/>
          <c:max val="2.6"/>
          <c:min val="0"/>
        </c:scaling>
        <c:delete val="0"/>
        <c:axPos val="l"/>
        <c:majorGridlines>
          <c:spPr>
            <a:ln xmlns:a="http://schemas.openxmlformats.org/drawingml/2006/main" w="9525">
              <a:solidFill>
                <a:srgbClr val="CED8E0"/>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처리 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crossAx val="48650112"/>
        <c:crossBetween val="between"/>
        <c:majorUnit val="0.5"/>
      </c:valAx>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36171"/>
              </a:solidFill>
              <a:latin typeface="Malgun Gothic"/>
              <a:ea typeface="Malgun Gothic"/>
              <a:cs typeface="Malgun Gothic"/>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F46FD0F-1551-450E-9F7F-E96D4FEEFAE5}"/>
              </a:ext>
            </a:extLst>
          </p:cNvPr>
          <p:cNvSpPr>
            <a:spLocks xmlns:a="http://schemas.openxmlformats.org/drawingml/2006/main" noGrp="1"/>
          </p:cNvSpPr>
          <p:nvPr/>
        </p:nvSpPr>
        <p:spPr>
          <a:xfrm xmlns:a="http://schemas.openxmlformats.org/drawingml/2006/main">
            <a:off x="685800" y="1028700"/>
            <a:ext cx="6191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22536"/>
                </a:solidFill>
                <a:latin typeface="Malgun Gothic"/>
                <a:ea typeface="Malgun Gothic"/>
                <a:cs typeface="Malgun Gothic"/>
              </a:defRPr>
            </a:pPr>
            <a:r>
              <a:rPr sz="4275" b="1">
                <a:solidFill>
                  <a:srgbClr val="122536"/>
                </a:solidFill>
                <a:latin typeface="Malgun Gothic"/>
                <a:ea typeface="Malgun Gothic"/>
                <a:cs typeface="Malgun Gothic"/>
              </a:rPr>
              <a:t>항공기 엔진의</a:t>
            </a:r>
          </a:p>
          <a:p xmlns:a="http://schemas.openxmlformats.org/drawingml/2006/main">
            <a:pPr>
              <a:defRPr sz="4275" b="1">
                <a:solidFill>
                  <a:srgbClr val="122536"/>
                </a:solidFill>
                <a:latin typeface="Malgun Gothic"/>
                <a:ea typeface="Malgun Gothic"/>
                <a:cs typeface="Malgun Gothic"/>
              </a:defRPr>
            </a:pPr>
            <a:r>
              <a:rPr sz="4275" b="1">
                <a:solidFill>
                  <a:srgbClr val="122536"/>
                </a:solidFill>
                <a:latin typeface="Malgun Gothic"/>
                <a:ea typeface="Malgun Gothic"/>
                <a:cs typeface="Malgun Gothic"/>
              </a:rPr>
              <a:t>남은 수명 예측</a:t>
            </a:r>
          </a:p>
        </p:txBody>
      </p:sp>
      <p:sp>
        <p:nvSpPr>
          <p:cNvPr id="2" name="">
            <a:extLst xmlns:a="http://schemas.openxmlformats.org/drawingml/2006/main">
              <a:ext uri="{FF2B5EF4-FFF2-40B4-BE49-F238E27FC236}">
                <a16:creationId xmlns:a16="http://schemas.microsoft.com/office/drawing/2014/main" id="{A73B7EAD-034B-4D67-8E98-CA352EB7814A}"/>
              </a:ext>
            </a:extLst>
          </p:cNvPr>
          <p:cNvSpPr>
            <a:spLocks xmlns:a="http://schemas.openxmlformats.org/drawingml/2006/main" noGrp="1"/>
          </p:cNvSpPr>
          <p:nvPr/>
        </p:nvSpPr>
        <p:spPr>
          <a:xfrm xmlns:a="http://schemas.openxmlformats.org/drawingml/2006/main">
            <a:off x="723900" y="304800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4B67"/>
                </a:solidFill>
                <a:latin typeface="Malgun Gothic"/>
                <a:ea typeface="Malgun Gothic"/>
                <a:cs typeface="Malgun Gothic"/>
              </a:defRPr>
            </a:pPr>
            <a:r>
              <a:rPr sz="2175" b="0">
                <a:solidFill>
                  <a:srgbClr val="234B67"/>
                </a:solidFill>
                <a:latin typeface="Malgun Gothic"/>
                <a:ea typeface="Malgun Gothic"/>
                <a:cs typeface="Malgun Gothic"/>
              </a:rPr>
              <a:t>N-CMAPSS DS02</a:t>
            </a:r>
          </a:p>
          <a:p xmlns:a="http://schemas.openxmlformats.org/drawingml/2006/main">
            <a:pPr>
              <a:defRPr sz="2175" b="0">
                <a:solidFill>
                  <a:srgbClr val="234B67"/>
                </a:solidFill>
                <a:latin typeface="Malgun Gothic"/>
                <a:ea typeface="Malgun Gothic"/>
                <a:cs typeface="Malgun Gothic"/>
              </a:defRPr>
            </a:pPr>
            <a:r>
              <a:rPr sz="2175" b="0">
                <a:solidFill>
                  <a:srgbClr val="234B67"/>
                </a:solidFill>
                <a:latin typeface="Malgun Gothic"/>
                <a:ea typeface="Malgun Gothic"/>
                <a:cs typeface="Malgun Gothic"/>
              </a:rPr>
              <a:t>관측 센서로 남은 비행 사이클 예측</a:t>
            </a:r>
          </a:p>
        </p:txBody>
      </p:sp>
      <p:sp>
        <p:nvSpPr>
          <p:cNvPr id="3" name="">
            <a:extLst xmlns:a="http://schemas.openxmlformats.org/drawingml/2006/main">
              <a:ext uri="{FF2B5EF4-FFF2-40B4-BE49-F238E27FC236}">
                <a16:creationId xmlns:a16="http://schemas.microsoft.com/office/drawing/2014/main" id="{8DC19BDF-3229-4EE1-B97E-7A199D6DDC70}"/>
              </a:ext>
            </a:extLst>
          </p:cNvPr>
          <p:cNvSpPr>
            <a:spLocks xmlns:a="http://schemas.openxmlformats.org/drawingml/2006/main" noGrp="1"/>
          </p:cNvSpPr>
          <p:nvPr/>
        </p:nvSpPr>
        <p:spPr>
          <a:xfrm xmlns:a="http://schemas.openxmlformats.org/drawingml/2006/main">
            <a:off x="723900" y="4524375"/>
            <a:ext cx="2143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87F8C"/>
                </a:solidFill>
                <a:latin typeface="Malgun Gothic"/>
                <a:ea typeface="Malgun Gothic"/>
                <a:cs typeface="Malgun Gothic"/>
              </a:defRPr>
            </a:pPr>
            <a:r>
              <a:rPr sz="5850" b="1">
                <a:solidFill>
                  <a:srgbClr val="087F8C"/>
                </a:solidFill>
                <a:latin typeface="Malgun Gothic"/>
                <a:ea typeface="Malgun Gothic"/>
                <a:cs typeface="Malgun Gothic"/>
              </a:rPr>
              <a:t>5.70</a:t>
            </a:r>
          </a:p>
        </p:txBody>
      </p:sp>
      <p:sp>
        <p:nvSpPr>
          <p:cNvPr id="4" name="">
            <a:extLst xmlns:a="http://schemas.openxmlformats.org/drawingml/2006/main">
              <a:ext uri="{FF2B5EF4-FFF2-40B4-BE49-F238E27FC236}">
                <a16:creationId xmlns:a16="http://schemas.microsoft.com/office/drawing/2014/main" id="{5B2B98ED-1AD0-463C-8A2A-5402D5524874}"/>
              </a:ext>
            </a:extLst>
          </p:cNvPr>
          <p:cNvSpPr>
            <a:spLocks xmlns:a="http://schemas.openxmlformats.org/drawingml/2006/main" noGrp="1"/>
          </p:cNvSpPr>
          <p:nvPr/>
        </p:nvSpPr>
        <p:spPr>
          <a:xfrm xmlns:a="http://schemas.openxmlformats.org/drawingml/2006/main">
            <a:off x="3000375" y="4705350"/>
            <a:ext cx="342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사이클 RMSE</a:t>
            </a:r>
          </a:p>
          <a:p xmlns:a="http://schemas.openxmlformats.org/drawingml/2006/main">
            <a:pP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CNN 재사용 시험 결과</a:t>
            </a:r>
          </a:p>
        </p:txBody>
      </p:sp>
      <p:sp>
        <p:nvSpPr>
          <p:cNvPr id="5" name="">
            <a:extLst xmlns:a="http://schemas.openxmlformats.org/drawingml/2006/main">
              <a:ext uri="{FF2B5EF4-FFF2-40B4-BE49-F238E27FC236}">
                <a16:creationId xmlns:a16="http://schemas.microsoft.com/office/drawing/2014/main" id="{BE873968-3FC7-4C25-9C32-8BC8D42B9D91}"/>
              </a:ext>
            </a:extLst>
          </p:cNvPr>
          <p:cNvSpPr>
            <a:spLocks xmlns:a="http://schemas.openxmlformats.org/drawingml/2006/main" noGrp="1"/>
          </p:cNvSpPr>
          <p:nvPr/>
        </p:nvSpPr>
        <p:spPr>
          <a:xfrm xmlns:a="http://schemas.openxmlformats.org/drawingml/2006/main">
            <a:off x="7762875" y="990600"/>
            <a:ext cx="3286125" cy="809625"/>
          </a:xfrm>
          <a:prstGeom xmlns:a="http://schemas.openxmlformats.org/drawingml/2006/main" prst="rect">
            <a:avLst/>
          </a:prstGeom>
          <a:solidFill xmlns:a="http://schemas.openxmlformats.org/drawingml/2006/main">
            <a:srgbClr val="EEF3F6"/>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HDF5</a:t>
            </a:r>
          </a:p>
          <a:p xmlns:a="http://schemas.openxmlformats.org/drawingml/2006/main">
            <a:pPr algn="ct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약 650만 시점</a:t>
            </a:r>
          </a:p>
        </p:txBody>
      </p:sp>
      <p:sp>
        <p:nvSpPr>
          <p:cNvPr id="6" name="">
            <a:extLst xmlns:a="http://schemas.openxmlformats.org/drawingml/2006/main">
              <a:ext uri="{FF2B5EF4-FFF2-40B4-BE49-F238E27FC236}">
                <a16:creationId xmlns:a16="http://schemas.microsoft.com/office/drawing/2014/main" id="{EE4003DD-E58D-43E9-A455-F363DE419D61}"/>
              </a:ext>
            </a:extLst>
          </p:cNvPr>
          <p:cNvSpPr>
            <a:spLocks xmlns:a="http://schemas.openxmlformats.org/drawingml/2006/main" noGrp="1"/>
          </p:cNvSpPr>
          <p:nvPr/>
        </p:nvSpPr>
        <p:spPr>
          <a:xfrm xmlns:a="http://schemas.openxmlformats.org/drawingml/2006/main">
            <a:off x="7762875" y="2295525"/>
            <a:ext cx="3286125" cy="809625"/>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18개 관측 변수</a:t>
            </a:r>
          </a:p>
          <a:p xmlns:a="http://schemas.openxmlformats.org/drawingml/2006/main">
            <a:pPr algn="ct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60개 표본 구간</a:t>
            </a:r>
          </a:p>
        </p:txBody>
      </p:sp>
      <p:sp>
        <p:nvSpPr>
          <p:cNvPr id="7" name="">
            <a:extLst xmlns:a="http://schemas.openxmlformats.org/drawingml/2006/main">
              <a:ext uri="{FF2B5EF4-FFF2-40B4-BE49-F238E27FC236}">
                <a16:creationId xmlns:a16="http://schemas.microsoft.com/office/drawing/2014/main" id="{91A62933-D539-4E95-B42B-0A7D46AAE7FA}"/>
              </a:ext>
            </a:extLst>
          </p:cNvPr>
          <p:cNvSpPr>
            <a:spLocks xmlns:a="http://schemas.openxmlformats.org/drawingml/2006/main" noGrp="1"/>
          </p:cNvSpPr>
          <p:nvPr/>
        </p:nvSpPr>
        <p:spPr>
          <a:xfrm xmlns:a="http://schemas.openxmlformats.org/drawingml/2006/main">
            <a:off x="7762875" y="3600450"/>
            <a:ext cx="3286125" cy="85725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800" b="0">
                <a:solidFill>
                  <a:srgbClr val="122536"/>
                </a:solidFill>
                <a:latin typeface="Malgun Gothic"/>
                <a:ea typeface="Malgun Gothic"/>
                <a:cs typeface="Malgun Gothic"/>
              </a:defRPr>
            </a:pPr>
            <a:r>
              <a:rPr sz="1800" b="0">
                <a:solidFill>
                  <a:srgbClr val="122536"/>
                </a:solidFill>
                <a:latin typeface="Malgun Gothic"/>
                <a:ea typeface="Malgun Gothic"/>
                <a:cs typeface="Malgun Gothic"/>
              </a:rPr>
              <a:t>작은 1D CNN</a:t>
            </a:r>
          </a:p>
          <a:p xmlns:a="http://schemas.openxmlformats.org/drawingml/2006/main">
            <a:pPr algn="ctr">
              <a:defRPr sz="1800" b="0">
                <a:solidFill>
                  <a:srgbClr val="122536"/>
                </a:solidFill>
                <a:latin typeface="Malgun Gothic"/>
                <a:ea typeface="Malgun Gothic"/>
                <a:cs typeface="Malgun Gothic"/>
              </a:defRPr>
            </a:pPr>
            <a:r>
              <a:rPr sz="1800" b="0">
                <a:solidFill>
                  <a:srgbClr val="122536"/>
                </a:solidFill>
                <a:latin typeface="Malgun Gothic"/>
                <a:ea typeface="Malgun Gothic"/>
                <a:cs typeface="Malgun Gothic"/>
              </a:rPr>
              <a:t>개발 엔진 검증으로 선택</a:t>
            </a:r>
          </a:p>
        </p:txBody>
      </p:sp>
      <p:sp>
        <p:nvSpPr>
          <p:cNvPr id="8" name="">
            <a:extLst xmlns:a="http://schemas.openxmlformats.org/drawingml/2006/main">
              <a:ext uri="{FF2B5EF4-FFF2-40B4-BE49-F238E27FC236}">
                <a16:creationId xmlns:a16="http://schemas.microsoft.com/office/drawing/2014/main" id="{3FDACD6F-6691-4588-B132-55CBC58D968B}"/>
              </a:ext>
            </a:extLst>
          </p:cNvPr>
          <p:cNvSpPr>
            <a:spLocks xmlns:a="http://schemas.openxmlformats.org/drawingml/2006/main" noGrp="1"/>
          </p:cNvSpPr>
          <p:nvPr/>
        </p:nvSpPr>
        <p:spPr>
          <a:xfrm xmlns:a="http://schemas.openxmlformats.org/drawingml/2006/main">
            <a:off x="7762875" y="4953000"/>
            <a:ext cx="3286125" cy="714375"/>
          </a:xfrm>
          <a:prstGeom xmlns:a="http://schemas.openxmlformats.org/drawingml/2006/main" prst="rect">
            <a:avLst/>
          </a:prstGeom>
          <a:solidFill xmlns:a="http://schemas.openxmlformats.org/drawingml/2006/main">
            <a:srgbClr val="FDF0E6"/>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2025" b="0">
                <a:solidFill>
                  <a:srgbClr val="122536"/>
                </a:solidFill>
                <a:latin typeface="Malgun Gothic"/>
                <a:ea typeface="Malgun Gothic"/>
                <a:cs typeface="Malgun Gothic"/>
              </a:defRPr>
            </a:pPr>
            <a:r>
              <a:rPr sz="2025" b="0">
                <a:solidFill>
                  <a:srgbClr val="122536"/>
                </a:solidFill>
                <a:latin typeface="Malgun Gothic"/>
                <a:ea typeface="Malgun Gothic"/>
                <a:cs typeface="Malgun Gothic"/>
              </a:rPr>
              <a:t>비행별 RUL 예측</a:t>
            </a:r>
          </a:p>
        </p:txBody>
      </p:sp>
      <p:cxnSp>
        <p:nvCxnSpPr>
          <p:cNvPr id="21" name=""/>
          <p:cNvCxnSpPr>
            <a:stCxn xmlns:a="http://schemas.openxmlformats.org/drawingml/2006/main" id="5" idx="2"/>
            <a:endCxn xmlns:a="http://schemas.openxmlformats.org/drawingml/2006/main" id="6" idx="0"/>
          </p:cNvCxnSpPr>
          <p:nvPr/>
        </p:nvCxnSpPr>
        <p:spPr>
          <a:xfrm xmlns:a="http://schemas.openxmlformats.org/drawingml/2006/main">
            <a:off x="9405938" y="1800225"/>
            <a:ext cx="0" cy="49530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22" name=""/>
          <p:cNvCxnSpPr>
            <a:stCxn xmlns:a="http://schemas.openxmlformats.org/drawingml/2006/main" id="6" idx="2"/>
            <a:endCxn xmlns:a="http://schemas.openxmlformats.org/drawingml/2006/main" id="7" idx="0"/>
          </p:cNvCxnSpPr>
          <p:nvPr/>
        </p:nvCxnSpPr>
        <p:spPr>
          <a:xfrm xmlns:a="http://schemas.openxmlformats.org/drawingml/2006/main">
            <a:off x="9405938" y="3105150"/>
            <a:ext cx="0" cy="49530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23" name=""/>
          <p:cNvCxnSpPr>
            <a:stCxn xmlns:a="http://schemas.openxmlformats.org/drawingml/2006/main" id="7" idx="2"/>
            <a:endCxn xmlns:a="http://schemas.openxmlformats.org/drawingml/2006/main" id="8" idx="0"/>
          </p:cNvCxnSpPr>
          <p:nvPr/>
        </p:nvCxnSpPr>
        <p:spPr>
          <a:xfrm xmlns:a="http://schemas.openxmlformats.org/drawingml/2006/main">
            <a:off x="9405938" y="4457700"/>
            <a:ext cx="0" cy="495300"/>
          </a:xfrm>
          <a:prstGeom xmlns:a="http://schemas.openxmlformats.org/drawingml/2006/main" prst="straightConnector1">
            <a:avLst/>
          </a:prstGeom>
          <a:ln xmlns:a="http://schemas.openxmlformats.org/drawingml/2006/main" w="19050">
            <a:solidFill>
              <a:srgbClr val="234B67"/>
            </a:solidFill>
            <a:tailEnd type="triangle" w="sm" len="sm"/>
          </a:ln>
        </p:spPr>
      </p:cxnSp>
      <p:sp>
        <p:nvSpPr>
          <p:cNvPr id="12" name="">
            <a:extLst xmlns:a="http://schemas.openxmlformats.org/drawingml/2006/main">
              <a:ext uri="{FF2B5EF4-FFF2-40B4-BE49-F238E27FC236}">
                <a16:creationId xmlns:a16="http://schemas.microsoft.com/office/drawing/2014/main" id="{F2DFEDD8-90D9-44BC-AEE0-D398034EFA17}"/>
              </a:ext>
            </a:extLst>
          </p:cNvPr>
          <p:cNvSpPr>
            <a:spLocks xmlns:a="http://schemas.openxmlformats.org/drawingml/2006/main" noGrp="1"/>
          </p:cNvSpPr>
          <p:nvPr/>
        </p:nvSpPr>
        <p:spPr>
          <a:xfrm xmlns:a="http://schemas.openxmlformats.org/drawingml/2006/main">
            <a:off x="723900" y="5905500"/>
            <a:ext cx="619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김성현  2021271250</a:t>
            </a:r>
          </a:p>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DCCS 410  2026-10-02</a:t>
            </a:r>
          </a:p>
        </p:txBody>
      </p:sp>
    </p:spTree>
    <p:extLst>
      <p:ext uri="{BB962C8B-B14F-4D97-AF65-F5344CB8AC3E}">
        <p14:creationId xmlns:p14="http://schemas.microsoft.com/office/powerpoint/2010/main" val="18352592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C66A19-3685-4606-8963-34DC66328CA3}"/>
              </a:ext>
            </a:extLst>
          </p:cNvPr>
          <p:cNvSpPr>
            <a:spLocks xmlns:a="http://schemas.openxmlformats.org/drawingml/2006/main" noGrp="1"/>
          </p:cNvSpPr>
          <p:nvPr/>
        </p:nvSpPr>
        <p:spPr>
          <a:xfrm xmlns:a="http://schemas.openxmlformats.org/drawingml/2006/main">
            <a:off x="685800" y="428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536"/>
                </a:solidFill>
                <a:latin typeface="Malgun Gothic"/>
                <a:ea typeface="Malgun Gothic"/>
                <a:cs typeface="Malgun Gothic"/>
              </a:defRPr>
            </a:pPr>
            <a:r>
              <a:rPr sz="3300" b="1">
                <a:solidFill>
                  <a:srgbClr val="122536"/>
                </a:solidFill>
                <a:latin typeface="Malgun Gothic"/>
                <a:ea typeface="Malgun Gothic"/>
                <a:cs typeface="Malgun Gothic"/>
              </a:rPr>
              <a:t>센서 구간과 엔진별 검증</a:t>
            </a:r>
          </a:p>
        </p:txBody>
      </p:sp>
      <p:sp>
        <p:nvSpPr>
          <p:cNvPr id="2" name="">
            <a:extLst xmlns:a="http://schemas.openxmlformats.org/drawingml/2006/main">
              <a:ext uri="{FF2B5EF4-FFF2-40B4-BE49-F238E27FC236}">
                <a16:creationId xmlns:a16="http://schemas.microsoft.com/office/drawing/2014/main" id="{230FD0B2-A6EE-4822-8E36-6B4A49DBAB2A}"/>
              </a:ext>
            </a:extLst>
          </p:cNvPr>
          <p:cNvSpPr>
            <a:spLocks xmlns:a="http://schemas.openxmlformats.org/drawingml/2006/main" noGrp="1"/>
          </p:cNvSpPr>
          <p:nvPr/>
        </p:nvSpPr>
        <p:spPr>
          <a:xfrm xmlns:a="http://schemas.openxmlformats.org/drawingml/2006/main">
            <a:off x="685800" y="6391275"/>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DCCS 410  김성현  2021271250</a:t>
            </a:r>
          </a:p>
        </p:txBody>
      </p:sp>
      <p:sp>
        <p:nvSpPr>
          <p:cNvPr id="3" name="">
            <a:extLst xmlns:a="http://schemas.openxmlformats.org/drawingml/2006/main">
              <a:ext uri="{FF2B5EF4-FFF2-40B4-BE49-F238E27FC236}">
                <a16:creationId xmlns:a16="http://schemas.microsoft.com/office/drawing/2014/main" id="{49170FFE-4428-42FD-9D21-53526C045578}"/>
              </a:ext>
            </a:extLst>
          </p:cNvPr>
          <p:cNvSpPr>
            <a:spLocks xmlns:a="http://schemas.openxmlformats.org/drawingml/2006/main" noGrp="1"/>
          </p:cNvSpPr>
          <p:nvPr/>
        </p:nvSpPr>
        <p:spPr>
          <a:xfrm xmlns:a="http://schemas.openxmlformats.org/drawingml/2006/main">
            <a:off x="1104900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211CB3A5-9CAF-4C2E-AA2B-96493B1196D0}"/>
              </a:ext>
            </a:extLst>
          </p:cNvPr>
          <p:cNvSpPr>
            <a:spLocks xmlns:a="http://schemas.openxmlformats.org/drawingml/2006/main" noGrp="1"/>
          </p:cNvSpPr>
          <p:nvPr/>
        </p:nvSpPr>
        <p:spPr>
          <a:xfrm xmlns:a="http://schemas.openxmlformats.org/drawingml/2006/main">
            <a:off x="723900" y="1362075"/>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Malgun Gothic"/>
                <a:ea typeface="Malgun Gothic"/>
                <a:cs typeface="Malgun Gothic"/>
              </a:defRPr>
            </a:pPr>
            <a:r>
              <a:rPr sz="2250" b="1">
                <a:solidFill>
                  <a:srgbClr val="087F8C"/>
                </a:solidFill>
                <a:latin typeface="Malgun Gothic"/>
                <a:ea typeface="Malgun Gothic"/>
                <a:cs typeface="Malgun Gothic"/>
              </a:rPr>
              <a:t>같은 비행 안의 60개 표본씩</a:t>
            </a:r>
          </a:p>
        </p:txBody>
      </p:sp>
      <p:graphicFrame>
        <p:nvGraphicFramePr>
          <p:cNvPr id="15" name="Chart"/>
          <p:cNvGraphicFramePr/>
          <p:nvPr/>
        </p:nvGraphicFramePr>
        <p:xfrm>
          <a:off xmlns:a="http://schemas.openxmlformats.org/drawingml/2006/main" x="600075" y="2000250"/>
          <a:ext xmlns:a="http://schemas.openxmlformats.org/drawingml/2006/main" cx="6791325" cy="3409950"/>
        </p:xfrm>
        <a:graphic xmlns:a="http://schemas.openxmlformats.org/drawingml/2006/main">
          <a:graphicData uri="http://schemas.openxmlformats.org/drawingml/2006/chart">
            <c:chart xmlns:r="http://schemas.openxmlformats.org/officeDocument/2006/relationships" xmlns:c="http://schemas.openxmlformats.org/drawingml/2006/chart" r:id="Ra70f251de8764998"/>
          </a:graphicData>
        </a:graphic>
      </p:graphicFrame>
      <p:sp>
        <p:nvSpPr>
          <p:cNvPr id="6" name="">
            <a:extLst xmlns:a="http://schemas.openxmlformats.org/drawingml/2006/main">
              <a:ext uri="{FF2B5EF4-FFF2-40B4-BE49-F238E27FC236}">
                <a16:creationId xmlns:a16="http://schemas.microsoft.com/office/drawing/2014/main" id="{39046822-7484-40B2-A2C5-7C1FD984E38D}"/>
              </a:ext>
            </a:extLst>
          </p:cNvPr>
          <p:cNvSpPr>
            <a:spLocks xmlns:a="http://schemas.openxmlformats.org/drawingml/2006/main" noGrp="1"/>
          </p:cNvSpPr>
          <p:nvPr/>
        </p:nvSpPr>
        <p:spPr>
          <a:xfrm xmlns:a="http://schemas.openxmlformats.org/drawingml/2006/main">
            <a:off x="762000" y="5553075"/>
            <a:ext cx="666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실제 개발 엔진 2, 비행 1</a:t>
            </a:r>
          </a:p>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표시용 표준화, 모델 학습과 별도</a:t>
            </a:r>
          </a:p>
        </p:txBody>
      </p:sp>
      <p:sp>
        <p:nvSpPr>
          <p:cNvPr id="7" name="">
            <a:extLst xmlns:a="http://schemas.openxmlformats.org/drawingml/2006/main">
              <a:ext uri="{FF2B5EF4-FFF2-40B4-BE49-F238E27FC236}">
                <a16:creationId xmlns:a16="http://schemas.microsoft.com/office/drawing/2014/main" id="{D6D4E37D-F992-4BB0-9E8E-5EC16EBF7FC0}"/>
              </a:ext>
            </a:extLst>
          </p:cNvPr>
          <p:cNvSpPr>
            <a:spLocks xmlns:a="http://schemas.openxmlformats.org/drawingml/2006/main" noGrp="1"/>
          </p:cNvSpPr>
          <p:nvPr/>
        </p:nvSpPr>
        <p:spPr>
          <a:xfrm xmlns:a="http://schemas.openxmlformats.org/drawingml/2006/main">
            <a:off x="7762875" y="1533525"/>
            <a:ext cx="3638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4B67"/>
                </a:solidFill>
                <a:latin typeface="Malgun Gothic"/>
                <a:ea typeface="Malgun Gothic"/>
                <a:cs typeface="Malgun Gothic"/>
              </a:defRPr>
            </a:pPr>
            <a:r>
              <a:rPr sz="2175" b="1">
                <a:solidFill>
                  <a:srgbClr val="234B67"/>
                </a:solidFill>
                <a:latin typeface="Malgun Gothic"/>
                <a:ea typeface="Malgun Gothic"/>
                <a:cs typeface="Malgun Gothic"/>
              </a:rPr>
              <a:t>개발 엔진 6개</a:t>
            </a:r>
          </a:p>
        </p:txBody>
      </p:sp>
      <p:graphicFrame>
        <p:nvGraphicFramePr>
          <p:cNvPr id="18" name=""/>
          <p:cNvGraphicFramePr/>
          <p:nvPr/>
        </p:nvGraphicFramePr>
        <p:xfrm>
          <a:off xmlns:a="http://schemas.openxmlformats.org/drawingml/2006/main" x="7762875" y="2428875"/>
          <a:ext xmlns:a="http://schemas.openxmlformats.org/drawingml/2006/main" cx="3581400" cy="1857375"/>
        </p:xfrm>
        <a:graphic xmlns:a="http://schemas.openxmlformats.org/drawingml/2006/main">
          <a:graphicData uri="http://schemas.openxmlformats.org/drawingml/2006/table">
            <a:tbl>
              <a:tblPr firstRow="1" bandRow="0"/>
              <a:tblGrid>
                <a:gridCol w="609600"/>
                <a:gridCol w="495300"/>
                <a:gridCol w="495300"/>
                <a:gridCol w="495300"/>
                <a:gridCol w="495300"/>
                <a:gridCol w="495300"/>
                <a:gridCol w="495300"/>
              </a:tblGrid>
              <a:tr h="464344">
                <a:tc>
                  <a:txBody>
                    <a:bodyPr/>
                    <a:lstStyle/>
                    <a:p>
                      <a:r>
                        <a:rPr sz="1575" b="1">
                          <a:solidFill>
                            <a:srgbClr val="122536"/>
                          </a:solidFill>
                          <a:latin typeface="Malgun Gothic"/>
                          <a:ea typeface="Malgun Gothic"/>
                          <a:cs typeface="Malgun Gothic"/>
                        </a:rPr>
                        <a:t>CV</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2</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5</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10</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16</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18</a:t>
                      </a:r>
                    </a:p>
                  </a:txBody>
                  <a:tcPr marL="38100" marR="38100" marT="76200" marB="76200">
                    <a:solidFill>
                      <a:srgbClr val="EEF3F6"/>
                    </a:solidFill>
                  </a:tcPr>
                </a:tc>
                <a:tc>
                  <a:txBody>
                    <a:bodyPr/>
                    <a:lstStyle/>
                    <a:p>
                      <a:r>
                        <a:rPr sz="1575" b="1">
                          <a:solidFill>
                            <a:srgbClr val="122536"/>
                          </a:solidFill>
                          <a:latin typeface="Malgun Gothic"/>
                          <a:ea typeface="Malgun Gothic"/>
                          <a:cs typeface="Malgun Gothic"/>
                        </a:rPr>
                        <a:t>20</a:t>
                      </a:r>
                    </a:p>
                  </a:txBody>
                  <a:tcPr marL="38100" marR="38100" marT="76200" marB="76200">
                    <a:solidFill>
                      <a:srgbClr val="EEF3F6"/>
                    </a:solidFill>
                  </a:tcPr>
                </a:tc>
              </a:tr>
              <a:tr h="464344">
                <a:tc>
                  <a:txBody>
                    <a:bodyPr/>
                    <a:lstStyle/>
                    <a:p>
                      <a:r>
                        <a:rPr sz="1575">
                          <a:solidFill>
                            <a:srgbClr val="122536"/>
                          </a:solidFill>
                          <a:latin typeface="Malgun Gothic"/>
                          <a:ea typeface="Malgun Gothic"/>
                          <a:cs typeface="Malgun Gothic"/>
                        </a:rPr>
                        <a:t>1</a:t>
                      </a:r>
                    </a:p>
                  </a:txBody>
                  <a:tcPr marL="38100" marR="38100" marT="76200" marB="76200">
                    <a:solidFill>
                      <a:srgbClr val="FFFFFF"/>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r>
              <a:tr h="464344">
                <a:tc>
                  <a:txBody>
                    <a:bodyPr/>
                    <a:lstStyle/>
                    <a:p>
                      <a:r>
                        <a:rPr sz="1575">
                          <a:solidFill>
                            <a:srgbClr val="122536"/>
                          </a:solidFill>
                          <a:latin typeface="Malgun Gothic"/>
                          <a:ea typeface="Malgun Gothic"/>
                          <a:cs typeface="Malgun Gothic"/>
                        </a:rPr>
                        <a:t>2</a:t>
                      </a:r>
                    </a:p>
                  </a:txBody>
                  <a:tcPr marL="38100" marR="38100" marT="76200" marB="76200">
                    <a:solidFill>
                      <a:srgbClr val="FFFFFF"/>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r>
              <a:tr h="464344">
                <a:tc>
                  <a:txBody>
                    <a:bodyPr/>
                    <a:lstStyle/>
                    <a:p>
                      <a:r>
                        <a:rPr sz="1575">
                          <a:solidFill>
                            <a:srgbClr val="122536"/>
                          </a:solidFill>
                          <a:latin typeface="Malgun Gothic"/>
                          <a:ea typeface="Malgun Gothic"/>
                          <a:cs typeface="Malgun Gothic"/>
                        </a:rPr>
                        <a:t>3</a:t>
                      </a:r>
                    </a:p>
                  </a:txBody>
                  <a:tcPr marL="38100" marR="38100" marT="76200" marB="76200">
                    <a:solidFill>
                      <a:srgbClr val="FFFFFF"/>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c>
                  <a:txBody>
                    <a:bodyPr/>
                    <a:lstStyle/>
                    <a:p>
                      <a:pPr algn="ctr"/>
                      <a:r>
                        <a:rPr sz="1575" b="1">
                          <a:solidFill>
                            <a:srgbClr val="FFFFFF"/>
                          </a:solidFill>
                          <a:latin typeface="Malgun Gothic"/>
                          <a:ea typeface="Malgun Gothic"/>
                          <a:cs typeface="Malgun Gothic"/>
                        </a:rPr>
                        <a:t>V</a:t>
                      </a:r>
                    </a:p>
                  </a:txBody>
                  <a:tcPr marL="38100" marR="38100" marT="76200" marB="76200">
                    <a:solidFill>
                      <a:srgbClr val="087F8C"/>
                    </a:solidFill>
                  </a:tcPr>
                </a:tc>
                <a:tc>
                  <a:txBody>
                    <a:bodyPr/>
                    <a:lstStyle/>
                    <a:p>
                      <a:pPr algn="ctr"/>
                      <a:r>
                        <a:rPr sz="1575" b="0">
                          <a:solidFill>
                            <a:srgbClr val="536171"/>
                          </a:solidFill>
                          <a:latin typeface="Malgun Gothic"/>
                          <a:ea typeface="Malgun Gothic"/>
                          <a:cs typeface="Malgun Gothic"/>
                        </a:rPr>
                        <a:t>T</a:t>
                      </a:r>
                    </a:p>
                  </a:txBody>
                  <a:tcPr marL="38100" marR="38100" marT="76200" marB="76200">
                    <a:solidFill>
                      <a:srgbClr val="F2F5F7"/>
                    </a:solidFill>
                  </a:tcPr>
                </a:tc>
              </a:tr>
            </a:tbl>
          </a:graphicData>
        </a:graphic>
      </p:graphicFrame>
      <p:sp>
        <p:nvSpPr>
          <p:cNvPr id="9" name="">
            <a:extLst xmlns:a="http://schemas.openxmlformats.org/drawingml/2006/main">
              <a:ext uri="{FF2B5EF4-FFF2-40B4-BE49-F238E27FC236}">
                <a16:creationId xmlns:a16="http://schemas.microsoft.com/office/drawing/2014/main" id="{5F300E3E-301C-48AD-B043-049BABA60050}"/>
              </a:ext>
            </a:extLst>
          </p:cNvPr>
          <p:cNvSpPr>
            <a:spLocks xmlns:a="http://schemas.openxmlformats.org/drawingml/2006/main" noGrp="1"/>
          </p:cNvSpPr>
          <p:nvPr/>
        </p:nvSpPr>
        <p:spPr>
          <a:xfrm xmlns:a="http://schemas.openxmlformats.org/drawingml/2006/main">
            <a:off x="7772400" y="44767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171"/>
                </a:solidFill>
                <a:latin typeface="Malgun Gothic"/>
                <a:ea typeface="Malgun Gothic"/>
                <a:cs typeface="Malgun Gothic"/>
              </a:defRPr>
            </a:pPr>
            <a:r>
              <a:rPr sz="1725" b="0">
                <a:solidFill>
                  <a:srgbClr val="536171"/>
                </a:solidFill>
                <a:latin typeface="Malgun Gothic"/>
                <a:ea typeface="Malgun Gothic"/>
                <a:cs typeface="Malgun Gothic"/>
              </a:rPr>
              <a:t>T 학습     V 검증</a:t>
            </a:r>
          </a:p>
        </p:txBody>
      </p:sp>
      <p:sp>
        <p:nvSpPr>
          <p:cNvPr id="10" name="">
            <a:extLst xmlns:a="http://schemas.openxmlformats.org/drawingml/2006/main">
              <a:ext uri="{FF2B5EF4-FFF2-40B4-BE49-F238E27FC236}">
                <a16:creationId xmlns:a16="http://schemas.microsoft.com/office/drawing/2014/main" id="{85C99AAB-3D1A-4DCD-939D-A64935E0EE98}"/>
              </a:ext>
            </a:extLst>
          </p:cNvPr>
          <p:cNvSpPr>
            <a:spLocks xmlns:a="http://schemas.openxmlformats.org/drawingml/2006/main" noGrp="1"/>
          </p:cNvSpPr>
          <p:nvPr/>
        </p:nvSpPr>
        <p:spPr>
          <a:xfrm xmlns:a="http://schemas.openxmlformats.org/drawingml/2006/main">
            <a:off x="7762875" y="5219700"/>
            <a:ext cx="3667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시험 엔진 11, 14, 15</a:t>
            </a:r>
          </a:p>
          <a:p xmlns:a="http://schemas.openxmlformats.org/drawingml/2006/main">
            <a:pPr>
              <a:defRPr sz="1875" b="0">
                <a:solidFill>
                  <a:srgbClr val="122536"/>
                </a:solidFill>
                <a:latin typeface="Malgun Gothic"/>
                <a:ea typeface="Malgun Gothic"/>
                <a:cs typeface="Malgun Gothic"/>
              </a:defRPr>
            </a:pPr>
            <a:r>
              <a:rPr sz="1875" b="0">
                <a:solidFill>
                  <a:srgbClr val="122536"/>
                </a:solidFill>
                <a:latin typeface="Malgun Gothic"/>
                <a:ea typeface="Malgun Gothic"/>
                <a:cs typeface="Malgun Gothic"/>
              </a:rPr>
              <a:t>확장 평가에서 재사용</a:t>
            </a:r>
          </a:p>
        </p:txBody>
      </p:sp>
    </p:spTree>
    <p:extLst>
      <p:ext uri="{BB962C8B-B14F-4D97-AF65-F5344CB8AC3E}">
        <p14:creationId xmlns:p14="http://schemas.microsoft.com/office/powerpoint/2010/main" val="17197069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43EE957-F8BB-49BE-8F7C-4520871BB2E6}"/>
              </a:ext>
            </a:extLst>
          </p:cNvPr>
          <p:cNvSpPr>
            <a:spLocks xmlns:a="http://schemas.openxmlformats.org/drawingml/2006/main" noGrp="1"/>
          </p:cNvSpPr>
          <p:nvPr/>
        </p:nvSpPr>
        <p:spPr>
          <a:xfrm xmlns:a="http://schemas.openxmlformats.org/drawingml/2006/main">
            <a:off x="685800" y="428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536"/>
                </a:solidFill>
                <a:latin typeface="Malgun Gothic"/>
                <a:ea typeface="Malgun Gothic"/>
                <a:cs typeface="Malgun Gothic"/>
              </a:defRPr>
            </a:pPr>
            <a:r>
              <a:rPr sz="3300" b="1">
                <a:solidFill>
                  <a:srgbClr val="122536"/>
                </a:solidFill>
                <a:latin typeface="Malgun Gothic"/>
                <a:ea typeface="Malgun Gothic"/>
                <a:cs typeface="Malgun Gothic"/>
              </a:rPr>
              <a:t>회귀 모델과 CNN의 입력 경로</a:t>
            </a:r>
          </a:p>
        </p:txBody>
      </p:sp>
      <p:sp>
        <p:nvSpPr>
          <p:cNvPr id="2" name="">
            <a:extLst xmlns:a="http://schemas.openxmlformats.org/drawingml/2006/main">
              <a:ext uri="{FF2B5EF4-FFF2-40B4-BE49-F238E27FC236}">
                <a16:creationId xmlns:a16="http://schemas.microsoft.com/office/drawing/2014/main" id="{F010443C-956C-427D-B85E-AE3A2AD8DBB4}"/>
              </a:ext>
            </a:extLst>
          </p:cNvPr>
          <p:cNvSpPr>
            <a:spLocks xmlns:a="http://schemas.openxmlformats.org/drawingml/2006/main" noGrp="1"/>
          </p:cNvSpPr>
          <p:nvPr/>
        </p:nvSpPr>
        <p:spPr>
          <a:xfrm xmlns:a="http://schemas.openxmlformats.org/drawingml/2006/main">
            <a:off x="685800" y="6391275"/>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DCCS 410  김성현  2021271250</a:t>
            </a:r>
          </a:p>
        </p:txBody>
      </p:sp>
      <p:sp>
        <p:nvSpPr>
          <p:cNvPr id="3" name="">
            <a:extLst xmlns:a="http://schemas.openxmlformats.org/drawingml/2006/main">
              <a:ext uri="{FF2B5EF4-FFF2-40B4-BE49-F238E27FC236}">
                <a16:creationId xmlns:a16="http://schemas.microsoft.com/office/drawing/2014/main" id="{144A59BA-CE57-4BFB-A36D-02E865EABF88}"/>
              </a:ext>
            </a:extLst>
          </p:cNvPr>
          <p:cNvSpPr>
            <a:spLocks xmlns:a="http://schemas.openxmlformats.org/drawingml/2006/main" noGrp="1"/>
          </p:cNvSpPr>
          <p:nvPr/>
        </p:nvSpPr>
        <p:spPr>
          <a:xfrm xmlns:a="http://schemas.openxmlformats.org/drawingml/2006/main">
            <a:off x="1104900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23A61E99-E4CD-4572-B9DA-AD1D05F3EEBE}"/>
              </a:ext>
            </a:extLst>
          </p:cNvPr>
          <p:cNvSpPr>
            <a:spLocks xmlns:a="http://schemas.openxmlformats.org/drawingml/2006/main" noGrp="1"/>
          </p:cNvSpPr>
          <p:nvPr/>
        </p:nvSpPr>
        <p:spPr>
          <a:xfrm xmlns:a="http://schemas.openxmlformats.org/drawingml/2006/main">
            <a:off x="2952750" y="13620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B67"/>
                </a:solidFill>
                <a:latin typeface="Malgun Gothic"/>
                <a:ea typeface="Malgun Gothic"/>
                <a:cs typeface="Malgun Gothic"/>
              </a:defRPr>
            </a:pPr>
            <a:r>
              <a:rPr sz="2100" b="1">
                <a:solidFill>
                  <a:srgbClr val="234B67"/>
                </a:solidFill>
                <a:latin typeface="Malgun Gothic"/>
                <a:ea typeface="Malgun Gothic"/>
                <a:cs typeface="Malgun Gothic"/>
              </a:rPr>
              <a:t>통계 회귀</a:t>
            </a:r>
          </a:p>
        </p:txBody>
      </p:sp>
      <p:sp>
        <p:nvSpPr>
          <p:cNvPr id="5" name="">
            <a:extLst xmlns:a="http://schemas.openxmlformats.org/drawingml/2006/main">
              <a:ext uri="{FF2B5EF4-FFF2-40B4-BE49-F238E27FC236}">
                <a16:creationId xmlns:a16="http://schemas.microsoft.com/office/drawing/2014/main" id="{49C50385-5F27-4375-8637-16BA28C5621C}"/>
              </a:ext>
            </a:extLst>
          </p:cNvPr>
          <p:cNvSpPr>
            <a:spLocks xmlns:a="http://schemas.openxmlformats.org/drawingml/2006/main" noGrp="1"/>
          </p:cNvSpPr>
          <p:nvPr/>
        </p:nvSpPr>
        <p:spPr>
          <a:xfrm xmlns:a="http://schemas.openxmlformats.org/drawingml/2006/main">
            <a:off x="695325" y="2819400"/>
            <a:ext cx="1571625" cy="108585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관측 입력</a:t>
            </a:r>
          </a:p>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18개 변수</a:t>
            </a:r>
          </a:p>
        </p:txBody>
      </p:sp>
      <p:sp>
        <p:nvSpPr>
          <p:cNvPr id="6" name="">
            <a:extLst xmlns:a="http://schemas.openxmlformats.org/drawingml/2006/main">
              <a:ext uri="{FF2B5EF4-FFF2-40B4-BE49-F238E27FC236}">
                <a16:creationId xmlns:a16="http://schemas.microsoft.com/office/drawing/2014/main" id="{8C149004-9272-4479-8DB3-1D50D1FA823D}"/>
              </a:ext>
            </a:extLst>
          </p:cNvPr>
          <p:cNvSpPr>
            <a:spLocks xmlns:a="http://schemas.openxmlformats.org/drawingml/2006/main" noGrp="1"/>
          </p:cNvSpPr>
          <p:nvPr/>
        </p:nvSpPr>
        <p:spPr>
          <a:xfrm xmlns:a="http://schemas.openxmlformats.org/drawingml/2006/main">
            <a:off x="3009900" y="1971675"/>
            <a:ext cx="1914525" cy="1000125"/>
          </a:xfrm>
          <a:prstGeom xmlns:a="http://schemas.openxmlformats.org/drawingml/2006/main" prst="rect">
            <a:avLst/>
          </a:prstGeom>
          <a:solidFill xmlns:a="http://schemas.openxmlformats.org/drawingml/2006/main">
            <a:srgbClr val="EEF3F6"/>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5개 통계</a:t>
            </a:r>
          </a:p>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90개 특징</a:t>
            </a:r>
          </a:p>
        </p:txBody>
      </p:sp>
      <p:sp>
        <p:nvSpPr>
          <p:cNvPr id="7" name="">
            <a:extLst xmlns:a="http://schemas.openxmlformats.org/drawingml/2006/main">
              <a:ext uri="{FF2B5EF4-FFF2-40B4-BE49-F238E27FC236}">
                <a16:creationId xmlns:a16="http://schemas.microsoft.com/office/drawing/2014/main" id="{92B91CF7-3985-4A8A-B1FF-61A0A76083F2}"/>
              </a:ext>
            </a:extLst>
          </p:cNvPr>
          <p:cNvSpPr>
            <a:spLocks xmlns:a="http://schemas.openxmlformats.org/drawingml/2006/main" noGrp="1"/>
          </p:cNvSpPr>
          <p:nvPr/>
        </p:nvSpPr>
        <p:spPr>
          <a:xfrm xmlns:a="http://schemas.openxmlformats.org/drawingml/2006/main">
            <a:off x="5619750" y="1971675"/>
            <a:ext cx="2095500" cy="1000125"/>
          </a:xfrm>
          <a:prstGeom xmlns:a="http://schemas.openxmlformats.org/drawingml/2006/main" prst="rect">
            <a:avLst/>
          </a:prstGeom>
          <a:solidFill xmlns:a="http://schemas.openxmlformats.org/drawingml/2006/main">
            <a:srgbClr val="EEF3F6"/>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Ridge</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Gradient boosting</a:t>
            </a:r>
          </a:p>
        </p:txBody>
      </p:sp>
      <p:sp>
        <p:nvSpPr>
          <p:cNvPr id="8" name="">
            <a:extLst xmlns:a="http://schemas.openxmlformats.org/drawingml/2006/main">
              <a:ext uri="{FF2B5EF4-FFF2-40B4-BE49-F238E27FC236}">
                <a16:creationId xmlns:a16="http://schemas.microsoft.com/office/drawing/2014/main" id="{D0E3FB51-8E82-4C77-BF23-B9820CF6134B}"/>
              </a:ext>
            </a:extLst>
          </p:cNvPr>
          <p:cNvSpPr>
            <a:spLocks xmlns:a="http://schemas.openxmlformats.org/drawingml/2006/main" noGrp="1"/>
          </p:cNvSpPr>
          <p:nvPr/>
        </p:nvSpPr>
        <p:spPr>
          <a:xfrm xmlns:a="http://schemas.openxmlformats.org/drawingml/2006/main">
            <a:off x="10001250" y="2819400"/>
            <a:ext cx="1524000" cy="1085850"/>
          </a:xfrm>
          <a:prstGeom xmlns:a="http://schemas.openxmlformats.org/drawingml/2006/main" prst="rect">
            <a:avLst/>
          </a:prstGeom>
          <a:solidFill xmlns:a="http://schemas.openxmlformats.org/drawingml/2006/main">
            <a:srgbClr val="FDF0E6"/>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남은</a:t>
            </a:r>
          </a:p>
          <a:p xmlns:a="http://schemas.openxmlformats.org/drawingml/2006/main">
            <a:pPr algn="ctr">
              <a:defRPr sz="1950" b="0">
                <a:solidFill>
                  <a:srgbClr val="122536"/>
                </a:solidFill>
                <a:latin typeface="Malgun Gothic"/>
                <a:ea typeface="Malgun Gothic"/>
                <a:cs typeface="Malgun Gothic"/>
              </a:defRPr>
            </a:pPr>
            <a:r>
              <a:rPr sz="1950" b="0">
                <a:solidFill>
                  <a:srgbClr val="122536"/>
                </a:solidFill>
                <a:latin typeface="Malgun Gothic"/>
                <a:ea typeface="Malgun Gothic"/>
                <a:cs typeface="Malgun Gothic"/>
              </a:rPr>
              <a:t>비행 사이클</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flipV="1">
            <a:off x="2266950" y="2471738"/>
            <a:ext cx="742950" cy="890588"/>
          </a:xfrm>
          <a:prstGeom xmlns:a="http://schemas.openxmlformats.org/drawingml/2006/main" prst="bentConnector3">
            <a:avLst>
              <a:gd name="adj1" fmla="val 50000"/>
            </a:avLst>
          </a:prstGeom>
          <a:ln xmlns:a="http://schemas.openxmlformats.org/drawingml/2006/main" w="19050">
            <a:solidFill>
              <a:srgbClr val="234B67"/>
            </a:solidFill>
            <a:tailEnd type="triangle" w="sm" len="sm"/>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4924425" y="2471738"/>
            <a:ext cx="695325" cy="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a:off x="7715250" y="2471738"/>
            <a:ext cx="2286000" cy="890588"/>
          </a:xfrm>
          <a:prstGeom xmlns:a="http://schemas.openxmlformats.org/drawingml/2006/main" prst="bentConnector3">
            <a:avLst>
              <a:gd name="adj1" fmla="val 50000"/>
            </a:avLst>
          </a:prstGeom>
          <a:ln xmlns:a="http://schemas.openxmlformats.org/drawingml/2006/main" w="19050">
            <a:solidFill>
              <a:srgbClr val="234B67"/>
            </a:solidFill>
            <a:tailEnd type="triangle" w="sm" len="sm"/>
          </a:ln>
        </p:spPr>
      </p:cxnSp>
      <p:sp>
        <p:nvSpPr>
          <p:cNvPr id="12" name="">
            <a:extLst xmlns:a="http://schemas.openxmlformats.org/drawingml/2006/main">
              <a:ext uri="{FF2B5EF4-FFF2-40B4-BE49-F238E27FC236}">
                <a16:creationId xmlns:a16="http://schemas.microsoft.com/office/drawing/2014/main" id="{D87C1597-A45A-4898-BEF4-31754D161102}"/>
              </a:ext>
            </a:extLst>
          </p:cNvPr>
          <p:cNvSpPr>
            <a:spLocks xmlns:a="http://schemas.openxmlformats.org/drawingml/2006/main" noGrp="1"/>
          </p:cNvSpPr>
          <p:nvPr/>
        </p:nvSpPr>
        <p:spPr>
          <a:xfrm xmlns:a="http://schemas.openxmlformats.org/drawingml/2006/main">
            <a:off x="2952750" y="3381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1D CNN</a:t>
            </a:r>
          </a:p>
        </p:txBody>
      </p:sp>
      <p:sp>
        <p:nvSpPr>
          <p:cNvPr id="13" name="">
            <a:extLst xmlns:a="http://schemas.openxmlformats.org/drawingml/2006/main">
              <a:ext uri="{FF2B5EF4-FFF2-40B4-BE49-F238E27FC236}">
                <a16:creationId xmlns:a16="http://schemas.microsoft.com/office/drawing/2014/main" id="{F1FA42DC-046F-4A3C-AE0C-D3E00394D2A1}"/>
              </a:ext>
            </a:extLst>
          </p:cNvPr>
          <p:cNvSpPr>
            <a:spLocks xmlns:a="http://schemas.openxmlformats.org/drawingml/2006/main" noGrp="1"/>
          </p:cNvSpPr>
          <p:nvPr/>
        </p:nvSpPr>
        <p:spPr>
          <a:xfrm xmlns:a="http://schemas.openxmlformats.org/drawingml/2006/main">
            <a:off x="2981325" y="4000500"/>
            <a:ext cx="1333500" cy="106680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Conv1d 16</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kernel 5</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ReLU</a:t>
            </a:r>
          </a:p>
        </p:txBody>
      </p:sp>
      <p:sp>
        <p:nvSpPr>
          <p:cNvPr id="14" name="">
            <a:extLst xmlns:a="http://schemas.openxmlformats.org/drawingml/2006/main">
              <a:ext uri="{FF2B5EF4-FFF2-40B4-BE49-F238E27FC236}">
                <a16:creationId xmlns:a16="http://schemas.microsoft.com/office/drawing/2014/main" id="{026B32E4-EB29-4085-A65B-C434B8D9AA8A}"/>
              </a:ext>
            </a:extLst>
          </p:cNvPr>
          <p:cNvSpPr>
            <a:spLocks xmlns:a="http://schemas.openxmlformats.org/drawingml/2006/main" noGrp="1"/>
          </p:cNvSpPr>
          <p:nvPr/>
        </p:nvSpPr>
        <p:spPr>
          <a:xfrm xmlns:a="http://schemas.openxmlformats.org/drawingml/2006/main">
            <a:off x="4695825" y="4000500"/>
            <a:ext cx="1333500" cy="106680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Conv1d 32</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kernel 5</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ReLU</a:t>
            </a:r>
          </a:p>
        </p:txBody>
      </p:sp>
      <p:sp>
        <p:nvSpPr>
          <p:cNvPr id="15" name="">
            <a:extLst xmlns:a="http://schemas.openxmlformats.org/drawingml/2006/main">
              <a:ext uri="{FF2B5EF4-FFF2-40B4-BE49-F238E27FC236}">
                <a16:creationId xmlns:a16="http://schemas.microsoft.com/office/drawing/2014/main" id="{1B107D34-2C8C-41B7-8110-45D9E6A555F1}"/>
              </a:ext>
            </a:extLst>
          </p:cNvPr>
          <p:cNvSpPr>
            <a:spLocks xmlns:a="http://schemas.openxmlformats.org/drawingml/2006/main" noGrp="1"/>
          </p:cNvSpPr>
          <p:nvPr/>
        </p:nvSpPr>
        <p:spPr>
          <a:xfrm xmlns:a="http://schemas.openxmlformats.org/drawingml/2006/main">
            <a:off x="6410325" y="4000500"/>
            <a:ext cx="1333500" cy="106680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Average</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pooling</a:t>
            </a:r>
          </a:p>
        </p:txBody>
      </p:sp>
      <p:sp>
        <p:nvSpPr>
          <p:cNvPr id="16" name="">
            <a:extLst xmlns:a="http://schemas.openxmlformats.org/drawingml/2006/main">
              <a:ext uri="{FF2B5EF4-FFF2-40B4-BE49-F238E27FC236}">
                <a16:creationId xmlns:a16="http://schemas.microsoft.com/office/drawing/2014/main" id="{6CA92C6A-60B1-4731-B59E-637DF63EA491}"/>
              </a:ext>
            </a:extLst>
          </p:cNvPr>
          <p:cNvSpPr>
            <a:spLocks xmlns:a="http://schemas.openxmlformats.org/drawingml/2006/main" noGrp="1"/>
          </p:cNvSpPr>
          <p:nvPr/>
        </p:nvSpPr>
        <p:spPr>
          <a:xfrm xmlns:a="http://schemas.openxmlformats.org/drawingml/2006/main">
            <a:off x="8124825" y="4000500"/>
            <a:ext cx="1333500" cy="1066800"/>
          </a:xfrm>
          <a:prstGeom xmlns:a="http://schemas.openxmlformats.org/drawingml/2006/main" prst="rect">
            <a:avLst/>
          </a:prstGeom>
          <a:solidFill xmlns:a="http://schemas.openxmlformats.org/drawingml/2006/main">
            <a:srgbClr val="E6F3F3"/>
          </a:solidFill>
          <a:ln xmlns:a="http://schemas.openxmlformats.org/drawingml/2006/main" w="13335">
            <a:solidFill>
              <a:srgbClr val="CED8E0"/>
            </a:solidFill>
          </a:ln>
        </p:spPr>
        <p:txBody>
          <a:bodyPr xmlns:a="http://schemas.openxmlformats.org/drawingml/2006/main" lIns="85725" tIns="66675" rIns="85725" bIns="66675" anchor="ctr">
            <a:noAutofit/>
          </a:bodyPr>
          <a:lstStyle xmlns:a="http://schemas.openxmlformats.org/drawingml/2006/main"/>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Linear</a:t>
            </a:r>
          </a:p>
          <a:p xmlns:a="http://schemas.openxmlformats.org/drawingml/2006/main">
            <a:pPr algn="ctr">
              <a:defRPr sz="1725" b="0">
                <a:solidFill>
                  <a:srgbClr val="122536"/>
                </a:solidFill>
                <a:latin typeface="Malgun Gothic"/>
                <a:ea typeface="Malgun Gothic"/>
                <a:cs typeface="Malgun Gothic"/>
              </a:defRPr>
            </a:pPr>
            <a:r>
              <a:rPr sz="1725" b="0">
                <a:solidFill>
                  <a:srgbClr val="122536"/>
                </a:solidFill>
                <a:latin typeface="Malgun Gothic"/>
                <a:ea typeface="Malgun Gothic"/>
                <a:cs typeface="Malgun Gothic"/>
              </a:rPr>
              <a:t>Softplus</a:t>
            </a:r>
          </a:p>
        </p:txBody>
      </p:sp>
      <p:cxnSp>
        <p:nvCxnSpPr>
          <p:cNvPr id="41" name=""/>
          <p:cNvCxnSpPr>
            <a:stCxn xmlns:a="http://schemas.openxmlformats.org/drawingml/2006/main" id="5" idx="3"/>
            <a:endCxn xmlns:a="http://schemas.openxmlformats.org/drawingml/2006/main" id="13" idx="1"/>
          </p:cNvCxnSpPr>
          <p:nvPr/>
        </p:nvCxnSpPr>
        <p:spPr>
          <a:xfrm xmlns:a="http://schemas.openxmlformats.org/drawingml/2006/main">
            <a:off x="2266950" y="3362325"/>
            <a:ext cx="714375" cy="1171575"/>
          </a:xfrm>
          <a:prstGeom xmlns:a="http://schemas.openxmlformats.org/drawingml/2006/main" prst="bentConnector3">
            <a:avLst>
              <a:gd name="adj1" fmla="val 68000"/>
            </a:avLst>
          </a:prstGeom>
          <a:ln xmlns:a="http://schemas.openxmlformats.org/drawingml/2006/main" w="19050">
            <a:solidFill>
              <a:srgbClr val="234B67"/>
            </a:solidFill>
            <a:tailEnd type="triangle" w="sm" len="sm"/>
          </a:ln>
        </p:spPr>
      </p:cxnSp>
      <p:cxnSp>
        <p:nvCxnSpPr>
          <p:cNvPr id="42" name=""/>
          <p:cNvCxnSpPr>
            <a:stCxn xmlns:a="http://schemas.openxmlformats.org/drawingml/2006/main" id="13" idx="3"/>
            <a:endCxn xmlns:a="http://schemas.openxmlformats.org/drawingml/2006/main" id="14" idx="1"/>
          </p:cNvCxnSpPr>
          <p:nvPr/>
        </p:nvCxnSpPr>
        <p:spPr>
          <a:xfrm xmlns:a="http://schemas.openxmlformats.org/drawingml/2006/main">
            <a:off x="4314825" y="4533900"/>
            <a:ext cx="381000" cy="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43" name=""/>
          <p:cNvCxnSpPr>
            <a:stCxn xmlns:a="http://schemas.openxmlformats.org/drawingml/2006/main" id="14" idx="3"/>
            <a:endCxn xmlns:a="http://schemas.openxmlformats.org/drawingml/2006/main" id="15" idx="1"/>
          </p:cNvCxnSpPr>
          <p:nvPr/>
        </p:nvCxnSpPr>
        <p:spPr>
          <a:xfrm xmlns:a="http://schemas.openxmlformats.org/drawingml/2006/main">
            <a:off x="6029325" y="4533900"/>
            <a:ext cx="381000" cy="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44" name=""/>
          <p:cNvCxnSpPr>
            <a:stCxn xmlns:a="http://schemas.openxmlformats.org/drawingml/2006/main" id="15" idx="3"/>
            <a:endCxn xmlns:a="http://schemas.openxmlformats.org/drawingml/2006/main" id="16" idx="1"/>
          </p:cNvCxnSpPr>
          <p:nvPr/>
        </p:nvCxnSpPr>
        <p:spPr>
          <a:xfrm xmlns:a="http://schemas.openxmlformats.org/drawingml/2006/main">
            <a:off x="7743825" y="4533900"/>
            <a:ext cx="381000" cy="0"/>
          </a:xfrm>
          <a:prstGeom xmlns:a="http://schemas.openxmlformats.org/drawingml/2006/main" prst="straightConnector1">
            <a:avLst/>
          </a:prstGeom>
          <a:ln xmlns:a="http://schemas.openxmlformats.org/drawingml/2006/main" w="19050">
            <a:solidFill>
              <a:srgbClr val="234B67"/>
            </a:solidFill>
            <a:tailEnd type="triangle" w="sm" len="sm"/>
          </a:ln>
        </p:spPr>
      </p:cxnSp>
      <p:cxnSp>
        <p:nvCxnSpPr>
          <p:cNvPr id="45" name=""/>
          <p:cNvCxnSpPr>
            <a:stCxn xmlns:a="http://schemas.openxmlformats.org/drawingml/2006/main" id="16" idx="3"/>
            <a:endCxn xmlns:a="http://schemas.openxmlformats.org/drawingml/2006/main" id="8" idx="2"/>
          </p:cNvCxnSpPr>
          <p:nvPr/>
        </p:nvCxnSpPr>
        <p:spPr>
          <a:xfrm xmlns:a="http://schemas.openxmlformats.org/drawingml/2006/main" flipV="1">
            <a:off x="9458325" y="3905250"/>
            <a:ext cx="1304925" cy="628650"/>
          </a:xfrm>
          <a:prstGeom xmlns:a="http://schemas.openxmlformats.org/drawingml/2006/main" prst="bentConnector2">
            <a:avLst/>
          </a:prstGeom>
          <a:ln xmlns:a="http://schemas.openxmlformats.org/drawingml/2006/main" w="19050">
            <a:solidFill>
              <a:srgbClr val="234B67"/>
            </a:solidFill>
            <a:tailEnd type="triangle" w="sm" len="sm"/>
          </a:ln>
        </p:spPr>
      </p:cxnSp>
      <p:sp>
        <p:nvSpPr>
          <p:cNvPr id="22" name="">
            <a:extLst xmlns:a="http://schemas.openxmlformats.org/drawingml/2006/main">
              <a:ext uri="{FF2B5EF4-FFF2-40B4-BE49-F238E27FC236}">
                <a16:creationId xmlns:a16="http://schemas.microsoft.com/office/drawing/2014/main" id="{DB09F30D-62BD-4428-8AB0-4EAF23E202D8}"/>
              </a:ext>
            </a:extLst>
          </p:cNvPr>
          <p:cNvSpPr>
            <a:spLocks xmlns:a="http://schemas.openxmlformats.org/drawingml/2006/main" noGrp="1"/>
          </p:cNvSpPr>
          <p:nvPr/>
        </p:nvSpPr>
        <p:spPr>
          <a:xfrm xmlns:a="http://schemas.openxmlformats.org/drawingml/2006/main">
            <a:off x="723900" y="4086225"/>
            <a:ext cx="180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60개 표본 구간</a:t>
            </a:r>
          </a:p>
        </p:txBody>
      </p:sp>
      <p:sp>
        <p:nvSpPr>
          <p:cNvPr id="23" name="">
            <a:extLst xmlns:a="http://schemas.openxmlformats.org/drawingml/2006/main">
              <a:ext uri="{FF2B5EF4-FFF2-40B4-BE49-F238E27FC236}">
                <a16:creationId xmlns:a16="http://schemas.microsoft.com/office/drawing/2014/main" id="{0B077FF2-A16F-49B8-8ED0-55EBE88C19F6}"/>
              </a:ext>
            </a:extLst>
          </p:cNvPr>
          <p:cNvSpPr>
            <a:spLocks xmlns:a="http://schemas.openxmlformats.org/drawingml/2006/main" noGrp="1"/>
          </p:cNvSpPr>
          <p:nvPr/>
        </p:nvSpPr>
        <p:spPr>
          <a:xfrm xmlns:a="http://schemas.openxmlformats.org/drawingml/2006/main">
            <a:off x="714375" y="53054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Malgun Gothic"/>
                <a:ea typeface="Malgun Gothic"/>
                <a:cs typeface="Malgun Gothic"/>
              </a:defRPr>
            </a:pPr>
            <a:r>
              <a:rPr sz="1950" b="1">
                <a:solidFill>
                  <a:srgbClr val="087F8C"/>
                </a:solidFill>
                <a:latin typeface="Malgun Gothic"/>
                <a:ea typeface="Malgun Gothic"/>
                <a:cs typeface="Malgun Gothic"/>
              </a:rPr>
              <a:t>CNN: 4,081개 파라미터, 12 epochs, RTX 4070 Ti SUPER</a:t>
            </a:r>
          </a:p>
        </p:txBody>
      </p:sp>
      <p:sp>
        <p:nvSpPr>
          <p:cNvPr id="24" name="">
            <a:extLst xmlns:a="http://schemas.openxmlformats.org/drawingml/2006/main">
              <a:ext uri="{FF2B5EF4-FFF2-40B4-BE49-F238E27FC236}">
                <a16:creationId xmlns:a16="http://schemas.microsoft.com/office/drawing/2014/main" id="{09CDEB3C-7101-464E-B4B6-9CBBA492EA03}"/>
              </a:ext>
            </a:extLst>
          </p:cNvPr>
          <p:cNvSpPr>
            <a:spLocks xmlns:a="http://schemas.openxmlformats.org/drawingml/2006/main" noGrp="1"/>
          </p:cNvSpPr>
          <p:nvPr/>
        </p:nvSpPr>
        <p:spPr>
          <a:xfrm xmlns:a="http://schemas.openxmlformats.org/drawingml/2006/main">
            <a:off x="714375" y="586740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171"/>
                </a:solidFill>
                <a:latin typeface="Malgun Gothic"/>
                <a:ea typeface="Malgun Gothic"/>
                <a:cs typeface="Malgun Gothic"/>
              </a:defRPr>
            </a:pPr>
            <a:r>
              <a:rPr sz="1725" b="0">
                <a:solidFill>
                  <a:srgbClr val="536171"/>
                </a:solidFill>
                <a:latin typeface="Malgun Gothic"/>
                <a:ea typeface="Malgun Gothic"/>
                <a:cs typeface="Malgun Gothic"/>
              </a:rPr>
              <a:t>민감도: 6개 구간 설정 × 2개 모델 × 2개 정책 = 24개 후보</a:t>
            </a:r>
          </a:p>
        </p:txBody>
      </p:sp>
    </p:spTree>
    <p:extLst>
      <p:ext uri="{BB962C8B-B14F-4D97-AF65-F5344CB8AC3E}">
        <p14:creationId xmlns:p14="http://schemas.microsoft.com/office/powerpoint/2010/main" val="6897449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052882-63E5-4DE2-9642-EF5F72D7A2F8}"/>
              </a:ext>
            </a:extLst>
          </p:cNvPr>
          <p:cNvSpPr>
            <a:spLocks xmlns:a="http://schemas.openxmlformats.org/drawingml/2006/main" noGrp="1"/>
          </p:cNvSpPr>
          <p:nvPr/>
        </p:nvSpPr>
        <p:spPr>
          <a:xfrm xmlns:a="http://schemas.openxmlformats.org/drawingml/2006/main">
            <a:off x="685800" y="428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536"/>
                </a:solidFill>
                <a:latin typeface="Malgun Gothic"/>
                <a:ea typeface="Malgun Gothic"/>
                <a:cs typeface="Malgun Gothic"/>
              </a:defRPr>
            </a:pPr>
            <a:r>
              <a:rPr sz="3300" b="1">
                <a:solidFill>
                  <a:srgbClr val="122536"/>
                </a:solidFill>
                <a:latin typeface="Malgun Gothic"/>
                <a:ea typeface="Malgun Gothic"/>
                <a:cs typeface="Malgun Gothic"/>
              </a:rPr>
              <a:t>개발 검증에서 CNN의 오차가 가장 낮다</a:t>
            </a:r>
          </a:p>
        </p:txBody>
      </p:sp>
      <p:sp>
        <p:nvSpPr>
          <p:cNvPr id="2" name="">
            <a:extLst xmlns:a="http://schemas.openxmlformats.org/drawingml/2006/main">
              <a:ext uri="{FF2B5EF4-FFF2-40B4-BE49-F238E27FC236}">
                <a16:creationId xmlns:a16="http://schemas.microsoft.com/office/drawing/2014/main" id="{1F2CC632-E9D1-439D-A7AD-6C3E556413B8}"/>
              </a:ext>
            </a:extLst>
          </p:cNvPr>
          <p:cNvSpPr>
            <a:spLocks xmlns:a="http://schemas.openxmlformats.org/drawingml/2006/main" noGrp="1"/>
          </p:cNvSpPr>
          <p:nvPr/>
        </p:nvSpPr>
        <p:spPr>
          <a:xfrm xmlns:a="http://schemas.openxmlformats.org/drawingml/2006/main">
            <a:off x="685800" y="6391275"/>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DCCS 410  김성현  2021271250</a:t>
            </a:r>
          </a:p>
        </p:txBody>
      </p:sp>
      <p:sp>
        <p:nvSpPr>
          <p:cNvPr id="3" name="">
            <a:extLst xmlns:a="http://schemas.openxmlformats.org/drawingml/2006/main">
              <a:ext uri="{FF2B5EF4-FFF2-40B4-BE49-F238E27FC236}">
                <a16:creationId xmlns:a16="http://schemas.microsoft.com/office/drawing/2014/main" id="{ADF42FDC-05E6-4994-8B97-92BD7EB45191}"/>
              </a:ext>
            </a:extLst>
          </p:cNvPr>
          <p:cNvSpPr>
            <a:spLocks xmlns:a="http://schemas.openxmlformats.org/drawingml/2006/main" noGrp="1"/>
          </p:cNvSpPr>
          <p:nvPr/>
        </p:nvSpPr>
        <p:spPr>
          <a:xfrm xmlns:a="http://schemas.openxmlformats.org/drawingml/2006/main">
            <a:off x="1104900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04</a:t>
            </a:r>
          </a:p>
        </p:txBody>
      </p:sp>
      <p:graphicFrame>
        <p:nvGraphicFramePr>
          <p:cNvPr id="13" name="Chart"/>
          <p:cNvGraphicFramePr/>
          <p:nvPr/>
        </p:nvGraphicFramePr>
        <p:xfrm>
          <a:off xmlns:a="http://schemas.openxmlformats.org/drawingml/2006/main" x="523875" y="1752600"/>
          <a:ext xmlns:a="http://schemas.openxmlformats.org/drawingml/2006/main" cx="8096250" cy="3943350"/>
        </p:xfrm>
        <a:graphic xmlns:a="http://schemas.openxmlformats.org/drawingml/2006/main">
          <a:graphicData uri="http://schemas.openxmlformats.org/drawingml/2006/chart">
            <c:chart xmlns:r="http://schemas.openxmlformats.org/officeDocument/2006/relationships" xmlns:c="http://schemas.openxmlformats.org/drawingml/2006/chart" r:id="Rf694f37b3e034a9d"/>
          </a:graphicData>
        </a:graphic>
      </p:graphicFrame>
      <p:sp>
        <p:nvSpPr>
          <p:cNvPr id="5" name="">
            <a:extLst xmlns:a="http://schemas.openxmlformats.org/drawingml/2006/main">
              <a:ext uri="{FF2B5EF4-FFF2-40B4-BE49-F238E27FC236}">
                <a16:creationId xmlns:a16="http://schemas.microsoft.com/office/drawing/2014/main" id="{A32AC24B-26D7-4134-A101-25896C3E450C}"/>
              </a:ext>
            </a:extLst>
          </p:cNvPr>
          <p:cNvSpPr>
            <a:spLocks xmlns:a="http://schemas.openxmlformats.org/drawingml/2006/main" noGrp="1"/>
          </p:cNvSpPr>
          <p:nvPr/>
        </p:nvSpPr>
        <p:spPr>
          <a:xfrm xmlns:a="http://schemas.openxmlformats.org/drawingml/2006/main">
            <a:off x="9010650" y="19050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087F8C"/>
                </a:solidFill>
                <a:latin typeface="Malgun Gothic"/>
                <a:ea typeface="Malgun Gothic"/>
                <a:cs typeface="Malgun Gothic"/>
              </a:defRPr>
            </a:pPr>
            <a:r>
              <a:rPr sz="5775" b="1">
                <a:solidFill>
                  <a:srgbClr val="087F8C"/>
                </a:solidFill>
                <a:latin typeface="Malgun Gothic"/>
                <a:ea typeface="Malgun Gothic"/>
                <a:cs typeface="Malgun Gothic"/>
              </a:rPr>
              <a:t>5.70</a:t>
            </a:r>
          </a:p>
        </p:txBody>
      </p:sp>
      <p:sp>
        <p:nvSpPr>
          <p:cNvPr id="6" name="">
            <a:extLst xmlns:a="http://schemas.openxmlformats.org/drawingml/2006/main">
              <a:ext uri="{FF2B5EF4-FFF2-40B4-BE49-F238E27FC236}">
                <a16:creationId xmlns:a16="http://schemas.microsoft.com/office/drawing/2014/main" id="{206F6AA4-B74B-4BC7-A6D5-CE62167E9092}"/>
              </a:ext>
            </a:extLst>
          </p:cNvPr>
          <p:cNvSpPr>
            <a:spLocks xmlns:a="http://schemas.openxmlformats.org/drawingml/2006/main" noGrp="1"/>
          </p:cNvSpPr>
          <p:nvPr/>
        </p:nvSpPr>
        <p:spPr>
          <a:xfrm xmlns:a="http://schemas.openxmlformats.org/drawingml/2006/main">
            <a:off x="9029700" y="293370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22536"/>
                </a:solidFill>
                <a:latin typeface="Malgun Gothic"/>
                <a:ea typeface="Malgun Gothic"/>
                <a:cs typeface="Malgun Gothic"/>
              </a:defRPr>
            </a:pPr>
            <a:r>
              <a:rPr sz="1800" b="0">
                <a:solidFill>
                  <a:srgbClr val="122536"/>
                </a:solidFill>
                <a:latin typeface="Malgun Gothic"/>
                <a:ea typeface="Malgun Gothic"/>
                <a:cs typeface="Malgun Gothic"/>
              </a:rPr>
              <a:t>CNN 시험 RMSE</a:t>
            </a:r>
          </a:p>
        </p:txBody>
      </p:sp>
      <p:sp>
        <p:nvSpPr>
          <p:cNvPr id="7" name="">
            <a:extLst xmlns:a="http://schemas.openxmlformats.org/drawingml/2006/main">
              <a:ext uri="{FF2B5EF4-FFF2-40B4-BE49-F238E27FC236}">
                <a16:creationId xmlns:a16="http://schemas.microsoft.com/office/drawing/2014/main" id="{1F157292-A133-401A-ADE9-4698154A8DD3}"/>
              </a:ext>
            </a:extLst>
          </p:cNvPr>
          <p:cNvSpPr>
            <a:spLocks xmlns:a="http://schemas.openxmlformats.org/drawingml/2006/main" noGrp="1"/>
          </p:cNvSpPr>
          <p:nvPr/>
        </p:nvSpPr>
        <p:spPr>
          <a:xfrm xmlns:a="http://schemas.openxmlformats.org/drawingml/2006/main">
            <a:off x="9010650" y="3905250"/>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D77938"/>
                </a:solidFill>
                <a:latin typeface="Malgun Gothic"/>
                <a:ea typeface="Malgun Gothic"/>
                <a:cs typeface="Malgun Gothic"/>
              </a:defRPr>
            </a:pPr>
            <a:r>
              <a:rPr sz="4575" b="1">
                <a:solidFill>
                  <a:srgbClr val="D77938"/>
                </a:solidFill>
                <a:latin typeface="Malgun Gothic"/>
                <a:ea typeface="Malgun Gothic"/>
                <a:cs typeface="Malgun Gothic"/>
              </a:rPr>
              <a:t>4.52</a:t>
            </a:r>
          </a:p>
        </p:txBody>
      </p:sp>
      <p:sp>
        <p:nvSpPr>
          <p:cNvPr id="8" name="">
            <a:extLst xmlns:a="http://schemas.openxmlformats.org/drawingml/2006/main">
              <a:ext uri="{FF2B5EF4-FFF2-40B4-BE49-F238E27FC236}">
                <a16:creationId xmlns:a16="http://schemas.microsoft.com/office/drawing/2014/main" id="{18890B12-2CC7-4EA4-8037-63371C96DC6A}"/>
              </a:ext>
            </a:extLst>
          </p:cNvPr>
          <p:cNvSpPr>
            <a:spLocks xmlns:a="http://schemas.openxmlformats.org/drawingml/2006/main" noGrp="1"/>
          </p:cNvSpPr>
          <p:nvPr/>
        </p:nvSpPr>
        <p:spPr>
          <a:xfrm xmlns:a="http://schemas.openxmlformats.org/drawingml/2006/main">
            <a:off x="9029700" y="47720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22536"/>
                </a:solidFill>
                <a:latin typeface="Malgun Gothic"/>
                <a:ea typeface="Malgun Gothic"/>
                <a:cs typeface="Malgun Gothic"/>
              </a:defRPr>
            </a:pPr>
            <a:r>
              <a:rPr sz="1800" b="0">
                <a:solidFill>
                  <a:srgbClr val="122536"/>
                </a:solidFill>
                <a:latin typeface="Malgun Gothic"/>
                <a:ea typeface="Malgun Gothic"/>
                <a:cs typeface="Malgun Gothic"/>
              </a:rPr>
              <a:t>CNN 시험 MAE</a:t>
            </a:r>
          </a:p>
        </p:txBody>
      </p:sp>
      <p:sp>
        <p:nvSpPr>
          <p:cNvPr id="9" name="">
            <a:extLst xmlns:a="http://schemas.openxmlformats.org/drawingml/2006/main">
              <a:ext uri="{FF2B5EF4-FFF2-40B4-BE49-F238E27FC236}">
                <a16:creationId xmlns:a16="http://schemas.microsoft.com/office/drawing/2014/main" id="{7E5516B7-9811-49C8-B72E-6C0E5B479F97}"/>
              </a:ext>
            </a:extLst>
          </p:cNvPr>
          <p:cNvSpPr>
            <a:spLocks xmlns:a="http://schemas.openxmlformats.org/drawingml/2006/main" noGrp="1"/>
          </p:cNvSpPr>
          <p:nvPr/>
        </p:nvSpPr>
        <p:spPr>
          <a:xfrm xmlns:a="http://schemas.openxmlformats.org/drawingml/2006/main">
            <a:off x="723900" y="59055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171"/>
                </a:solidFill>
                <a:latin typeface="Malgun Gothic"/>
                <a:ea typeface="Malgun Gothic"/>
                <a:cs typeface="Malgun Gothic"/>
              </a:defRPr>
            </a:pPr>
            <a:r>
              <a:rPr sz="1800" b="0">
                <a:solidFill>
                  <a:srgbClr val="536171"/>
                </a:solidFill>
                <a:latin typeface="Malgun Gothic"/>
                <a:ea typeface="Malgun Gothic"/>
                <a:cs typeface="Malgun Gothic"/>
              </a:rPr>
              <a:t>모델 선택은 개발 CV만 사용. 시험 점수는 재사용 평가</a:t>
            </a:r>
          </a:p>
        </p:txBody>
      </p:sp>
    </p:spTree>
    <p:extLst>
      <p:ext uri="{BB962C8B-B14F-4D97-AF65-F5344CB8AC3E}">
        <p14:creationId xmlns:p14="http://schemas.microsoft.com/office/powerpoint/2010/main" val="20282791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19F3CFE-4453-4FFA-BB0A-2992B8CA1D5B}"/>
              </a:ext>
            </a:extLst>
          </p:cNvPr>
          <p:cNvSpPr>
            <a:spLocks xmlns:a="http://schemas.openxmlformats.org/drawingml/2006/main" noGrp="1"/>
          </p:cNvSpPr>
          <p:nvPr/>
        </p:nvSpPr>
        <p:spPr>
          <a:xfrm xmlns:a="http://schemas.openxmlformats.org/drawingml/2006/main">
            <a:off x="685800" y="428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536"/>
                </a:solidFill>
                <a:latin typeface="Malgun Gothic"/>
                <a:ea typeface="Malgun Gothic"/>
                <a:cs typeface="Malgun Gothic"/>
              </a:defRPr>
            </a:pPr>
            <a:r>
              <a:rPr sz="3300" b="1">
                <a:solidFill>
                  <a:srgbClr val="122536"/>
                </a:solidFill>
                <a:latin typeface="Malgun Gothic"/>
                <a:ea typeface="Malgun Gothic"/>
                <a:cs typeface="Malgun Gothic"/>
              </a:rPr>
              <a:t>시험 엔진의 정답과 CNN 예측</a:t>
            </a:r>
          </a:p>
        </p:txBody>
      </p:sp>
      <p:sp>
        <p:nvSpPr>
          <p:cNvPr id="2" name="">
            <a:extLst xmlns:a="http://schemas.openxmlformats.org/drawingml/2006/main">
              <a:ext uri="{FF2B5EF4-FFF2-40B4-BE49-F238E27FC236}">
                <a16:creationId xmlns:a16="http://schemas.microsoft.com/office/drawing/2014/main" id="{F920676D-C785-4C64-B448-C0D14BAB244D}"/>
              </a:ext>
            </a:extLst>
          </p:cNvPr>
          <p:cNvSpPr>
            <a:spLocks xmlns:a="http://schemas.openxmlformats.org/drawingml/2006/main" noGrp="1"/>
          </p:cNvSpPr>
          <p:nvPr/>
        </p:nvSpPr>
        <p:spPr>
          <a:xfrm xmlns:a="http://schemas.openxmlformats.org/drawingml/2006/main">
            <a:off x="685800" y="6391275"/>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DCCS 410  김성현  2021271250</a:t>
            </a:r>
          </a:p>
        </p:txBody>
      </p:sp>
      <p:sp>
        <p:nvSpPr>
          <p:cNvPr id="3" name="">
            <a:extLst xmlns:a="http://schemas.openxmlformats.org/drawingml/2006/main">
              <a:ext uri="{FF2B5EF4-FFF2-40B4-BE49-F238E27FC236}">
                <a16:creationId xmlns:a16="http://schemas.microsoft.com/office/drawing/2014/main" id="{F16B8E09-965F-48ED-9243-F3138F916AA0}"/>
              </a:ext>
            </a:extLst>
          </p:cNvPr>
          <p:cNvSpPr>
            <a:spLocks xmlns:a="http://schemas.openxmlformats.org/drawingml/2006/main" noGrp="1"/>
          </p:cNvSpPr>
          <p:nvPr/>
        </p:nvSpPr>
        <p:spPr>
          <a:xfrm xmlns:a="http://schemas.openxmlformats.org/drawingml/2006/main">
            <a:off x="1104900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9098E1A4-C347-4125-84C9-AF4FF9F9D75B}"/>
              </a:ext>
            </a:extLst>
          </p:cNvPr>
          <p:cNvSpPr>
            <a:spLocks xmlns:a="http://schemas.openxmlformats.org/drawingml/2006/main" noGrp="1"/>
          </p:cNvSpPr>
          <p:nvPr/>
        </p:nvSpPr>
        <p:spPr>
          <a:xfrm xmlns:a="http://schemas.openxmlformats.org/drawingml/2006/main">
            <a:off x="762000" y="13811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4B67"/>
                </a:solidFill>
                <a:latin typeface="Malgun Gothic"/>
                <a:ea typeface="Malgun Gothic"/>
                <a:cs typeface="Malgun Gothic"/>
              </a:defRPr>
            </a:pPr>
            <a:r>
              <a:rPr sz="2175" b="1">
                <a:solidFill>
                  <a:srgbClr val="234B67"/>
                </a:solidFill>
                <a:latin typeface="Malgun Gothic"/>
                <a:ea typeface="Malgun Gothic"/>
                <a:cs typeface="Malgun Gothic"/>
              </a:rPr>
              <a:t>엔진 11</a:t>
            </a:r>
          </a:p>
        </p:txBody>
      </p:sp>
      <p:sp>
        <p:nvSpPr>
          <p:cNvPr id="5" name="">
            <a:extLst xmlns:a="http://schemas.openxmlformats.org/drawingml/2006/main">
              <a:ext uri="{FF2B5EF4-FFF2-40B4-BE49-F238E27FC236}">
                <a16:creationId xmlns:a16="http://schemas.microsoft.com/office/drawing/2014/main" id="{AA76AC02-BAB6-4AF4-91AF-01494819B549}"/>
              </a:ext>
            </a:extLst>
          </p:cNvPr>
          <p:cNvSpPr>
            <a:spLocks xmlns:a="http://schemas.openxmlformats.org/drawingml/2006/main" noGrp="1"/>
          </p:cNvSpPr>
          <p:nvPr/>
        </p:nvSpPr>
        <p:spPr>
          <a:xfrm xmlns:a="http://schemas.openxmlformats.org/drawingml/2006/main">
            <a:off x="762000" y="1838325"/>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RMSE 7.48</a:t>
            </a:r>
          </a:p>
        </p:txBody>
      </p:sp>
      <p:graphicFrame>
        <p:nvGraphicFramePr>
          <p:cNvPr id="20" name="Chart"/>
          <p:cNvGraphicFramePr/>
          <p:nvPr/>
        </p:nvGraphicFramePr>
        <p:xfrm>
          <a:off xmlns:a="http://schemas.openxmlformats.org/drawingml/2006/main" x="619125" y="2381250"/>
          <a:ext xmlns:a="http://schemas.openxmlformats.org/drawingml/2006/main" cx="3638550" cy="3162300"/>
        </p:xfrm>
        <a:graphic xmlns:a="http://schemas.openxmlformats.org/drawingml/2006/main">
          <a:graphicData uri="http://schemas.openxmlformats.org/drawingml/2006/chart">
            <c:chart xmlns:r="http://schemas.openxmlformats.org/officeDocument/2006/relationships" xmlns:c="http://schemas.openxmlformats.org/drawingml/2006/chart" r:id="R8642bccf685e458d"/>
          </a:graphicData>
        </a:graphic>
      </p:graphicFrame>
      <p:sp>
        <p:nvSpPr>
          <p:cNvPr id="7" name="">
            <a:extLst xmlns:a="http://schemas.openxmlformats.org/drawingml/2006/main">
              <a:ext uri="{FF2B5EF4-FFF2-40B4-BE49-F238E27FC236}">
                <a16:creationId xmlns:a16="http://schemas.microsoft.com/office/drawing/2014/main" id="{DA8B555A-85A5-4552-865C-CAB6817C0E49}"/>
              </a:ext>
            </a:extLst>
          </p:cNvPr>
          <p:cNvSpPr>
            <a:spLocks xmlns:a="http://schemas.openxmlformats.org/drawingml/2006/main" noGrp="1"/>
          </p:cNvSpPr>
          <p:nvPr/>
        </p:nvSpPr>
        <p:spPr>
          <a:xfrm xmlns:a="http://schemas.openxmlformats.org/drawingml/2006/main">
            <a:off x="4552950" y="13811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4B67"/>
                </a:solidFill>
                <a:latin typeface="Malgun Gothic"/>
                <a:ea typeface="Malgun Gothic"/>
                <a:cs typeface="Malgun Gothic"/>
              </a:defRPr>
            </a:pPr>
            <a:r>
              <a:rPr sz="2175" b="1">
                <a:solidFill>
                  <a:srgbClr val="234B67"/>
                </a:solidFill>
                <a:latin typeface="Malgun Gothic"/>
                <a:ea typeface="Malgun Gothic"/>
                <a:cs typeface="Malgun Gothic"/>
              </a:rPr>
              <a:t>엔진 14</a:t>
            </a:r>
          </a:p>
        </p:txBody>
      </p:sp>
      <p:sp>
        <p:nvSpPr>
          <p:cNvPr id="8" name="">
            <a:extLst xmlns:a="http://schemas.openxmlformats.org/drawingml/2006/main">
              <a:ext uri="{FF2B5EF4-FFF2-40B4-BE49-F238E27FC236}">
                <a16:creationId xmlns:a16="http://schemas.microsoft.com/office/drawing/2014/main" id="{F8FC21CF-1748-44A5-BD18-4D852FADFA78}"/>
              </a:ext>
            </a:extLst>
          </p:cNvPr>
          <p:cNvSpPr>
            <a:spLocks xmlns:a="http://schemas.openxmlformats.org/drawingml/2006/main" noGrp="1"/>
          </p:cNvSpPr>
          <p:nvPr/>
        </p:nvSpPr>
        <p:spPr>
          <a:xfrm xmlns:a="http://schemas.openxmlformats.org/drawingml/2006/main">
            <a:off x="4552950" y="1838325"/>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RMSE 6.15</a:t>
            </a:r>
          </a:p>
        </p:txBody>
      </p:sp>
      <p:graphicFrame>
        <p:nvGraphicFramePr>
          <p:cNvPr id="23" name="Chart"/>
          <p:cNvGraphicFramePr/>
          <p:nvPr/>
        </p:nvGraphicFramePr>
        <p:xfrm>
          <a:off xmlns:a="http://schemas.openxmlformats.org/drawingml/2006/main" x="4410075" y="2381250"/>
          <a:ext xmlns:a="http://schemas.openxmlformats.org/drawingml/2006/main" cx="3638550" cy="3162300"/>
        </p:xfrm>
        <a:graphic xmlns:a="http://schemas.openxmlformats.org/drawingml/2006/main">
          <a:graphicData uri="http://schemas.openxmlformats.org/drawingml/2006/chart">
            <c:chart xmlns:r="http://schemas.openxmlformats.org/officeDocument/2006/relationships" xmlns:c="http://schemas.openxmlformats.org/drawingml/2006/chart" r:id="R24d9199efd6c4f85"/>
          </a:graphicData>
        </a:graphic>
      </p:graphicFrame>
      <p:sp>
        <p:nvSpPr>
          <p:cNvPr id="10" name="">
            <a:extLst xmlns:a="http://schemas.openxmlformats.org/drawingml/2006/main">
              <a:ext uri="{FF2B5EF4-FFF2-40B4-BE49-F238E27FC236}">
                <a16:creationId xmlns:a16="http://schemas.microsoft.com/office/drawing/2014/main" id="{B74563EE-0C99-47D2-B30C-01D799B573B2}"/>
              </a:ext>
            </a:extLst>
          </p:cNvPr>
          <p:cNvSpPr>
            <a:spLocks xmlns:a="http://schemas.openxmlformats.org/drawingml/2006/main" noGrp="1"/>
          </p:cNvSpPr>
          <p:nvPr/>
        </p:nvSpPr>
        <p:spPr>
          <a:xfrm xmlns:a="http://schemas.openxmlformats.org/drawingml/2006/main">
            <a:off x="8343900" y="13811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4B67"/>
                </a:solidFill>
                <a:latin typeface="Malgun Gothic"/>
                <a:ea typeface="Malgun Gothic"/>
                <a:cs typeface="Malgun Gothic"/>
              </a:defRPr>
            </a:pPr>
            <a:r>
              <a:rPr sz="2175" b="1">
                <a:solidFill>
                  <a:srgbClr val="234B67"/>
                </a:solidFill>
                <a:latin typeface="Malgun Gothic"/>
                <a:ea typeface="Malgun Gothic"/>
                <a:cs typeface="Malgun Gothic"/>
              </a:rPr>
              <a:t>엔진 15</a:t>
            </a:r>
          </a:p>
        </p:txBody>
      </p:sp>
      <p:sp>
        <p:nvSpPr>
          <p:cNvPr id="11" name="">
            <a:extLst xmlns:a="http://schemas.openxmlformats.org/drawingml/2006/main">
              <a:ext uri="{FF2B5EF4-FFF2-40B4-BE49-F238E27FC236}">
                <a16:creationId xmlns:a16="http://schemas.microsoft.com/office/drawing/2014/main" id="{06D7A1A6-543D-44C9-8722-C18A1A986789}"/>
              </a:ext>
            </a:extLst>
          </p:cNvPr>
          <p:cNvSpPr>
            <a:spLocks xmlns:a="http://schemas.openxmlformats.org/drawingml/2006/main" noGrp="1"/>
          </p:cNvSpPr>
          <p:nvPr/>
        </p:nvSpPr>
        <p:spPr>
          <a:xfrm xmlns:a="http://schemas.openxmlformats.org/drawingml/2006/main">
            <a:off x="8343900" y="1838325"/>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71"/>
                </a:solidFill>
                <a:latin typeface="Malgun Gothic"/>
                <a:ea typeface="Malgun Gothic"/>
                <a:cs typeface="Malgun Gothic"/>
              </a:defRPr>
            </a:pPr>
            <a:r>
              <a:rPr sz="1650" b="0">
                <a:solidFill>
                  <a:srgbClr val="536171"/>
                </a:solidFill>
                <a:latin typeface="Malgun Gothic"/>
                <a:ea typeface="Malgun Gothic"/>
                <a:cs typeface="Malgun Gothic"/>
              </a:rPr>
              <a:t>RMSE 3.46</a:t>
            </a:r>
          </a:p>
        </p:txBody>
      </p:sp>
      <p:graphicFrame>
        <p:nvGraphicFramePr>
          <p:cNvPr id="26" name="Chart"/>
          <p:cNvGraphicFramePr/>
          <p:nvPr/>
        </p:nvGraphicFramePr>
        <p:xfrm>
          <a:off xmlns:a="http://schemas.openxmlformats.org/drawingml/2006/main" x="8201025" y="2381250"/>
          <a:ext xmlns:a="http://schemas.openxmlformats.org/drawingml/2006/main" cx="3638550" cy="3162300"/>
        </p:xfrm>
        <a:graphic xmlns:a="http://schemas.openxmlformats.org/drawingml/2006/main">
          <a:graphicData uri="http://schemas.openxmlformats.org/drawingml/2006/chart">
            <c:chart xmlns:r="http://schemas.openxmlformats.org/officeDocument/2006/relationships" xmlns:c="http://schemas.openxmlformats.org/drawingml/2006/chart" r:id="R000d4bf679ff4e89"/>
          </a:graphicData>
        </a:graphic>
      </p:graphicFrame>
      <p:sp>
        <p:nvSpPr>
          <p:cNvPr id="13" name="">
            <a:extLst xmlns:a="http://schemas.openxmlformats.org/drawingml/2006/main">
              <a:ext uri="{FF2B5EF4-FFF2-40B4-BE49-F238E27FC236}">
                <a16:creationId xmlns:a16="http://schemas.microsoft.com/office/drawing/2014/main" id="{F97F762E-49A0-4BD8-AF41-A6787B3DB8C3}"/>
              </a:ext>
            </a:extLst>
          </p:cNvPr>
          <p:cNvSpPr>
            <a:spLocks xmlns:a="http://schemas.openxmlformats.org/drawingml/2006/main" noGrp="1"/>
          </p:cNvSpPr>
          <p:nvPr/>
        </p:nvSpPr>
        <p:spPr>
          <a:xfrm xmlns:a="http://schemas.openxmlformats.org/drawingml/2006/main">
            <a:off x="723900" y="56388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C"/>
                </a:solidFill>
                <a:latin typeface="Malgun Gothic"/>
                <a:ea typeface="Malgun Gothic"/>
                <a:cs typeface="Malgun Gothic"/>
              </a:defRPr>
            </a:pPr>
            <a:r>
              <a:rPr sz="2025" b="1">
                <a:solidFill>
                  <a:srgbClr val="087F8C"/>
                </a:solidFill>
                <a:latin typeface="Malgun Gothic"/>
                <a:ea typeface="Malgun Gothic"/>
                <a:cs typeface="Malgun Gothic"/>
              </a:rPr>
              <a:t>정답 Y를 읽지 않는 예측 경로에서도 202개 비행의 결과 생성</a:t>
            </a:r>
          </a:p>
        </p:txBody>
      </p:sp>
      <p:sp>
        <p:nvSpPr>
          <p:cNvPr id="14" name="">
            <a:extLst xmlns:a="http://schemas.openxmlformats.org/drawingml/2006/main">
              <a:ext uri="{FF2B5EF4-FFF2-40B4-BE49-F238E27FC236}">
                <a16:creationId xmlns:a16="http://schemas.microsoft.com/office/drawing/2014/main" id="{79B9E1EA-FAE1-4DBC-95B6-C28B69A8A6D0}"/>
              </a:ext>
            </a:extLst>
          </p:cNvPr>
          <p:cNvSpPr>
            <a:spLocks xmlns:a="http://schemas.openxmlformats.org/drawingml/2006/main" noGrp="1"/>
          </p:cNvSpPr>
          <p:nvPr/>
        </p:nvSpPr>
        <p:spPr>
          <a:xfrm xmlns:a="http://schemas.openxmlformats.org/drawingml/2006/main">
            <a:off x="723900" y="605790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171"/>
                </a:solidFill>
                <a:latin typeface="Malgun Gothic"/>
                <a:ea typeface="Malgun Gothic"/>
                <a:cs typeface="Malgun Gothic"/>
              </a:defRPr>
            </a:pPr>
            <a:r>
              <a:rPr sz="1425" b="0">
                <a:solidFill>
                  <a:srgbClr val="536171"/>
                </a:solidFill>
                <a:latin typeface="Malgun Gothic"/>
                <a:ea typeface="Malgun Gothic"/>
                <a:cs typeface="Malgun Gothic"/>
              </a:rPr>
              <a:t>정답 곡선은 평가에만 사용. 비행 종료 시점의 평균 예측</a:t>
            </a:r>
          </a:p>
        </p:txBody>
      </p:sp>
    </p:spTree>
    <p:extLst>
      <p:ext uri="{BB962C8B-B14F-4D97-AF65-F5344CB8AC3E}">
        <p14:creationId xmlns:p14="http://schemas.microsoft.com/office/powerpoint/2010/main" val="16021839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CFE0BB-7406-4D1D-8465-2ABC026B493C}"/>
              </a:ext>
            </a:extLst>
          </p:cNvPr>
          <p:cNvSpPr>
            <a:spLocks xmlns:a="http://schemas.openxmlformats.org/drawingml/2006/main" noGrp="1"/>
          </p:cNvSpPr>
          <p:nvPr/>
        </p:nvSpPr>
        <p:spPr>
          <a:xfrm xmlns:a="http://schemas.openxmlformats.org/drawingml/2006/main">
            <a:off x="685800" y="428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536"/>
                </a:solidFill>
                <a:latin typeface="Malgun Gothic"/>
                <a:ea typeface="Malgun Gothic"/>
                <a:cs typeface="Malgun Gothic"/>
              </a:defRPr>
            </a:pPr>
            <a:r>
              <a:rPr sz="3300" b="1">
                <a:solidFill>
                  <a:srgbClr val="122536"/>
                </a:solidFill>
                <a:latin typeface="Malgun Gothic"/>
                <a:ea typeface="Malgun Gothic"/>
                <a:cs typeface="Malgun Gothic"/>
              </a:rPr>
              <a:t>4개 작업자에서 중앙 처리 시간이 가장 짧다</a:t>
            </a:r>
          </a:p>
        </p:txBody>
      </p:sp>
      <p:sp>
        <p:nvSpPr>
          <p:cNvPr id="2" name="">
            <a:extLst xmlns:a="http://schemas.openxmlformats.org/drawingml/2006/main">
              <a:ext uri="{FF2B5EF4-FFF2-40B4-BE49-F238E27FC236}">
                <a16:creationId xmlns:a16="http://schemas.microsoft.com/office/drawing/2014/main" id="{30ADD52D-BC09-43C3-A0E1-2028D8DBCC67}"/>
              </a:ext>
            </a:extLst>
          </p:cNvPr>
          <p:cNvSpPr>
            <a:spLocks xmlns:a="http://schemas.openxmlformats.org/drawingml/2006/main" noGrp="1"/>
          </p:cNvSpPr>
          <p:nvPr/>
        </p:nvSpPr>
        <p:spPr>
          <a:xfrm xmlns:a="http://schemas.openxmlformats.org/drawingml/2006/main">
            <a:off x="685800" y="6391275"/>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DCCS 410  김성현  2021271250</a:t>
            </a:r>
          </a:p>
        </p:txBody>
      </p:sp>
      <p:sp>
        <p:nvSpPr>
          <p:cNvPr id="3" name="">
            <a:extLst xmlns:a="http://schemas.openxmlformats.org/drawingml/2006/main">
              <a:ext uri="{FF2B5EF4-FFF2-40B4-BE49-F238E27FC236}">
                <a16:creationId xmlns:a16="http://schemas.microsoft.com/office/drawing/2014/main" id="{4792D6D2-EA59-4495-9303-FF762B5C0CA4}"/>
              </a:ext>
            </a:extLst>
          </p:cNvPr>
          <p:cNvSpPr>
            <a:spLocks xmlns:a="http://schemas.openxmlformats.org/drawingml/2006/main" noGrp="1"/>
          </p:cNvSpPr>
          <p:nvPr/>
        </p:nvSpPr>
        <p:spPr>
          <a:xfrm xmlns:a="http://schemas.openxmlformats.org/drawingml/2006/main">
            <a:off x="1104900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71"/>
                </a:solidFill>
                <a:latin typeface="Malgun Gothic"/>
                <a:ea typeface="Malgun Gothic"/>
                <a:cs typeface="Malgun Gothic"/>
              </a:defRPr>
            </a:pPr>
            <a:r>
              <a:rPr sz="1200" b="0">
                <a:solidFill>
                  <a:srgbClr val="536171"/>
                </a:solidFill>
                <a:latin typeface="Malgun Gothic"/>
                <a:ea typeface="Malgun Gothic"/>
                <a:cs typeface="Malgun Gothic"/>
              </a:rPr>
              <a:t>06</a:t>
            </a:r>
          </a:p>
        </p:txBody>
      </p:sp>
      <p:graphicFrame>
        <p:nvGraphicFramePr>
          <p:cNvPr id="13" name="Chart"/>
          <p:cNvGraphicFramePr/>
          <p:nvPr/>
        </p:nvGraphicFramePr>
        <p:xfrm>
          <a:off xmlns:a="http://schemas.openxmlformats.org/drawingml/2006/main" x="523875" y="1771650"/>
          <a:ext xmlns:a="http://schemas.openxmlformats.org/drawingml/2006/main" cx="7953375" cy="3657600"/>
        </p:xfrm>
        <a:graphic xmlns:a="http://schemas.openxmlformats.org/drawingml/2006/main">
          <a:graphicData uri="http://schemas.openxmlformats.org/drawingml/2006/chart">
            <c:chart xmlns:r="http://schemas.openxmlformats.org/officeDocument/2006/relationships" xmlns:c="http://schemas.openxmlformats.org/drawingml/2006/chart" r:id="Rb43a0d16ca594298"/>
          </a:graphicData>
        </a:graphic>
      </p:graphicFrame>
      <p:sp>
        <p:nvSpPr>
          <p:cNvPr id="5" name="">
            <a:extLst xmlns:a="http://schemas.openxmlformats.org/drawingml/2006/main">
              <a:ext uri="{FF2B5EF4-FFF2-40B4-BE49-F238E27FC236}">
                <a16:creationId xmlns:a16="http://schemas.microsoft.com/office/drawing/2014/main" id="{BF03AD74-E6D1-4714-861C-A2E6E327BF37}"/>
              </a:ext>
            </a:extLst>
          </p:cNvPr>
          <p:cNvSpPr>
            <a:spLocks xmlns:a="http://schemas.openxmlformats.org/drawingml/2006/main" noGrp="1"/>
          </p:cNvSpPr>
          <p:nvPr/>
        </p:nvSpPr>
        <p:spPr>
          <a:xfrm xmlns:a="http://schemas.openxmlformats.org/drawingml/2006/main">
            <a:off x="8953500" y="1914525"/>
            <a:ext cx="2619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75" b="1">
                <a:solidFill>
                  <a:srgbClr val="087F8C"/>
                </a:solidFill>
                <a:latin typeface="Malgun Gothic"/>
                <a:ea typeface="Malgun Gothic"/>
                <a:cs typeface="Malgun Gothic"/>
              </a:defRPr>
            </a:pPr>
            <a:r>
              <a:rPr sz="5475" b="1">
                <a:solidFill>
                  <a:srgbClr val="087F8C"/>
                </a:solidFill>
                <a:latin typeface="Malgun Gothic"/>
                <a:ea typeface="Malgun Gothic"/>
                <a:cs typeface="Malgun Gothic"/>
              </a:rPr>
              <a:t>1.46×</a:t>
            </a:r>
          </a:p>
        </p:txBody>
      </p:sp>
      <p:sp>
        <p:nvSpPr>
          <p:cNvPr id="6" name="">
            <a:extLst xmlns:a="http://schemas.openxmlformats.org/drawingml/2006/main">
              <a:ext uri="{FF2B5EF4-FFF2-40B4-BE49-F238E27FC236}">
                <a16:creationId xmlns:a16="http://schemas.microsoft.com/office/drawing/2014/main" id="{CEC289C2-BB3E-43B6-8EE6-C8BEBEAE1F14}"/>
              </a:ext>
            </a:extLst>
          </p:cNvPr>
          <p:cNvSpPr>
            <a:spLocks xmlns:a="http://schemas.openxmlformats.org/drawingml/2006/main" noGrp="1"/>
          </p:cNvSpPr>
          <p:nvPr/>
        </p:nvSpPr>
        <p:spPr>
          <a:xfrm xmlns:a="http://schemas.openxmlformats.org/drawingml/2006/main">
            <a:off x="8982075" y="2933700"/>
            <a:ext cx="257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2536"/>
                </a:solidFill>
                <a:latin typeface="Malgun Gothic"/>
                <a:ea typeface="Malgun Gothic"/>
                <a:cs typeface="Malgun Gothic"/>
              </a:defRPr>
            </a:pPr>
            <a:r>
              <a:rPr sz="2025" b="0">
                <a:solidFill>
                  <a:srgbClr val="122536"/>
                </a:solidFill>
                <a:latin typeface="Malgun Gothic"/>
                <a:ea typeface="Malgun Gothic"/>
                <a:cs typeface="Malgun Gothic"/>
              </a:rPr>
              <a:t>4개 작업자</a:t>
            </a:r>
          </a:p>
          <a:p xmlns:a="http://schemas.openxmlformats.org/drawingml/2006/main">
            <a:pPr>
              <a:defRPr sz="2025" b="0">
                <a:solidFill>
                  <a:srgbClr val="122536"/>
                </a:solidFill>
                <a:latin typeface="Malgun Gothic"/>
                <a:ea typeface="Malgun Gothic"/>
                <a:cs typeface="Malgun Gothic"/>
              </a:defRPr>
            </a:pPr>
            <a:r>
              <a:rPr sz="2025" b="0">
                <a:solidFill>
                  <a:srgbClr val="122536"/>
                </a:solidFill>
                <a:latin typeface="Malgun Gothic"/>
                <a:ea typeface="Malgun Gothic"/>
                <a:cs typeface="Malgun Gothic"/>
              </a:rPr>
              <a:t>중앙시간 기준</a:t>
            </a:r>
          </a:p>
        </p:txBody>
      </p:sp>
      <p:sp>
        <p:nvSpPr>
          <p:cNvPr id="7" name="">
            <a:extLst xmlns:a="http://schemas.openxmlformats.org/drawingml/2006/main">
              <a:ext uri="{FF2B5EF4-FFF2-40B4-BE49-F238E27FC236}">
                <a16:creationId xmlns:a16="http://schemas.microsoft.com/office/drawing/2014/main" id="{2DF34409-39F4-4511-A50E-A32FA3443578}"/>
              </a:ext>
            </a:extLst>
          </p:cNvPr>
          <p:cNvSpPr>
            <a:spLocks xmlns:a="http://schemas.openxmlformats.org/drawingml/2006/main" noGrp="1"/>
          </p:cNvSpPr>
          <p:nvPr/>
        </p:nvSpPr>
        <p:spPr>
          <a:xfrm xmlns:a="http://schemas.openxmlformats.org/drawingml/2006/main">
            <a:off x="8982075" y="4191000"/>
            <a:ext cx="2590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77938"/>
                </a:solidFill>
                <a:latin typeface="Malgun Gothic"/>
                <a:ea typeface="Malgun Gothic"/>
                <a:cs typeface="Malgun Gothic"/>
              </a:defRPr>
            </a:pPr>
            <a:r>
              <a:rPr sz="1875" b="0">
                <a:solidFill>
                  <a:srgbClr val="D77938"/>
                </a:solidFill>
                <a:latin typeface="Malgun Gothic"/>
                <a:ea typeface="Malgun Gothic"/>
                <a:cs typeface="Malgun Gothic"/>
              </a:rPr>
              <a:t>최대 2.29초</a:t>
            </a:r>
          </a:p>
          <a:p xmlns:a="http://schemas.openxmlformats.org/drawingml/2006/main">
            <a:pPr>
              <a:defRPr sz="1875" b="0">
                <a:solidFill>
                  <a:srgbClr val="D77938"/>
                </a:solidFill>
                <a:latin typeface="Malgun Gothic"/>
                <a:ea typeface="Malgun Gothic"/>
                <a:cs typeface="Malgun Gothic"/>
              </a:defRPr>
            </a:pPr>
            <a:r>
              <a:rPr sz="1875" b="0">
                <a:solidFill>
                  <a:srgbClr val="D77938"/>
                </a:solidFill>
                <a:latin typeface="Malgun Gothic"/>
                <a:ea typeface="Malgun Gothic"/>
                <a:cs typeface="Malgun Gothic"/>
              </a:rPr>
              <a:t>실행 간 변동 존재</a:t>
            </a:r>
          </a:p>
        </p:txBody>
      </p:sp>
      <p:sp>
        <p:nvSpPr>
          <p:cNvPr id="8" name="">
            <a:extLst xmlns:a="http://schemas.openxmlformats.org/drawingml/2006/main">
              <a:ext uri="{FF2B5EF4-FFF2-40B4-BE49-F238E27FC236}">
                <a16:creationId xmlns:a16="http://schemas.microsoft.com/office/drawing/2014/main" id="{101975F0-7353-4022-A302-1C7C2C4C5619}"/>
              </a:ext>
            </a:extLst>
          </p:cNvPr>
          <p:cNvSpPr>
            <a:spLocks xmlns:a="http://schemas.openxmlformats.org/drawingml/2006/main" noGrp="1"/>
          </p:cNvSpPr>
          <p:nvPr/>
        </p:nvSpPr>
        <p:spPr>
          <a:xfrm xmlns:a="http://schemas.openxmlformats.org/drawingml/2006/main">
            <a:off x="723900" y="56007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171"/>
                </a:solidFill>
                <a:latin typeface="Malgun Gothic"/>
                <a:ea typeface="Malgun Gothic"/>
                <a:cs typeface="Malgun Gothic"/>
              </a:defRPr>
            </a:pPr>
            <a:r>
              <a:rPr sz="1725" b="0">
                <a:solidFill>
                  <a:srgbClr val="536171"/>
                </a:solidFill>
                <a:latin typeface="Malgun Gothic"/>
                <a:ea typeface="Malgun Gothic"/>
                <a:cs typeface="Malgun Gothic"/>
              </a:rPr>
              <a:t>3회 반복, OS 캐시 워밍업, 청크 120,000행, 구간/간격 60/60</a:t>
            </a:r>
          </a:p>
        </p:txBody>
      </p:sp>
      <p:sp>
        <p:nvSpPr>
          <p:cNvPr id="9" name="">
            <a:extLst xmlns:a="http://schemas.openxmlformats.org/drawingml/2006/main">
              <a:ext uri="{FF2B5EF4-FFF2-40B4-BE49-F238E27FC236}">
                <a16:creationId xmlns:a16="http://schemas.microsoft.com/office/drawing/2014/main" id="{BE454E72-D3F6-42E8-B928-267C70D40AF5}"/>
              </a:ext>
            </a:extLst>
          </p:cNvPr>
          <p:cNvSpPr>
            <a:spLocks xmlns:a="http://schemas.openxmlformats.org/drawingml/2006/main" noGrp="1"/>
          </p:cNvSpPr>
          <p:nvPr/>
        </p:nvSpPr>
        <p:spPr>
          <a:xfrm xmlns:a="http://schemas.openxmlformats.org/drawingml/2006/main">
            <a:off x="723900" y="60674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22536"/>
                </a:solidFill>
                <a:latin typeface="Malgun Gothic"/>
                <a:ea typeface="Malgun Gothic"/>
                <a:cs typeface="Malgun Gothic"/>
              </a:defRPr>
            </a:pPr>
            <a:r>
              <a:rPr sz="1650" b="0">
                <a:solidFill>
                  <a:srgbClr val="122536"/>
                </a:solidFill>
                <a:latin typeface="Malgun Gothic"/>
                <a:ea typeface="Malgun Gothic"/>
                <a:cs typeface="Malgun Gothic"/>
              </a:rPr>
              <a:t>해석의 범위: 엔진 9개 시뮬레이션, 시험 재사용, 외부·실항공기 검증 미완료</a:t>
            </a:r>
          </a:p>
        </p:txBody>
      </p:sp>
    </p:spTree>
    <p:extLst>
      <p:ext uri="{BB962C8B-B14F-4D97-AF65-F5344CB8AC3E}">
        <p14:creationId xmlns:p14="http://schemas.microsoft.com/office/powerpoint/2010/main" val="17674431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2026-10-02T12:47:39.8860000Z</dcterms:created>
  <dcterms:modified xsi:type="dcterms:W3CDTF">2026-10-02T12:47:39.8860000Z</dcterms:modified>
</coreProperties>
</file>